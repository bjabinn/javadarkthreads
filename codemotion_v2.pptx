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4" r:id="rId1"/>
    <p:sldMasterId id="2147483665" r:id="rId2"/>
  </p:sldMasterIdLst>
  <p:notesMasterIdLst>
    <p:notesMasterId r:id="rId47"/>
  </p:notesMasterIdLst>
  <p:sldIdLst>
    <p:sldId id="256" r:id="rId3"/>
    <p:sldId id="2147469690" r:id="rId4"/>
    <p:sldId id="257" r:id="rId5"/>
    <p:sldId id="2147469689" r:id="rId6"/>
    <p:sldId id="269" r:id="rId7"/>
    <p:sldId id="271" r:id="rId8"/>
    <p:sldId id="259" r:id="rId9"/>
    <p:sldId id="267" r:id="rId10"/>
    <p:sldId id="268" r:id="rId11"/>
    <p:sldId id="270" r:id="rId12"/>
    <p:sldId id="258" r:id="rId13"/>
    <p:sldId id="276" r:id="rId14"/>
    <p:sldId id="280" r:id="rId15"/>
    <p:sldId id="281" r:id="rId16"/>
    <p:sldId id="272" r:id="rId17"/>
    <p:sldId id="273" r:id="rId18"/>
    <p:sldId id="282" r:id="rId19"/>
    <p:sldId id="274" r:id="rId20"/>
    <p:sldId id="283" r:id="rId21"/>
    <p:sldId id="2147469692" r:id="rId22"/>
    <p:sldId id="2147469691" r:id="rId23"/>
    <p:sldId id="2147469696" r:id="rId24"/>
    <p:sldId id="2147469710" r:id="rId25"/>
    <p:sldId id="2147469701" r:id="rId26"/>
    <p:sldId id="2147469711" r:id="rId27"/>
    <p:sldId id="2147469703" r:id="rId28"/>
    <p:sldId id="265" r:id="rId29"/>
    <p:sldId id="2147469704" r:id="rId30"/>
    <p:sldId id="2147469705" r:id="rId31"/>
    <p:sldId id="2147469706" r:id="rId32"/>
    <p:sldId id="2147469707" r:id="rId33"/>
    <p:sldId id="2147469708" r:id="rId34"/>
    <p:sldId id="2147469709" r:id="rId35"/>
    <p:sldId id="2147469699" r:id="rId36"/>
    <p:sldId id="2147469694" r:id="rId37"/>
    <p:sldId id="2147469700" r:id="rId38"/>
    <p:sldId id="2147469697" r:id="rId39"/>
    <p:sldId id="2147469695" r:id="rId40"/>
    <p:sldId id="2147469698" r:id="rId41"/>
    <p:sldId id="260" r:id="rId42"/>
    <p:sldId id="261" r:id="rId43"/>
    <p:sldId id="262" r:id="rId44"/>
    <p:sldId id="263" r:id="rId45"/>
    <p:sldId id="266" r:id="rId46"/>
  </p:sldIdLst>
  <p:sldSz cx="9144000" cy="5143500" type="screen16x9"/>
  <p:notesSz cx="6858000" cy="9144000"/>
  <p:embeddedFontLst>
    <p:embeddedFont>
      <p:font typeface="Calibri" panose="020F0502020204030204" pitchFamily="34" charset="0"/>
      <p:regular r:id="rId48"/>
      <p:bold r:id="rId49"/>
      <p:italic r:id="rId50"/>
      <p:boldItalic r:id="rId51"/>
    </p:embeddedFont>
    <p:embeddedFont>
      <p:font typeface="Consolas" panose="020B0609020204030204" pitchFamily="49" charset="0"/>
      <p:regular r:id="rId52"/>
      <p:bold r:id="rId53"/>
      <p:italic r:id="rId54"/>
      <p:boldItalic r:id="rId55"/>
    </p:embeddedFont>
    <p:embeddedFont>
      <p:font typeface="IBM Plex Sans" panose="020B0503050203000203" pitchFamily="34" charset="0"/>
      <p:regular r:id="rId56"/>
      <p:bold r:id="rId57"/>
      <p:italic r:id="rId58"/>
      <p:boldItalic r:id="rId59"/>
    </p:embeddedFont>
    <p:embeddedFont>
      <p:font typeface="IBM Plex Sans SemiBold" panose="020B0503050203000203" pitchFamily="3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guide id="3" orient="horz" pos="70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87" autoAdjust="0"/>
    <p:restoredTop sz="78857" autoAdjust="0"/>
  </p:normalViewPr>
  <p:slideViewPr>
    <p:cSldViewPr snapToGrid="0">
      <p:cViewPr varScale="1">
        <p:scale>
          <a:sx n="125" d="100"/>
          <a:sy n="125" d="100"/>
        </p:scale>
        <p:origin x="1176" y="168"/>
      </p:cViewPr>
      <p:guideLst>
        <p:guide orient="horz" pos="1620"/>
        <p:guide pos="2880"/>
        <p:guide orient="horz" pos="7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font" Target="fonts/font16.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1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2.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62"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b6c40055f4_5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b6c40055f4_5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6c40055f4_5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b6c40055f4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2743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6c40055f4_5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6c40055f4_5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Tanto el tiempo compartido como los hilos nacieron de la necesidad de aprovechar mejor la CPU, pero sus orígenes y creadores son distintos:</a:t>
            </a:r>
          </a:p>
          <a:p>
            <a:pPr marL="0" lvl="0" indent="0" algn="l" rtl="0">
              <a:spcBef>
                <a:spcPts val="0"/>
              </a:spcBef>
              <a:spcAft>
                <a:spcPts val="0"/>
              </a:spcAft>
              <a:buNone/>
            </a:pPr>
            <a:r>
              <a:rPr lang="es-ES" dirty="0"/>
              <a:t>¿Quién inventó el Time Sharing (Tiempo Compartido)?</a:t>
            </a:r>
          </a:p>
          <a:p>
            <a:pPr marL="0" lvl="0" indent="0" algn="l" rtl="0">
              <a:spcBef>
                <a:spcPts val="0"/>
              </a:spcBef>
              <a:spcAft>
                <a:spcPts val="0"/>
              </a:spcAft>
              <a:buNone/>
            </a:pPr>
            <a:r>
              <a:rPr lang="es-ES" dirty="0"/>
              <a:t>No hubo un único "inventor", sino una evolución de ideas teóricas que culminaron en sistemas prácticos a finales de los 50 y principios de los 60. </a:t>
            </a:r>
          </a:p>
          <a:p>
            <a:pPr marL="0" lvl="0" indent="0" algn="l" rtl="0">
              <a:spcBef>
                <a:spcPts val="0"/>
              </a:spcBef>
              <a:spcAft>
                <a:spcPts val="0"/>
              </a:spcAft>
              <a:buNone/>
            </a:pPr>
            <a:r>
              <a:rPr lang="es-ES" dirty="0"/>
              <a:t>La idea teórica: El científico británico Christopher </a:t>
            </a:r>
            <a:r>
              <a:rPr lang="es-ES" dirty="0" err="1"/>
              <a:t>Strachey</a:t>
            </a:r>
            <a:r>
              <a:rPr lang="es-ES" dirty="0"/>
              <a:t> fue uno de los primeros en describir formalmente el concepto en su artículo de 1959, "Time Sharing in </a:t>
            </a:r>
            <a:r>
              <a:rPr lang="es-ES" dirty="0" err="1"/>
              <a:t>Large</a:t>
            </a:r>
            <a:r>
              <a:rPr lang="es-ES" dirty="0"/>
              <a:t> Fast </a:t>
            </a:r>
            <a:r>
              <a:rPr lang="es-ES" dirty="0" err="1"/>
              <a:t>Computers</a:t>
            </a:r>
            <a:r>
              <a:rPr lang="es-ES" dirty="0"/>
              <a:t>".</a:t>
            </a:r>
          </a:p>
          <a:p>
            <a:pPr marL="0" lvl="0" indent="0" algn="l" rtl="0">
              <a:spcBef>
                <a:spcPts val="0"/>
              </a:spcBef>
              <a:spcAft>
                <a:spcPts val="0"/>
              </a:spcAft>
              <a:buNone/>
            </a:pPr>
            <a:r>
              <a:rPr lang="es-ES" dirty="0"/>
              <a:t>El impulso práctico: John McCarthy (padre de la IA) escribió un memorándum en el MIT en 1959 sugiriendo que las computadoras deberían usarse como una "utilidad pública" compartida.</a:t>
            </a:r>
          </a:p>
          <a:p>
            <a:pPr marL="0" lvl="0" indent="0" algn="l" rtl="0">
              <a:spcBef>
                <a:spcPts val="0"/>
              </a:spcBef>
              <a:spcAft>
                <a:spcPts val="0"/>
              </a:spcAft>
              <a:buNone/>
            </a:pPr>
            <a:r>
              <a:rPr lang="es-ES" dirty="0"/>
              <a:t>La implementación clave: Fernando </a:t>
            </a:r>
            <a:r>
              <a:rPr lang="es-ES" dirty="0" err="1"/>
              <a:t>Corbató</a:t>
            </a:r>
            <a:r>
              <a:rPr lang="es-ES" dirty="0"/>
              <a:t> lideró el desarrollo del CTSS (Compatible Time-</a:t>
            </a:r>
            <a:r>
              <a:rPr lang="es-ES" dirty="0" err="1"/>
              <a:t>Sharing</a:t>
            </a:r>
            <a:r>
              <a:rPr lang="es-ES" dirty="0"/>
              <a:t> System) en el MIT, que se demostró por primera vez en 1961. </a:t>
            </a:r>
            <a:r>
              <a:rPr lang="es-ES" dirty="0" err="1"/>
              <a:t>Corbató</a:t>
            </a:r>
            <a:r>
              <a:rPr lang="es-ES" dirty="0"/>
              <a:t> ganó el Premio Turing en gran parte por este logro. </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¿Quién inventó los Threads (Hilos)?</a:t>
            </a:r>
          </a:p>
          <a:p>
            <a:pPr marL="0" lvl="0" indent="0" algn="l" rtl="0">
              <a:spcBef>
                <a:spcPts val="0"/>
              </a:spcBef>
              <a:spcAft>
                <a:spcPts val="0"/>
              </a:spcAft>
              <a:buNone/>
            </a:pPr>
            <a:r>
              <a:rPr lang="es-ES" dirty="0"/>
              <a:t>Los hilos surgieron más tarde como una evolución de los procesos pesados para permitir que una sola aplicación hiciera varias cosas a la vez sin tanto consumo de recursos.</a:t>
            </a:r>
          </a:p>
          <a:p>
            <a:pPr marL="0" lvl="0" indent="0" algn="l" rtl="0">
              <a:spcBef>
                <a:spcPts val="0"/>
              </a:spcBef>
              <a:spcAft>
                <a:spcPts val="0"/>
              </a:spcAft>
              <a:buNone/>
            </a:pPr>
            <a:r>
              <a:rPr lang="es-ES" dirty="0"/>
              <a:t>El término: Se atribuye a </a:t>
            </a:r>
            <a:r>
              <a:rPr lang="es-ES" dirty="0" err="1"/>
              <a:t>Victor</a:t>
            </a:r>
            <a:r>
              <a:rPr lang="es-ES" dirty="0"/>
              <a:t> A. </a:t>
            </a:r>
            <a:r>
              <a:rPr lang="es-ES" dirty="0" err="1"/>
              <a:t>Vyssotsky</a:t>
            </a:r>
            <a:r>
              <a:rPr lang="es-ES" dirty="0"/>
              <a:t> el haber acuñado el término "thread" (hilo) alrededor de 1966, mientras trabajaba en el proyecto </a:t>
            </a:r>
            <a:r>
              <a:rPr lang="es-ES" dirty="0" err="1"/>
              <a:t>Multics</a:t>
            </a:r>
            <a:r>
              <a:rPr lang="es-ES" dirty="0"/>
              <a:t>.</a:t>
            </a:r>
          </a:p>
          <a:p>
            <a:pPr marL="0" lvl="0" indent="0" algn="l" rtl="0">
              <a:spcBef>
                <a:spcPts val="0"/>
              </a:spcBef>
              <a:spcAft>
                <a:spcPts val="0"/>
              </a:spcAft>
              <a:buNone/>
            </a:pPr>
            <a:r>
              <a:rPr lang="es-ES" dirty="0"/>
              <a:t>Primeras implementaciones:</a:t>
            </a:r>
          </a:p>
          <a:p>
            <a:pPr marL="0" lvl="0" indent="0" algn="l" rtl="0">
              <a:spcBef>
                <a:spcPts val="0"/>
              </a:spcBef>
              <a:spcAft>
                <a:spcPts val="0"/>
              </a:spcAft>
              <a:buNone/>
            </a:pPr>
            <a:r>
              <a:rPr lang="es-ES" dirty="0"/>
              <a:t>OS/360 de IBM (1967): Introdujo el concepto de "tareas" (tasks) en su versión MVT, que permitía dividir un trabajo en múltiples hilos de ejecución.</a:t>
            </a:r>
          </a:p>
          <a:p>
            <a:pPr marL="0" lvl="0" indent="0" algn="l" rtl="0">
              <a:spcBef>
                <a:spcPts val="0"/>
              </a:spcBef>
              <a:spcAft>
                <a:spcPts val="0"/>
              </a:spcAft>
              <a:buNone/>
            </a:pPr>
            <a:r>
              <a:rPr lang="es-ES" dirty="0"/>
              <a:t>Lenguajes pioneros: El lenguaje PL/I de IBM (c. 1965) ya permitía crear tareas mediante el comando CALL TASK, aunque su implementación real era limitada.</a:t>
            </a:r>
          </a:p>
          <a:p>
            <a:pPr marL="0" lvl="0" indent="0" algn="l" rtl="0">
              <a:spcBef>
                <a:spcPts val="0"/>
              </a:spcBef>
              <a:spcAft>
                <a:spcPts val="0"/>
              </a:spcAft>
              <a:buNone/>
            </a:pPr>
            <a:r>
              <a:rPr lang="es-ES" dirty="0" err="1"/>
              <a:t>Multics</a:t>
            </a:r>
            <a:r>
              <a:rPr lang="es-ES" dirty="0"/>
              <a:t> (c. 1970): Max Smith realizó un prototipo de hilos en </a:t>
            </a:r>
            <a:r>
              <a:rPr lang="es-ES" dirty="0" err="1"/>
              <a:t>Multics</a:t>
            </a:r>
            <a:r>
              <a:rPr lang="es-ES" dirty="0"/>
              <a:t> para permitir compilaciones en segundo plano.</a:t>
            </a:r>
          </a:p>
          <a:p>
            <a:pPr marL="0" lvl="0" indent="0" algn="l" rtl="0">
              <a:spcBef>
                <a:spcPts val="0"/>
              </a:spcBef>
              <a:spcAft>
                <a:spcPts val="0"/>
              </a:spcAft>
              <a:buNone/>
            </a:pPr>
            <a:r>
              <a:rPr lang="es-ES" dirty="0"/>
              <a:t>Estandarización: No fue hasta la década de los 90 cuando se estandarizaron con los POSIX Threads (</a:t>
            </a:r>
            <a:r>
              <a:rPr lang="es-ES" dirty="0" err="1"/>
              <a:t>Pthreads</a:t>
            </a:r>
            <a:r>
              <a:rPr lang="es-ES" dirty="0"/>
              <a:t>) y sistemas como Solaris o Windows NT. </a:t>
            </a:r>
          </a:p>
          <a:p>
            <a:pPr marL="0" lvl="0" indent="0" algn="l" rtl="0">
              <a:spcBef>
                <a:spcPts val="0"/>
              </a:spcBef>
              <a:spcAft>
                <a:spcPts val="0"/>
              </a:spcAft>
              <a:buNone/>
            </a:pPr>
            <a:r>
              <a:rPr lang="es-ES" dirty="0"/>
              <a:t>En resumen: </a:t>
            </a:r>
            <a:r>
              <a:rPr lang="es-ES" dirty="0" err="1"/>
              <a:t>Strachey</a:t>
            </a:r>
            <a:r>
              <a:rPr lang="es-ES" dirty="0"/>
              <a:t>, McCarthy y </a:t>
            </a:r>
            <a:r>
              <a:rPr lang="es-ES" dirty="0" err="1"/>
              <a:t>Corbató</a:t>
            </a:r>
            <a:r>
              <a:rPr lang="es-ES" dirty="0"/>
              <a:t> nos dieron la posibilidad de compartir una computadora; </a:t>
            </a:r>
            <a:r>
              <a:rPr lang="es-ES" dirty="0" err="1"/>
              <a:t>Vyssotsky</a:t>
            </a:r>
            <a:r>
              <a:rPr lang="es-ES" dirty="0"/>
              <a:t> e IBM nos dieron la forma de dividir un solo programa en múltiples hilos de ejecución.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65559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5769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839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E6E8F0"/>
                </a:solidFill>
                <a:effectLst/>
                <a:latin typeface="Google Sans"/>
              </a:rPr>
              <a:t>El </a:t>
            </a:r>
            <a:r>
              <a:rPr lang="es-ES" b="1" i="0" dirty="0">
                <a:solidFill>
                  <a:srgbClr val="E6E8F0"/>
                </a:solidFill>
                <a:effectLst/>
                <a:latin typeface="Google Sans"/>
              </a:rPr>
              <a:t>Heap</a:t>
            </a:r>
            <a:r>
              <a:rPr lang="es-ES" b="0" i="0" dirty="0">
                <a:solidFill>
                  <a:srgbClr val="E6E8F0"/>
                </a:solidFill>
                <a:effectLst/>
                <a:latin typeface="Google Sans"/>
              </a:rPr>
              <a:t> es común para todos los hilos del proceso. Si el hilo A reserva memoria con malloc(), el hilo B puede acceder a ella si conoce el puntero.</a:t>
            </a:r>
          </a:p>
          <a:p>
            <a:pPr algn="l">
              <a:buFont typeface="Arial" panose="020B0604020202020204" pitchFamily="34" charset="0"/>
              <a:buChar char="•"/>
            </a:pPr>
            <a:r>
              <a:rPr lang="es-ES" b="1" i="0" dirty="0">
                <a:solidFill>
                  <a:srgbClr val="E6E8F0"/>
                </a:solidFill>
                <a:effectLst/>
                <a:latin typeface="Google Sans"/>
              </a:rPr>
              <a:t>Gestión:</a:t>
            </a:r>
            <a:r>
              <a:rPr lang="es-ES" b="0" i="0" dirty="0">
                <a:solidFill>
                  <a:srgbClr val="E6E8F0"/>
                </a:solidFill>
                <a:effectLst/>
                <a:latin typeface="Google Sans"/>
              </a:rPr>
              <a:t> Aunque es compartido, los asignadores modernos (como glibc malloc) usan </a:t>
            </a:r>
            <a:r>
              <a:rPr lang="es-ES" b="0" i="0" dirty="0" err="1">
                <a:solidFill>
                  <a:srgbClr val="E6E8F0"/>
                </a:solidFill>
                <a:effectLst/>
                <a:latin typeface="Google Sans"/>
              </a:rPr>
              <a:t>sub-arenas</a:t>
            </a:r>
            <a:r>
              <a:rPr lang="es-ES" b="0" i="0" dirty="0">
                <a:solidFill>
                  <a:srgbClr val="E6E8F0"/>
                </a:solidFill>
                <a:effectLst/>
                <a:latin typeface="Google Sans"/>
              </a:rPr>
              <a:t> para evitar que los hilos se bloqueen entre sí al pedir memoria simultáneamente</a:t>
            </a:r>
          </a:p>
          <a:p>
            <a:pPr algn="l">
              <a:buFont typeface="Arial" panose="020B0604020202020204" pitchFamily="34" charset="0"/>
              <a:buChar char="•"/>
            </a:pPr>
            <a:endParaRPr lang="es-ES" b="0" i="0" dirty="0">
              <a:solidFill>
                <a:srgbClr val="E6E8F0"/>
              </a:solidFill>
              <a:effectLst/>
              <a:latin typeface="Google Sans"/>
            </a:endParaRPr>
          </a:p>
          <a:p>
            <a:pPr algn="l"/>
            <a:r>
              <a:rPr lang="es-ES" b="0" i="0" dirty="0">
                <a:solidFill>
                  <a:srgbClr val="E6E8F0"/>
                </a:solidFill>
                <a:effectLst/>
                <a:latin typeface="Google Sans"/>
              </a:rPr>
              <a:t>Cada hilo tiene su propio </a:t>
            </a:r>
            <a:r>
              <a:rPr lang="es-ES" b="1" i="0" dirty="0">
                <a:solidFill>
                  <a:srgbClr val="E6E8F0"/>
                </a:solidFill>
                <a:effectLst/>
                <a:latin typeface="Google Sans"/>
              </a:rPr>
              <a:t>Stack</a:t>
            </a:r>
            <a:r>
              <a:rPr lang="es-ES" b="0" i="0" dirty="0">
                <a:solidFill>
                  <a:srgbClr val="E6E8F0"/>
                </a:solidFill>
                <a:effectLst/>
                <a:latin typeface="Google Sans"/>
              </a:rPr>
              <a:t> dedicado para almacenar variables locales y el historial de llamadas a funciones.</a:t>
            </a:r>
          </a:p>
          <a:p>
            <a:pPr algn="l">
              <a:buFont typeface="Arial" panose="020B0604020202020204" pitchFamily="34" charset="0"/>
              <a:buChar char="•"/>
            </a:pPr>
            <a:r>
              <a:rPr lang="es-ES" b="1" i="0" dirty="0">
                <a:solidFill>
                  <a:srgbClr val="E6E8F0"/>
                </a:solidFill>
                <a:effectLst/>
                <a:latin typeface="Google Sans"/>
              </a:rPr>
              <a:t>Ubicación:</a:t>
            </a:r>
            <a:r>
              <a:rPr lang="es-ES" b="0" i="0" dirty="0">
                <a:solidFill>
                  <a:srgbClr val="E6E8F0"/>
                </a:solidFill>
                <a:effectLst/>
                <a:latin typeface="Google Sans"/>
              </a:rPr>
              <a:t> En Linux, cuando creas un hilo, el sistema reserva un bloque de memoria (generalmente dentro del espacio de "</a:t>
            </a:r>
            <a:r>
              <a:rPr lang="es-ES" b="0" i="0" dirty="0" err="1">
                <a:solidFill>
                  <a:srgbClr val="E6E8F0"/>
                </a:solidFill>
                <a:effectLst/>
                <a:latin typeface="Google Sans"/>
              </a:rPr>
              <a:t>mapping</a:t>
            </a:r>
            <a:r>
              <a:rPr lang="es-ES" b="0" i="0" dirty="0">
                <a:solidFill>
                  <a:srgbClr val="E6E8F0"/>
                </a:solidFill>
                <a:effectLst/>
                <a:latin typeface="Google Sans"/>
              </a:rPr>
              <a:t>" del proceso) para que actúe como pila de ese hilo.</a:t>
            </a:r>
          </a:p>
          <a:p>
            <a:pPr algn="l">
              <a:buFont typeface="Arial" panose="020B0604020202020204" pitchFamily="34" charset="0"/>
              <a:buChar char="•"/>
            </a:pPr>
            <a:r>
              <a:rPr lang="es-ES" b="1" i="0" dirty="0">
                <a:solidFill>
                  <a:srgbClr val="E6E8F0"/>
                </a:solidFill>
                <a:effectLst/>
                <a:latin typeface="Google Sans"/>
              </a:rPr>
              <a:t>Tamaño:</a:t>
            </a:r>
            <a:r>
              <a:rPr lang="es-ES" b="0" i="0" dirty="0">
                <a:solidFill>
                  <a:srgbClr val="E6E8F0"/>
                </a:solidFill>
                <a:effectLst/>
                <a:latin typeface="Google Sans"/>
              </a:rPr>
              <a:t> Tiene un límite fijo (típicamente 8MB, aunque ajustable) para evitar colisiones entre hilos.</a:t>
            </a:r>
          </a:p>
          <a:p>
            <a:pPr algn="l">
              <a:buFont typeface="Arial" panose="020B0604020202020204" pitchFamily="34" charset="0"/>
              <a:buChar char="•"/>
            </a:pPr>
            <a:endParaRPr lang="es-ES" b="0" i="0" dirty="0">
              <a:solidFill>
                <a:srgbClr val="E6E8F0"/>
              </a:solidFill>
              <a:effectLst/>
              <a:latin typeface="Google Sans"/>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01535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3850448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E6E8F0"/>
                </a:solidFill>
                <a:effectLst/>
                <a:latin typeface="Google Sans"/>
              </a:rPr>
              <a:t>El </a:t>
            </a:r>
            <a:r>
              <a:rPr lang="es-ES" b="1" i="0" dirty="0">
                <a:solidFill>
                  <a:srgbClr val="E6E8F0"/>
                </a:solidFill>
                <a:effectLst/>
                <a:latin typeface="Google Sans"/>
              </a:rPr>
              <a:t>Heap</a:t>
            </a:r>
            <a:r>
              <a:rPr lang="es-ES" b="0" i="0" dirty="0">
                <a:solidFill>
                  <a:srgbClr val="E6E8F0"/>
                </a:solidFill>
                <a:effectLst/>
                <a:latin typeface="Google Sans"/>
              </a:rPr>
              <a:t> es común para todos los hilos del proceso. Si el hilo A reserva memoria con malloc(), el hilo B puede acceder a ella si conoce el puntero.</a:t>
            </a:r>
          </a:p>
          <a:p>
            <a:pPr algn="l">
              <a:buFont typeface="Arial" panose="020B0604020202020204" pitchFamily="34" charset="0"/>
              <a:buChar char="•"/>
            </a:pPr>
            <a:r>
              <a:rPr lang="es-ES" b="1" i="0" dirty="0">
                <a:solidFill>
                  <a:srgbClr val="E6E8F0"/>
                </a:solidFill>
                <a:effectLst/>
                <a:latin typeface="Google Sans"/>
              </a:rPr>
              <a:t>Gestión:</a:t>
            </a:r>
            <a:r>
              <a:rPr lang="es-ES" b="0" i="0" dirty="0">
                <a:solidFill>
                  <a:srgbClr val="E6E8F0"/>
                </a:solidFill>
                <a:effectLst/>
                <a:latin typeface="Google Sans"/>
              </a:rPr>
              <a:t> Aunque es compartido, los asignadores modernos (como glibc malloc) usan </a:t>
            </a:r>
            <a:r>
              <a:rPr lang="es-ES" b="0" i="0" dirty="0" err="1">
                <a:solidFill>
                  <a:srgbClr val="E6E8F0"/>
                </a:solidFill>
                <a:effectLst/>
                <a:latin typeface="Google Sans"/>
              </a:rPr>
              <a:t>sub-arenas</a:t>
            </a:r>
            <a:r>
              <a:rPr lang="es-ES" b="0" i="0" dirty="0">
                <a:solidFill>
                  <a:srgbClr val="E6E8F0"/>
                </a:solidFill>
                <a:effectLst/>
                <a:latin typeface="Google Sans"/>
              </a:rPr>
              <a:t> para evitar que los hilos se bloqueen entre sí al pedir memoria simultáneamente</a:t>
            </a:r>
          </a:p>
          <a:p>
            <a:pPr algn="l">
              <a:buFont typeface="Arial" panose="020B0604020202020204" pitchFamily="34" charset="0"/>
              <a:buChar char="•"/>
            </a:pPr>
            <a:endParaRPr lang="es-ES" b="0" i="0" dirty="0">
              <a:solidFill>
                <a:srgbClr val="E6E8F0"/>
              </a:solidFill>
              <a:effectLst/>
              <a:latin typeface="Google Sans"/>
            </a:endParaRPr>
          </a:p>
          <a:p>
            <a:pPr algn="l"/>
            <a:r>
              <a:rPr lang="es-ES" b="0" i="0" dirty="0">
                <a:solidFill>
                  <a:srgbClr val="E6E8F0"/>
                </a:solidFill>
                <a:effectLst/>
                <a:latin typeface="Google Sans"/>
              </a:rPr>
              <a:t>Cada hilo tiene su propio </a:t>
            </a:r>
            <a:r>
              <a:rPr lang="es-ES" b="1" i="0" dirty="0">
                <a:solidFill>
                  <a:srgbClr val="E6E8F0"/>
                </a:solidFill>
                <a:effectLst/>
                <a:latin typeface="Google Sans"/>
              </a:rPr>
              <a:t>Stack</a:t>
            </a:r>
            <a:r>
              <a:rPr lang="es-ES" b="0" i="0" dirty="0">
                <a:solidFill>
                  <a:srgbClr val="E6E8F0"/>
                </a:solidFill>
                <a:effectLst/>
                <a:latin typeface="Google Sans"/>
              </a:rPr>
              <a:t> dedicado para almacenar variables locales y el historial de llamadas a funciones.</a:t>
            </a:r>
          </a:p>
          <a:p>
            <a:pPr algn="l">
              <a:buFont typeface="Arial" panose="020B0604020202020204" pitchFamily="34" charset="0"/>
              <a:buChar char="•"/>
            </a:pPr>
            <a:r>
              <a:rPr lang="es-ES" b="1" i="0" dirty="0">
                <a:solidFill>
                  <a:srgbClr val="E6E8F0"/>
                </a:solidFill>
                <a:effectLst/>
                <a:latin typeface="Google Sans"/>
              </a:rPr>
              <a:t>Ubicación:</a:t>
            </a:r>
            <a:r>
              <a:rPr lang="es-ES" b="0" i="0" dirty="0">
                <a:solidFill>
                  <a:srgbClr val="E6E8F0"/>
                </a:solidFill>
                <a:effectLst/>
                <a:latin typeface="Google Sans"/>
              </a:rPr>
              <a:t> En Linux, cuando creas un hilo, el sistema reserva un bloque de memoria (generalmente dentro del espacio de "</a:t>
            </a:r>
            <a:r>
              <a:rPr lang="es-ES" b="0" i="0" dirty="0" err="1">
                <a:solidFill>
                  <a:srgbClr val="E6E8F0"/>
                </a:solidFill>
                <a:effectLst/>
                <a:latin typeface="Google Sans"/>
              </a:rPr>
              <a:t>mapping</a:t>
            </a:r>
            <a:r>
              <a:rPr lang="es-ES" b="0" i="0" dirty="0">
                <a:solidFill>
                  <a:srgbClr val="E6E8F0"/>
                </a:solidFill>
                <a:effectLst/>
                <a:latin typeface="Google Sans"/>
              </a:rPr>
              <a:t>" del proceso) para que actúe como pila de ese hilo.</a:t>
            </a:r>
          </a:p>
          <a:p>
            <a:pPr algn="l">
              <a:buFont typeface="Arial" panose="020B0604020202020204" pitchFamily="34" charset="0"/>
              <a:buChar char="•"/>
            </a:pPr>
            <a:r>
              <a:rPr lang="es-ES" b="1" i="0" dirty="0">
                <a:solidFill>
                  <a:srgbClr val="E6E8F0"/>
                </a:solidFill>
                <a:effectLst/>
                <a:latin typeface="Google Sans"/>
              </a:rPr>
              <a:t>Tamaño:</a:t>
            </a:r>
            <a:r>
              <a:rPr lang="es-ES" b="0" i="0" dirty="0">
                <a:solidFill>
                  <a:srgbClr val="E6E8F0"/>
                </a:solidFill>
                <a:effectLst/>
                <a:latin typeface="Google Sans"/>
              </a:rPr>
              <a:t> Tiene un límite fijo (típicamente 8MB, aunque ajustable) para evitar colisiones entre hilos.</a:t>
            </a:r>
          </a:p>
          <a:p>
            <a:pPr algn="l">
              <a:buFont typeface="Arial" panose="020B0604020202020204" pitchFamily="34" charset="0"/>
              <a:buChar char="•"/>
            </a:pPr>
            <a:endParaRPr lang="es-ES" b="0" i="0" dirty="0">
              <a:solidFill>
                <a:srgbClr val="E6E8F0"/>
              </a:solidFill>
              <a:effectLst/>
              <a:latin typeface="Google Sans"/>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36969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4786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558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9608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870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9567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701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008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0611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4945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679822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1905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079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5674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620071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4617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47119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l </a:t>
            </a:r>
            <a:r>
              <a:rPr lang="es-ES" dirty="0" err="1"/>
              <a:t>pinning</a:t>
            </a:r>
            <a:r>
              <a:rPr lang="es-ES" dirty="0"/>
              <a:t> (o anclaje) es uno de los desafíos técnicos más críticos al trabajar con Virtual Threads (Hilos Virtuales). Ocurre cuando un hilo virtual se queda "pegado" a su hilo portador (carrier thread), impidiendo que la JVM pueda desvincularlos durante una operación de bloqueo.</a:t>
            </a:r>
          </a:p>
          <a:p>
            <a:pPr marL="0" lvl="0" indent="0" algn="l" rtl="0">
              <a:spcBef>
                <a:spcPts val="0"/>
              </a:spcBef>
              <a:spcAft>
                <a:spcPts val="0"/>
              </a:spcAft>
              <a:buNone/>
            </a:pPr>
            <a:r>
              <a:rPr lang="es-ES" dirty="0"/>
              <a:t>Aquí te explico el detalle técnico de cómo y por qué sucede:</a:t>
            </a:r>
          </a:p>
          <a:p>
            <a:pPr marL="0" lvl="0" indent="0" algn="l" rtl="0">
              <a:spcBef>
                <a:spcPts val="0"/>
              </a:spcBef>
              <a:spcAft>
                <a:spcPts val="0"/>
              </a:spcAft>
              <a:buNone/>
            </a:pPr>
            <a:r>
              <a:rPr lang="es-ES" dirty="0"/>
              <a:t>1. El mecanismo de fondo: Carrier Threads</a:t>
            </a:r>
          </a:p>
          <a:p>
            <a:pPr marL="0" lvl="0" indent="0" algn="l" rtl="0">
              <a:spcBef>
                <a:spcPts val="0"/>
              </a:spcBef>
              <a:spcAft>
                <a:spcPts val="0"/>
              </a:spcAft>
              <a:buNone/>
            </a:pPr>
            <a:r>
              <a:rPr lang="es-ES" dirty="0"/>
              <a:t>Para entender el </a:t>
            </a:r>
            <a:r>
              <a:rPr lang="es-ES" dirty="0" err="1"/>
              <a:t>pinning</a:t>
            </a:r>
            <a:r>
              <a:rPr lang="es-ES" dirty="0"/>
              <a:t>, primero debemos recordar que un hilo virtual no corre solo; se ejecuta sobre un Platform Thread llamado Carrier Thread.</a:t>
            </a:r>
          </a:p>
          <a:p>
            <a:pPr marL="0" lvl="0" indent="0" algn="l" rtl="0">
              <a:spcBef>
                <a:spcPts val="0"/>
              </a:spcBef>
              <a:spcAft>
                <a:spcPts val="0"/>
              </a:spcAft>
              <a:buNone/>
            </a:pPr>
            <a:r>
              <a:rPr lang="es-ES" dirty="0"/>
              <a:t>Comportamiento normal: Cuando el hilo virtual encuentra una operación bloqueante (como una consulta a BD), la JVM hace un </a:t>
            </a:r>
            <a:r>
              <a:rPr lang="es-ES" dirty="0" err="1"/>
              <a:t>unmount</a:t>
            </a:r>
            <a:r>
              <a:rPr lang="es-ES" dirty="0"/>
              <a:t> (desmonta) el hilo virtual del carrier, permitiendo que ese carrier ejecute otro hilo virtual.</a:t>
            </a:r>
          </a:p>
          <a:p>
            <a:pPr marL="0" lvl="0" indent="0" algn="l" rtl="0">
              <a:spcBef>
                <a:spcPts val="0"/>
              </a:spcBef>
              <a:spcAft>
                <a:spcPts val="0"/>
              </a:spcAft>
              <a:buNone/>
            </a:pPr>
            <a:r>
              <a:rPr lang="es-ES" dirty="0"/>
              <a:t>Pinning: El hilo virtual se bloquea, pero no puede ser desmontado. El carrier thread se queda bloqueado también, desperdiciando un recurso valioso del sistema operativo.</a:t>
            </a:r>
          </a:p>
          <a:p>
            <a:pPr marL="0" lvl="0" indent="0" algn="l" rtl="0">
              <a:spcBef>
                <a:spcPts val="0"/>
              </a:spcBef>
              <a:spcAft>
                <a:spcPts val="0"/>
              </a:spcAft>
              <a:buNone/>
            </a:pPr>
            <a:r>
              <a:rPr lang="es-ES" dirty="0"/>
              <a:t>2. ¿Cómo y por qué se produce?</a:t>
            </a:r>
          </a:p>
          <a:p>
            <a:pPr marL="0" lvl="0" indent="0" algn="l" rtl="0">
              <a:spcBef>
                <a:spcPts val="0"/>
              </a:spcBef>
              <a:spcAft>
                <a:spcPts val="0"/>
              </a:spcAft>
              <a:buNone/>
            </a:pPr>
            <a:r>
              <a:rPr lang="es-ES" dirty="0"/>
              <a:t>Existen dos escenarios principales documentados por el equipo de Java (JEP 444) donde la JVM no puede realizar el </a:t>
            </a:r>
            <a:r>
              <a:rPr lang="es-ES" dirty="0" err="1"/>
              <a:t>unmount</a:t>
            </a:r>
            <a:r>
              <a:rPr lang="es-ES" dirty="0"/>
              <a:t>:</a:t>
            </a:r>
          </a:p>
          <a:p>
            <a:pPr marL="0" lvl="0" indent="0" algn="l" rtl="0">
              <a:spcBef>
                <a:spcPts val="0"/>
              </a:spcBef>
              <a:spcAft>
                <a:spcPts val="0"/>
              </a:spcAft>
              <a:buNone/>
            </a:pPr>
            <a:r>
              <a:rPr lang="es-ES" dirty="0"/>
              <a:t>A. Bloques o métodos synchronized (El caso más común)</a:t>
            </a:r>
          </a:p>
          <a:p>
            <a:pPr marL="0" lvl="0" indent="0" algn="l" rtl="0">
              <a:spcBef>
                <a:spcPts val="0"/>
              </a:spcBef>
              <a:spcAft>
                <a:spcPts val="0"/>
              </a:spcAft>
              <a:buNone/>
            </a:pPr>
            <a:r>
              <a:rPr lang="es-ES" dirty="0"/>
              <a:t>Cuando un hilo virtual entra en un bloque synchronized o un método marcado con esta palabra clave, el hilo se "ancla" al carrier.</a:t>
            </a:r>
          </a:p>
          <a:p>
            <a:pPr marL="0" lvl="0" indent="0" algn="l" rtl="0">
              <a:spcBef>
                <a:spcPts val="0"/>
              </a:spcBef>
              <a:spcAft>
                <a:spcPts val="0"/>
              </a:spcAft>
              <a:buNone/>
            </a:pPr>
            <a:r>
              <a:rPr lang="es-ES" dirty="0"/>
              <a:t>Detalle técnico: La implementación actual de la JVM (HotSpot) no puede desmontar un hilo si este tiene marcos de pila (stack frames) asociados a un monitor de objeto de Java en el estado nativo del hilo.</a:t>
            </a:r>
          </a:p>
          <a:p>
            <a:pPr marL="0" lvl="0" indent="0" algn="l" rtl="0">
              <a:spcBef>
                <a:spcPts val="0"/>
              </a:spcBef>
              <a:spcAft>
                <a:spcPts val="0"/>
              </a:spcAft>
              <a:buNone/>
            </a:pPr>
            <a:r>
              <a:rPr lang="es-ES" dirty="0"/>
              <a:t>Consecuencia: Si dentro de ese bloque synchronized realizas una operación de I/O (que normalmente liberaría el carrier), el hilo virtual se bloquea y se lleva al carrier con él.</a:t>
            </a:r>
          </a:p>
          <a:p>
            <a:pPr marL="0" lvl="0" indent="0" algn="l" rtl="0">
              <a:spcBef>
                <a:spcPts val="0"/>
              </a:spcBef>
              <a:spcAft>
                <a:spcPts val="0"/>
              </a:spcAft>
              <a:buNone/>
            </a:pPr>
            <a:r>
              <a:rPr lang="es-ES" dirty="0"/>
              <a:t>B. Uso de código Nativo (JNI)</a:t>
            </a:r>
          </a:p>
          <a:p>
            <a:pPr marL="0" lvl="0" indent="0" algn="l" rtl="0">
              <a:spcBef>
                <a:spcPts val="0"/>
              </a:spcBef>
              <a:spcAft>
                <a:spcPts val="0"/>
              </a:spcAft>
              <a:buNone/>
            </a:pPr>
            <a:r>
              <a:rPr lang="es-ES" dirty="0"/>
              <a:t>Si un hilo virtual invoca una función nativa a través de JNI (Java Native Interface) y esa función llama de vuelta a Java o realiza una operación de bloqueo.</a:t>
            </a:r>
          </a:p>
          <a:p>
            <a:pPr marL="0" lvl="0" indent="0" algn="l" rtl="0">
              <a:spcBef>
                <a:spcPts val="0"/>
              </a:spcBef>
              <a:spcAft>
                <a:spcPts val="0"/>
              </a:spcAft>
              <a:buNone/>
            </a:pPr>
            <a:r>
              <a:rPr lang="es-ES" dirty="0"/>
              <a:t>Detalle técnico: Al cruzar la frontera hacia código nativo (C/C++), la JVM pierde la capacidad de gestionar la pila de llamadas de forma flexible para realizar el </a:t>
            </a:r>
            <a:r>
              <a:rPr lang="es-ES" dirty="0" err="1"/>
              <a:t>unmount</a:t>
            </a:r>
            <a:r>
              <a:rPr lang="es-ES" dirty="0"/>
              <a:t>. El hilo debe permanecer en el carrier hasta que la llamada nativa retorne.</a:t>
            </a:r>
          </a:p>
          <a:p>
            <a:pPr marL="0" lvl="0" indent="0" algn="l" rtl="0">
              <a:spcBef>
                <a:spcPts val="0"/>
              </a:spcBef>
              <a:spcAft>
                <a:spcPts val="0"/>
              </a:spcAft>
              <a:buNone/>
            </a:pPr>
            <a:r>
              <a:rPr lang="es-ES" dirty="0"/>
              <a:t>3. Escenarios de riesgo en el mundo real</a:t>
            </a:r>
          </a:p>
          <a:p>
            <a:pPr marL="0" lvl="0" indent="0" algn="l" rtl="0">
              <a:spcBef>
                <a:spcPts val="0"/>
              </a:spcBef>
              <a:spcAft>
                <a:spcPts val="0"/>
              </a:spcAft>
              <a:buNone/>
            </a:pPr>
            <a:r>
              <a:rPr lang="es-ES" dirty="0"/>
              <a:t>El </a:t>
            </a:r>
            <a:r>
              <a:rPr lang="es-ES" dirty="0" err="1"/>
              <a:t>pinning</a:t>
            </a:r>
            <a:r>
              <a:rPr lang="es-ES" dirty="0"/>
              <a:t> no es un problema si la operación dentro del bloque es ultrarrápida (ej. actualizar un contador). Se vuelve un problema grave en estos casos:</a:t>
            </a:r>
          </a:p>
          <a:p>
            <a:pPr marL="0" lvl="0" indent="0" algn="l" rtl="0">
              <a:spcBef>
                <a:spcPts val="0"/>
              </a:spcBef>
              <a:spcAft>
                <a:spcPts val="0"/>
              </a:spcAft>
              <a:buNone/>
            </a:pPr>
            <a:r>
              <a:rPr lang="es-ES" dirty="0"/>
              <a:t>Drivers de Base de Datos antiguos: Muchos drivers (como algunas versiones de JDBC para MySQL o PostgreSQL) usan synchronized internamente para gestionar el socket de red. Si haces una consulta lenta, anclas el carrier.</a:t>
            </a:r>
          </a:p>
          <a:p>
            <a:pPr marL="0" lvl="0" indent="0" algn="l" rtl="0">
              <a:spcBef>
                <a:spcPts val="0"/>
              </a:spcBef>
              <a:spcAft>
                <a:spcPts val="0"/>
              </a:spcAft>
              <a:buNone/>
            </a:pPr>
            <a:r>
              <a:rPr lang="es-ES" dirty="0"/>
              <a:t>Librerías de Logging: Si tu </a:t>
            </a:r>
            <a:r>
              <a:rPr lang="es-ES" dirty="0" err="1"/>
              <a:t>logger</a:t>
            </a:r>
            <a:r>
              <a:rPr lang="es-ES" dirty="0"/>
              <a:t> usa synchronized para escribir en disco o en red, cada vez que imprimes un log podrías estar causando </a:t>
            </a:r>
            <a:r>
              <a:rPr lang="es-ES" dirty="0" err="1"/>
              <a:t>pinning</a:t>
            </a:r>
            <a:r>
              <a:rPr lang="es-ES" dirty="0"/>
              <a:t> momentáneo.</a:t>
            </a:r>
          </a:p>
          <a:p>
            <a:pPr marL="0" lvl="0" indent="0" algn="l" rtl="0">
              <a:spcBef>
                <a:spcPts val="0"/>
              </a:spcBef>
              <a:spcAft>
                <a:spcPts val="0"/>
              </a:spcAft>
              <a:buNone/>
            </a:pPr>
            <a:r>
              <a:rPr lang="es-ES" dirty="0"/>
              <a:t>Cachés sincronizadas: Usar colecciones antiguas como </a:t>
            </a:r>
            <a:r>
              <a:rPr lang="es-ES" dirty="0" err="1"/>
              <a:t>Hashtable</a:t>
            </a:r>
            <a:r>
              <a:rPr lang="es-ES" dirty="0"/>
              <a:t> o envoltorios de </a:t>
            </a:r>
            <a:r>
              <a:rPr lang="es-ES" dirty="0" err="1"/>
              <a:t>Collections.synchronizedMap</a:t>
            </a:r>
            <a:r>
              <a:rPr lang="es-ES" dirty="0"/>
              <a:t>() en lugar de </a:t>
            </a:r>
            <a:r>
              <a:rPr lang="es-ES" dirty="0" err="1"/>
              <a:t>ConcurrentHashMap</a:t>
            </a:r>
            <a:r>
              <a:rPr lang="es-ES" dirty="0"/>
              <a:t>.</a:t>
            </a:r>
          </a:p>
          <a:p>
            <a:pPr marL="0" lvl="0" indent="0" algn="l" rtl="0">
              <a:spcBef>
                <a:spcPts val="0"/>
              </a:spcBef>
              <a:spcAft>
                <a:spcPts val="0"/>
              </a:spcAft>
              <a:buNone/>
            </a:pPr>
            <a:r>
              <a:rPr lang="es-ES" dirty="0"/>
              <a:t>4. Cómo solucionarlo</a:t>
            </a:r>
          </a:p>
          <a:p>
            <a:pPr marL="0" lvl="0" indent="0" algn="l" rtl="0">
              <a:spcBef>
                <a:spcPts val="0"/>
              </a:spcBef>
              <a:spcAft>
                <a:spcPts val="0"/>
              </a:spcAft>
              <a:buNone/>
            </a:pPr>
            <a:r>
              <a:rPr lang="es-ES" dirty="0"/>
              <a:t>La recomendación oficial para aprovechar los Virtual Threads es sustituir el uso de synchronized por </a:t>
            </a:r>
            <a:r>
              <a:rPr lang="es-ES" dirty="0" err="1"/>
              <a:t>ReentrantLock</a:t>
            </a:r>
            <a:r>
              <a:rPr lang="es-ES" dirty="0"/>
              <a:t>.</a:t>
            </a:r>
          </a:p>
          <a:p>
            <a:pPr marL="0" lvl="0" indent="0" algn="l" rtl="0">
              <a:spcBef>
                <a:spcPts val="0"/>
              </a:spcBef>
              <a:spcAft>
                <a:spcPts val="0"/>
              </a:spcAft>
              <a:buNone/>
            </a:pPr>
            <a:r>
              <a:rPr lang="es-ES" dirty="0"/>
              <a:t>¿Por qué? A diferencia de synchronized, </a:t>
            </a:r>
            <a:r>
              <a:rPr lang="es-ES" dirty="0" err="1"/>
              <a:t>ReentrantLock</a:t>
            </a:r>
            <a:r>
              <a:rPr lang="es-ES" dirty="0"/>
              <a:t> ha sido adaptado en Java 21 para que, cuando un hilo virtual intenta adquirir el bloqueo y este no está disponible (o se bloquea dentro), la JVM sí pueda desmontar el hilo virtual y liberar el carrier.</a:t>
            </a:r>
          </a:p>
          <a:p>
            <a:pPr marL="0" lvl="0" indent="0" algn="l" rtl="0">
              <a:spcBef>
                <a:spcPts val="0"/>
              </a:spcBef>
              <a:spcAft>
                <a:spcPts val="0"/>
              </a:spcAft>
              <a:buNone/>
            </a:pPr>
            <a:r>
              <a:rPr lang="es-ES" dirty="0"/>
              <a:t>¿Cómo detectar si tienes </a:t>
            </a:r>
            <a:r>
              <a:rPr lang="es-ES" dirty="0" err="1"/>
              <a:t>pinning</a:t>
            </a:r>
            <a:r>
              <a:rPr lang="es-ES" dirty="0"/>
              <a:t>?</a:t>
            </a:r>
          </a:p>
          <a:p>
            <a:pPr marL="0" lvl="0" indent="0" algn="l" rtl="0">
              <a:spcBef>
                <a:spcPts val="0"/>
              </a:spcBef>
              <a:spcAft>
                <a:spcPts val="0"/>
              </a:spcAft>
              <a:buNone/>
            </a:pPr>
            <a:r>
              <a:rPr lang="es-ES" dirty="0"/>
              <a:t>Puedes ejecutar tu aplicación con la siguiente bandera de la JVM para recibir alertas en la consola cuando ocurra el anclaje:</a:t>
            </a:r>
          </a:p>
          <a:p>
            <a:pPr marL="0" lvl="0" indent="0" algn="l" rtl="0">
              <a:spcBef>
                <a:spcPts val="0"/>
              </a:spcBef>
              <a:spcAft>
                <a:spcPts val="0"/>
              </a:spcAft>
              <a:buNone/>
            </a:pPr>
            <a:r>
              <a:rPr lang="es-ES" dirty="0" err="1"/>
              <a:t>bash</a:t>
            </a:r>
            <a:endParaRPr lang="es-ES" dirty="0"/>
          </a:p>
          <a:p>
            <a:pPr marL="0" lvl="0" indent="0" algn="l" rtl="0">
              <a:spcBef>
                <a:spcPts val="0"/>
              </a:spcBef>
              <a:spcAft>
                <a:spcPts val="0"/>
              </a:spcAft>
              <a:buNone/>
            </a:pPr>
            <a:r>
              <a:rPr lang="es-ES" dirty="0"/>
              <a:t>-</a:t>
            </a:r>
            <a:r>
              <a:rPr lang="es-ES" dirty="0" err="1"/>
              <a:t>Djdk.tracePinnedThreads</a:t>
            </a:r>
            <a:r>
              <a:rPr lang="es-ES" dirty="0"/>
              <a:t>=full</a:t>
            </a:r>
          </a:p>
          <a:p>
            <a:pPr marL="0" lvl="0" indent="0" algn="l" rtl="0">
              <a:spcBef>
                <a:spcPts val="0"/>
              </a:spcBef>
              <a:spcAft>
                <a:spcPts val="0"/>
              </a:spcAft>
              <a:buNone/>
            </a:pPr>
            <a:r>
              <a:rPr lang="es-ES" dirty="0"/>
              <a:t>Usa el código con precaución.</a:t>
            </a:r>
          </a:p>
          <a:p>
            <a:pPr marL="0" lvl="0" indent="0" algn="l" rtl="0">
              <a:spcBef>
                <a:spcPts val="0"/>
              </a:spcBef>
              <a:spcAft>
                <a:spcPts val="0"/>
              </a:spcAft>
              <a:buNone/>
            </a:pPr>
            <a:r>
              <a:rPr lang="es-ES" dirty="0"/>
              <a:t>¿Estás revisando alguna librería específica para ver si es compatible con hilos virtuales o tienes problemas de rendimiento en una app actual?</a:t>
            </a:r>
          </a:p>
          <a:p>
            <a:pPr marL="0" lvl="0" indent="0" algn="l" rtl="0">
              <a:spcBef>
                <a:spcPts val="0"/>
              </a:spcBef>
              <a:spcAft>
                <a:spcPts val="0"/>
              </a:spcAft>
              <a:buNone/>
            </a:pPr>
            <a:r>
              <a:rPr lang="es-ES" dirty="0"/>
              <a:t>Las respuestas de la IA pueden contener errores. Más información</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Solo interés teórico. Explica con más detalle el primer caso, Bloques o métodos synchronized. Porqué la JVM no puede desmontar el VT?</a:t>
            </a:r>
          </a:p>
          <a:p>
            <a:pPr marL="0" lvl="0" indent="0" algn="l" rtl="0">
              <a:spcBef>
                <a:spcPts val="0"/>
              </a:spcBef>
              <a:spcAft>
                <a:spcPts val="0"/>
              </a:spcAft>
              <a:buNone/>
            </a:pPr>
            <a:r>
              <a:rPr lang="es-ES" dirty="0"/>
              <a:t>Para entender por qué el equipo de Java aún no ha podido solucionar el </a:t>
            </a:r>
            <a:r>
              <a:rPr lang="es-ES" dirty="0" err="1"/>
              <a:t>pinning</a:t>
            </a:r>
            <a:r>
              <a:rPr lang="es-ES" dirty="0"/>
              <a:t> con synchronized, hay que bajar a las entrañas de la JVM (HotSpot) y ver cómo se gestionan los monitores y los Stack Frames (marcos de pila).</a:t>
            </a:r>
          </a:p>
          <a:p>
            <a:pPr marL="0" lvl="0" indent="0" algn="l" rtl="0">
              <a:spcBef>
                <a:spcPts val="0"/>
              </a:spcBef>
              <a:spcAft>
                <a:spcPts val="0"/>
              </a:spcAft>
              <a:buNone/>
            </a:pPr>
            <a:r>
              <a:rPr lang="es-ES" dirty="0"/>
              <a:t>Aquí te explico la razón técnica profunda:</a:t>
            </a:r>
          </a:p>
          <a:p>
            <a:pPr marL="0" lvl="0" indent="0" algn="l" rtl="0">
              <a:spcBef>
                <a:spcPts val="0"/>
              </a:spcBef>
              <a:spcAft>
                <a:spcPts val="0"/>
              </a:spcAft>
              <a:buNone/>
            </a:pPr>
            <a:r>
              <a:rPr lang="es-ES" dirty="0"/>
              <a:t>1. El acoplamiento a nivel de registro de CPU</a:t>
            </a:r>
          </a:p>
          <a:p>
            <a:pPr marL="0" lvl="0" indent="0" algn="l" rtl="0">
              <a:spcBef>
                <a:spcPts val="0"/>
              </a:spcBef>
              <a:spcAft>
                <a:spcPts val="0"/>
              </a:spcAft>
              <a:buNone/>
            </a:pPr>
            <a:r>
              <a:rPr lang="es-ES" dirty="0"/>
              <a:t>Cuando un hilo de Java entra en un bloque synchronized, la JVM utiliza un objeto interno llamado Monitor. En la implementación tradicional (Platform Threads), existe una relación directa entre el ID del hilo del Sistema Operativo, la dirección de memoria de la pila (stack) y el Monitor.</a:t>
            </a:r>
          </a:p>
          <a:p>
            <a:pPr marL="0" lvl="0" indent="0" algn="l" rtl="0">
              <a:spcBef>
                <a:spcPts val="0"/>
              </a:spcBef>
              <a:spcAft>
                <a:spcPts val="0"/>
              </a:spcAft>
              <a:buNone/>
            </a:pPr>
            <a:r>
              <a:rPr lang="es-ES" dirty="0"/>
              <a:t>Cuando un hilo virtual se ejecuta, sus "marcos de pila" (las variables locales y el estado de ejecución) residen en el Heap (la memoria general) y se copian al Stack del Carrier Thread solo mientras se están ejecutando.</a:t>
            </a:r>
          </a:p>
          <a:p>
            <a:pPr marL="0" lvl="0" indent="0" algn="l" rtl="0">
              <a:spcBef>
                <a:spcPts val="0"/>
              </a:spcBef>
              <a:spcAft>
                <a:spcPts val="0"/>
              </a:spcAft>
              <a:buNone/>
            </a:pPr>
            <a:r>
              <a:rPr lang="es-ES" dirty="0"/>
              <a:t>2. El problema: Referencias nativas en el Stack</a:t>
            </a:r>
          </a:p>
          <a:p>
            <a:pPr marL="0" lvl="0" indent="0" algn="l" rtl="0">
              <a:spcBef>
                <a:spcPts val="0"/>
              </a:spcBef>
              <a:spcAft>
                <a:spcPts val="0"/>
              </a:spcAft>
              <a:buNone/>
            </a:pPr>
            <a:r>
              <a:rPr lang="es-ES" dirty="0"/>
              <a:t>El motivo exacto por el que la JVM no puede desmontar el Virtual Thread (VT) bajo synchronized es que el estado del monitor está guardado en el stack físico del Carrier Thread.</a:t>
            </a:r>
          </a:p>
          <a:p>
            <a:pPr marL="0" lvl="0" indent="0" algn="l" rtl="0">
              <a:spcBef>
                <a:spcPts val="0"/>
              </a:spcBef>
              <a:spcAft>
                <a:spcPts val="0"/>
              </a:spcAft>
              <a:buNone/>
            </a:pPr>
            <a:r>
              <a:rPr lang="es-ES" dirty="0"/>
              <a:t>Punteros de memoria: Cuando entras en un bloque synchronized, la JVM escribe información sobre el bloqueo (el puntero al monitor o el "</a:t>
            </a:r>
            <a:r>
              <a:rPr lang="es-ES" dirty="0" err="1"/>
              <a:t>lock</a:t>
            </a:r>
            <a:r>
              <a:rPr lang="es-ES" dirty="0"/>
              <a:t> </a:t>
            </a:r>
            <a:r>
              <a:rPr lang="es-ES" dirty="0" err="1"/>
              <a:t>record</a:t>
            </a:r>
            <a:r>
              <a:rPr lang="es-ES" dirty="0"/>
              <a:t>") directamente en el stack frame del hilo que está corriendo en ese momento.</a:t>
            </a:r>
          </a:p>
          <a:p>
            <a:pPr marL="0" lvl="0" indent="0" algn="l" rtl="0">
              <a:spcBef>
                <a:spcPts val="0"/>
              </a:spcBef>
              <a:spcAft>
                <a:spcPts val="0"/>
              </a:spcAft>
              <a:buNone/>
            </a:pPr>
            <a:r>
              <a:rPr lang="es-ES" dirty="0"/>
              <a:t>La limitación técnica: Actualmente, la infraestructura de la JVM no es capaz de "descoser" o mover esos punteros de bloqueo desde el stack físico del Carrier Thread de vuelta al Heap sin romper la integridad del monitor.</a:t>
            </a:r>
          </a:p>
          <a:p>
            <a:pPr marL="0" lvl="0" indent="0" algn="l" rtl="0">
              <a:spcBef>
                <a:spcPts val="0"/>
              </a:spcBef>
              <a:spcAft>
                <a:spcPts val="0"/>
              </a:spcAft>
              <a:buNone/>
            </a:pPr>
            <a:r>
              <a:rPr lang="es-ES" dirty="0"/>
              <a:t>Si la JVM intentara desmontar el VT mientras tiene un monitor activo, el puntero quedaría apuntando a una dirección de memoria del Carrier que ya no le pertenece al VT, lo que provocaría una corrupción de memoria o un cierre inesperado (</a:t>
            </a:r>
            <a:r>
              <a:rPr lang="es-ES" dirty="0" err="1"/>
              <a:t>crash</a:t>
            </a:r>
            <a:r>
              <a:rPr lang="es-ES" dirty="0"/>
              <a:t>) de la JVM.</a:t>
            </a:r>
          </a:p>
          <a:p>
            <a:pPr marL="0" lvl="0" indent="0" algn="l" rtl="0">
              <a:spcBef>
                <a:spcPts val="0"/>
              </a:spcBef>
              <a:spcAft>
                <a:spcPts val="0"/>
              </a:spcAft>
              <a:buNone/>
            </a:pPr>
            <a:r>
              <a:rPr lang="es-ES" dirty="0"/>
              <a:t>3. ¿Por qué </a:t>
            </a:r>
            <a:r>
              <a:rPr lang="es-ES" dirty="0" err="1"/>
              <a:t>ReentrantLock</a:t>
            </a:r>
            <a:r>
              <a:rPr lang="es-ES" dirty="0"/>
              <a:t> sí funciona?</a:t>
            </a:r>
          </a:p>
          <a:p>
            <a:pPr marL="0" lvl="0" indent="0" algn="l" rtl="0">
              <a:spcBef>
                <a:spcPts val="0"/>
              </a:spcBef>
              <a:spcAft>
                <a:spcPts val="0"/>
              </a:spcAft>
              <a:buNone/>
            </a:pPr>
            <a:r>
              <a:rPr lang="es-ES" dirty="0"/>
              <a:t>Es una pregunta lógica: si ambos sirven para bloquear, ¿por qué uno ancla y el otro no?</a:t>
            </a:r>
          </a:p>
          <a:p>
            <a:pPr marL="0" lvl="0" indent="0" algn="l" rtl="0">
              <a:spcBef>
                <a:spcPts val="0"/>
              </a:spcBef>
              <a:spcAft>
                <a:spcPts val="0"/>
              </a:spcAft>
              <a:buNone/>
            </a:pPr>
            <a:r>
              <a:rPr lang="es-ES" dirty="0"/>
              <a:t>synchronized es una construcción intrínseca de la JVM (está integrada en el código C++ de la propia máquina virtual). Modificar esto requiere cambiar cómo HotSpot gestiona los monitores desde hace 25 años.</a:t>
            </a:r>
          </a:p>
          <a:p>
            <a:pPr marL="0" lvl="0" indent="0" algn="l" rtl="0">
              <a:spcBef>
                <a:spcPts val="0"/>
              </a:spcBef>
              <a:spcAft>
                <a:spcPts val="0"/>
              </a:spcAft>
              <a:buNone/>
            </a:pPr>
            <a:r>
              <a:rPr lang="es-ES" dirty="0" err="1"/>
              <a:t>ReentrantLock</a:t>
            </a:r>
            <a:r>
              <a:rPr lang="es-ES" dirty="0"/>
              <a:t> es una clase de Java puro (parte de </a:t>
            </a:r>
            <a:r>
              <a:rPr lang="es-ES" dirty="0" err="1"/>
              <a:t>java.util.concurrent</a:t>
            </a:r>
            <a:r>
              <a:rPr lang="es-ES" dirty="0"/>
              <a:t>). Utiliza </a:t>
            </a:r>
            <a:r>
              <a:rPr lang="es-ES" dirty="0" err="1"/>
              <a:t>AbstractQueuedSynchronizer</a:t>
            </a:r>
            <a:r>
              <a:rPr lang="es-ES" dirty="0"/>
              <a:t> (AQS), que gestiona las esperas mediante una cola de hilos. Como es código Java, cuando un hilo virtual se bloquea en un </a:t>
            </a:r>
            <a:r>
              <a:rPr lang="es-ES" dirty="0" err="1"/>
              <a:t>ReentrantLock</a:t>
            </a:r>
            <a:r>
              <a:rPr lang="es-ES" dirty="0"/>
              <a:t>, simplemente "aparca" el objeto del hilo virtual en el Heap y libera el Carrier de forma limpia, sin dejar rastro en el stack físico.</a:t>
            </a:r>
          </a:p>
          <a:p>
            <a:pPr marL="0" lvl="0" indent="0" algn="l" rtl="0">
              <a:spcBef>
                <a:spcPts val="0"/>
              </a:spcBef>
              <a:spcAft>
                <a:spcPts val="0"/>
              </a:spcAft>
              <a:buNone/>
            </a:pPr>
            <a:r>
              <a:rPr lang="es-ES" dirty="0"/>
              <a:t>4. ¿Se solucionará en el futuro?</a:t>
            </a:r>
          </a:p>
          <a:p>
            <a:pPr marL="0" lvl="0" indent="0" algn="l" rtl="0">
              <a:spcBef>
                <a:spcPts val="0"/>
              </a:spcBef>
              <a:spcAft>
                <a:spcPts val="0"/>
              </a:spcAft>
              <a:buNone/>
            </a:pPr>
            <a:r>
              <a:rPr lang="es-ES" dirty="0"/>
              <a:t>Sí. El equipo de OpenJDK (dentro del Proyecto </a:t>
            </a:r>
            <a:r>
              <a:rPr lang="es-ES" dirty="0" err="1"/>
              <a:t>Loom</a:t>
            </a:r>
            <a:r>
              <a:rPr lang="es-ES" dirty="0"/>
              <a:t>) está trabajando en lo que llaman "Object Monitor </a:t>
            </a:r>
            <a:r>
              <a:rPr lang="es-ES" dirty="0" err="1"/>
              <a:t>Remounting</a:t>
            </a:r>
            <a:r>
              <a:rPr lang="es-ES" dirty="0"/>
              <a:t>".</a:t>
            </a:r>
          </a:p>
          <a:p>
            <a:pPr marL="0" lvl="0" indent="0" algn="l" rtl="0">
              <a:spcBef>
                <a:spcPts val="0"/>
              </a:spcBef>
              <a:spcAft>
                <a:spcPts val="0"/>
              </a:spcAft>
              <a:buNone/>
            </a:pPr>
            <a:r>
              <a:rPr lang="es-ES" dirty="0"/>
              <a:t>El objetivo es reescribir la gestión de monitores en la JVM para que los registros de bloqueo sean "movibles" y no dependan de una dirección fija en el stack del carrier. Una vez que esto se complete, synchronized dejará de causar </a:t>
            </a:r>
            <a:r>
              <a:rPr lang="es-ES" dirty="0" err="1"/>
              <a:t>pinning</a:t>
            </a:r>
            <a:r>
              <a:rPr lang="es-ES" dirty="0"/>
              <a:t> y se comportará igual de bien que </a:t>
            </a:r>
            <a:r>
              <a:rPr lang="es-ES" dirty="0" err="1"/>
              <a:t>ReentrantLock</a:t>
            </a:r>
            <a:r>
              <a:rPr lang="es-ES" dirty="0"/>
              <a:t>.</a:t>
            </a:r>
          </a:p>
          <a:p>
            <a:pPr marL="0" lvl="0" indent="0" algn="l" rtl="0">
              <a:spcBef>
                <a:spcPts val="0"/>
              </a:spcBef>
              <a:spcAft>
                <a:spcPts val="0"/>
              </a:spcAft>
              <a:buNone/>
            </a:pPr>
            <a:r>
              <a:rPr lang="es-ES" dirty="0"/>
              <a:t>Resumen para tu interés teórico:</a:t>
            </a:r>
          </a:p>
          <a:p>
            <a:pPr marL="0" lvl="0" indent="0" algn="l" rtl="0">
              <a:spcBef>
                <a:spcPts val="0"/>
              </a:spcBef>
              <a:spcAft>
                <a:spcPts val="0"/>
              </a:spcAft>
              <a:buNone/>
            </a:pPr>
            <a:r>
              <a:rPr lang="es-ES" dirty="0"/>
              <a:t>La JVM no desmonta el VT porque el bloqueo está físicamente atado a la dirección de memoria del stack del carrier, y la JVM actual no sabe cómo mover ese bloqueo al heap sin romper la estabilidad del sistema.</a:t>
            </a:r>
          </a:p>
          <a:p>
            <a:pPr marL="0" lvl="0" indent="0" algn="l" rtl="0">
              <a:spcBef>
                <a:spcPts val="0"/>
              </a:spcBef>
              <a:spcAft>
                <a:spcPts val="0"/>
              </a:spcAft>
              <a:buNone/>
            </a:pPr>
            <a:r>
              <a:rPr lang="es-ES" dirty="0"/>
              <a:t>¿Te genera curiosidad cómo detecta la JVM que debe "aparcar" un hilo virtual cuando no hay </a:t>
            </a:r>
            <a:r>
              <a:rPr lang="es-ES" dirty="0" err="1"/>
              <a:t>pinning</a:t>
            </a:r>
            <a:r>
              <a:rPr lang="es-ES" dirty="0"/>
              <a:t>, o prefieres profundizar en otro aspecto del Proyecto </a:t>
            </a:r>
            <a:r>
              <a:rPr lang="es-ES" dirty="0" err="1"/>
              <a:t>Loom</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Cuando se liberará oficialmente la solución Object Monitor </a:t>
            </a:r>
            <a:r>
              <a:rPr lang="es-ES" dirty="0" err="1"/>
              <a:t>Remounting</a:t>
            </a:r>
            <a:r>
              <a:rPr lang="es-ES" dirty="0"/>
              <a:t>?</a:t>
            </a:r>
          </a:p>
          <a:p>
            <a:pPr marL="0" lvl="0" indent="0" algn="l" rtl="0">
              <a:spcBef>
                <a:spcPts val="0"/>
              </a:spcBef>
              <a:spcAft>
                <a:spcPts val="0"/>
              </a:spcAft>
              <a:buNone/>
            </a:pPr>
            <a:r>
              <a:rPr lang="es-ES" dirty="0"/>
              <a:t>La solución oficial para eliminar el "</a:t>
            </a:r>
            <a:r>
              <a:rPr lang="es-ES" dirty="0" err="1"/>
              <a:t>pinning</a:t>
            </a:r>
            <a:r>
              <a:rPr lang="es-ES" dirty="0"/>
              <a:t>" causado por bloques y métodos synchronized se ha materializado a través del JEP 491 (Sincronización de hilos virtuales sin anclaje). </a:t>
            </a:r>
          </a:p>
          <a:p>
            <a:pPr marL="0" lvl="0" indent="0" algn="l" rtl="0">
              <a:spcBef>
                <a:spcPts val="0"/>
              </a:spcBef>
              <a:spcAft>
                <a:spcPts val="0"/>
              </a:spcAft>
              <a:buNone/>
            </a:pPr>
            <a:r>
              <a:rPr lang="es-ES" dirty="0"/>
              <a:t>Estado y fecha de lanzamiento</a:t>
            </a:r>
          </a:p>
          <a:p>
            <a:pPr marL="0" lvl="0" indent="0" algn="l" rtl="0">
              <a:spcBef>
                <a:spcPts val="0"/>
              </a:spcBef>
              <a:spcAft>
                <a:spcPts val="0"/>
              </a:spcAft>
              <a:buNone/>
            </a:pPr>
            <a:r>
              <a:rPr lang="es-ES" dirty="0"/>
              <a:t>Versión oficial: Esta mejora se ha integrado en JDK 24, cuya fecha de lanzamiento general fue en marzo de 2025.</a:t>
            </a:r>
          </a:p>
          <a:p>
            <a:pPr marL="0" lvl="0" indent="0" algn="l" rtl="0">
              <a:spcBef>
                <a:spcPts val="0"/>
              </a:spcBef>
              <a:spcAft>
                <a:spcPts val="0"/>
              </a:spcAft>
              <a:buNone/>
            </a:pPr>
            <a:r>
              <a:rPr lang="es-ES" dirty="0"/>
              <a:t>Disponibilidad: Si estás utilizando una versión de Java igual o superior a la 24, el problema del </a:t>
            </a:r>
            <a:r>
              <a:rPr lang="es-ES" dirty="0" err="1"/>
              <a:t>pinning</a:t>
            </a:r>
            <a:r>
              <a:rPr lang="es-ES" dirty="0"/>
              <a:t> por synchronized se considera resuelto para la inmensa mayoría de los casos de uso estándar. </a:t>
            </a:r>
          </a:p>
          <a:p>
            <a:pPr marL="0" lvl="0" indent="0" algn="l" rtl="0">
              <a:spcBef>
                <a:spcPts val="0"/>
              </a:spcBef>
              <a:spcAft>
                <a:spcPts val="0"/>
              </a:spcAft>
              <a:buNone/>
            </a:pPr>
            <a:r>
              <a:rPr lang="es-ES" dirty="0"/>
              <a:t>Lo que cambia con JDK 24</a:t>
            </a:r>
          </a:p>
          <a:p>
            <a:pPr marL="0" lvl="0" indent="0" algn="l" rtl="0">
              <a:spcBef>
                <a:spcPts val="0"/>
              </a:spcBef>
              <a:spcAft>
                <a:spcPts val="0"/>
              </a:spcAft>
              <a:buNone/>
            </a:pPr>
            <a:r>
              <a:rPr lang="es-ES" dirty="0"/>
              <a:t>Antes de esta versión, un hilo virtual (VT) se quedaba anclado a su hilo portador (carrier thread) si bloqueaba dentro de un synchronized. Con la implementación de JDK 24: </a:t>
            </a:r>
          </a:p>
          <a:p>
            <a:pPr marL="0" lvl="0" indent="0" algn="l" rtl="0">
              <a:spcBef>
                <a:spcPts val="0"/>
              </a:spcBef>
              <a:spcAft>
                <a:spcPts val="0"/>
              </a:spcAft>
              <a:buNone/>
            </a:pPr>
            <a:r>
              <a:rPr lang="es-ES" dirty="0"/>
              <a:t>Desmontaje automático: Cuando un VT encuentra una operación bloqueante dentro de un bloque synchronized, ahora es capaz de desmontarse y liberar el hilo de plataforma para que otros </a:t>
            </a:r>
            <a:r>
              <a:rPr lang="es-ES" dirty="0" err="1"/>
              <a:t>VTs</a:t>
            </a:r>
            <a:r>
              <a:rPr lang="es-ES" dirty="0"/>
              <a:t> puedan usarlo.</a:t>
            </a:r>
          </a:p>
          <a:p>
            <a:pPr marL="0" lvl="0" indent="0" algn="l" rtl="0">
              <a:spcBef>
                <a:spcPts val="0"/>
              </a:spcBef>
              <a:spcAft>
                <a:spcPts val="0"/>
              </a:spcAft>
              <a:buNone/>
            </a:pPr>
            <a:r>
              <a:rPr lang="es-ES" dirty="0"/>
              <a:t>Recomendaciones de código: Los autores del JEP ya no recomiendan sustituir sistemáticamente synchronized por </a:t>
            </a:r>
            <a:r>
              <a:rPr lang="es-ES" dirty="0" err="1"/>
              <a:t>ReentrantLock</a:t>
            </a:r>
            <a:r>
              <a:rPr lang="es-ES" dirty="0"/>
              <a:t> solo por el </a:t>
            </a:r>
            <a:r>
              <a:rPr lang="es-ES" dirty="0" err="1"/>
              <a:t>pinning</a:t>
            </a:r>
            <a:r>
              <a:rPr lang="es-ES" dirty="0"/>
              <a:t>. Ahora puedes elegir la herramienta que mejor resuelva tu lógica de negocio.</a:t>
            </a:r>
          </a:p>
          <a:p>
            <a:pPr marL="0" lvl="0" indent="0" algn="l" rtl="0">
              <a:spcBef>
                <a:spcPts val="0"/>
              </a:spcBef>
              <a:spcAft>
                <a:spcPts val="0"/>
              </a:spcAft>
              <a:buNone/>
            </a:pPr>
            <a:r>
              <a:rPr lang="es-ES" dirty="0"/>
              <a:t>Excepciones restantes: El anclaje aún puede ocurrir en escenarios muy específicos y poco comunes, como el bloqueo dentro de inicializadores de clase (</a:t>
            </a:r>
            <a:r>
              <a:rPr lang="es-ES" dirty="0" err="1"/>
              <a:t>static</a:t>
            </a:r>
            <a:r>
              <a:rPr lang="es-ES" dirty="0"/>
              <a:t> {}) o llamadas a código nativo (JNI). </a:t>
            </a:r>
          </a:p>
          <a:p>
            <a:pPr marL="0" lvl="0" indent="0" algn="l" rtl="0">
              <a:spcBef>
                <a:spcPts val="0"/>
              </a:spcBef>
              <a:spcAft>
                <a:spcPts val="0"/>
              </a:spcAft>
              <a:buNone/>
            </a:pPr>
            <a:r>
              <a:rPr lang="es-ES" dirty="0"/>
              <a:t>Resumen para tu interés teórico</a:t>
            </a:r>
          </a:p>
          <a:p>
            <a:pPr marL="0" lvl="0" indent="0" algn="l" rtl="0">
              <a:spcBef>
                <a:spcPts val="0"/>
              </a:spcBef>
              <a:spcAft>
                <a:spcPts val="0"/>
              </a:spcAft>
              <a:buNone/>
            </a:pPr>
            <a:r>
              <a:rPr lang="es-ES" dirty="0"/>
              <a:t>La solución no fue un simple "parche", sino una reestructuración interna de cómo la JVM gestiona los monitores de objetos para permitir que los marcos de pila que contienen bloqueos sean movibles.</a:t>
            </a:r>
          </a:p>
          <a:p>
            <a:pPr marL="0" lvl="0" indent="0" algn="l" rtl="0">
              <a:spcBef>
                <a:spcPts val="0"/>
              </a:spcBef>
              <a:spcAft>
                <a:spcPts val="0"/>
              </a:spcAft>
              <a:buNone/>
            </a:pPr>
            <a:r>
              <a:rPr lang="es-ES" dirty="0"/>
              <a:t>Dato adicional: Dado que hoy ya estamos en abril de 2026 y la versión más reciente es Java 26 (lanzada en marzo de 2026), esta funcionalidad está plenamente consolidada en el ecosistema actual de Java.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71690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7865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4214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6c40055f4_5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6c40055f4_5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b6c40055f4_5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b6c40055f4_5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6c40055f4_5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b6c40055f4_5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6c40055f4_5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b6c40055f4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b6c40055f4_5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b6c40055f4_5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3">
            <a:alphaModFix/>
          </a:blip>
          <a:srcRect t="45590"/>
          <a:stretch/>
        </p:blipFill>
        <p:spPr>
          <a:xfrm>
            <a:off x="776475" y="0"/>
            <a:ext cx="1229075" cy="589849"/>
          </a:xfrm>
          <a:prstGeom prst="rect">
            <a:avLst/>
          </a:prstGeom>
          <a:noFill/>
          <a:ln>
            <a:noFill/>
          </a:ln>
        </p:spPr>
      </p:pic>
      <p:pic>
        <p:nvPicPr>
          <p:cNvPr id="11" name="Google Shape;11;p2"/>
          <p:cNvPicPr preferRelativeResize="0"/>
          <p:nvPr/>
        </p:nvPicPr>
        <p:blipFill rotWithShape="1">
          <a:blip r:embed="rId4">
            <a:alphaModFix/>
          </a:blip>
          <a:srcRect/>
          <a:stretch/>
        </p:blipFill>
        <p:spPr>
          <a:xfrm>
            <a:off x="0" y="0"/>
            <a:ext cx="9144003" cy="5147969"/>
          </a:xfrm>
          <a:prstGeom prst="rect">
            <a:avLst/>
          </a:prstGeom>
          <a:noFill/>
          <a:ln>
            <a:noFill/>
          </a:ln>
        </p:spPr>
      </p:pic>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3" name="Google Shape;13;p2"/>
          <p:cNvPicPr preferRelativeResize="0"/>
          <p:nvPr/>
        </p:nvPicPr>
        <p:blipFill rotWithShape="1">
          <a:blip r:embed="rId5">
            <a:alphaModFix/>
          </a:blip>
          <a:srcRect b="49262"/>
          <a:stretch/>
        </p:blipFill>
        <p:spPr>
          <a:xfrm>
            <a:off x="315663" y="4052300"/>
            <a:ext cx="2150699" cy="1091201"/>
          </a:xfrm>
          <a:prstGeom prst="rect">
            <a:avLst/>
          </a:prstGeom>
          <a:noFill/>
          <a:ln>
            <a:noFill/>
          </a:ln>
        </p:spPr>
      </p:pic>
      <p:pic>
        <p:nvPicPr>
          <p:cNvPr id="14" name="Google Shape;14;p2"/>
          <p:cNvPicPr preferRelativeResize="0"/>
          <p:nvPr/>
        </p:nvPicPr>
        <p:blipFill rotWithShape="1">
          <a:blip r:embed="rId6">
            <a:alphaModFix/>
          </a:blip>
          <a:srcRect/>
          <a:stretch/>
        </p:blipFill>
        <p:spPr>
          <a:xfrm>
            <a:off x="7564025" y="810700"/>
            <a:ext cx="1084300" cy="927325"/>
          </a:xfrm>
          <a:prstGeom prst="rect">
            <a:avLst/>
          </a:prstGeom>
          <a:noFill/>
          <a:ln>
            <a:noFill/>
          </a:ln>
        </p:spPr>
      </p:pic>
      <p:pic>
        <p:nvPicPr>
          <p:cNvPr id="15" name="Google Shape;15;p2"/>
          <p:cNvPicPr preferRelativeResize="0"/>
          <p:nvPr/>
        </p:nvPicPr>
        <p:blipFill rotWithShape="1">
          <a:blip r:embed="rId7">
            <a:alphaModFix/>
          </a:blip>
          <a:srcRect/>
          <a:stretch/>
        </p:blipFill>
        <p:spPr>
          <a:xfrm>
            <a:off x="657874" y="295350"/>
            <a:ext cx="604600" cy="697100"/>
          </a:xfrm>
          <a:prstGeom prst="rect">
            <a:avLst/>
          </a:prstGeom>
          <a:noFill/>
          <a:ln>
            <a:noFill/>
          </a:ln>
        </p:spPr>
      </p:pic>
      <p:pic>
        <p:nvPicPr>
          <p:cNvPr id="16" name="Google Shape;16;p2"/>
          <p:cNvPicPr preferRelativeResize="0"/>
          <p:nvPr/>
        </p:nvPicPr>
        <p:blipFill rotWithShape="1">
          <a:blip r:embed="rId8">
            <a:alphaModFix/>
          </a:blip>
          <a:srcRect/>
          <a:stretch/>
        </p:blipFill>
        <p:spPr>
          <a:xfrm>
            <a:off x="4918500" y="3991934"/>
            <a:ext cx="1229076" cy="749716"/>
          </a:xfrm>
          <a:prstGeom prst="rect">
            <a:avLst/>
          </a:prstGeom>
          <a:noFill/>
          <a:ln>
            <a:noFill/>
          </a:ln>
        </p:spPr>
      </p:pic>
      <p:pic>
        <p:nvPicPr>
          <p:cNvPr id="17" name="Google Shape;17;p2"/>
          <p:cNvPicPr preferRelativeResize="0"/>
          <p:nvPr/>
        </p:nvPicPr>
        <p:blipFill rotWithShape="1">
          <a:blip r:embed="rId9">
            <a:alphaModFix/>
          </a:blip>
          <a:srcRect/>
          <a:stretch/>
        </p:blipFill>
        <p:spPr>
          <a:xfrm>
            <a:off x="6050875" y="3742675"/>
            <a:ext cx="909225" cy="339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2">
  <p:cSld name="TITLE_2">
    <p:bg>
      <p:bgPr>
        <a:blipFill>
          <a:blip r:embed="rId2">
            <a:alphaModFix/>
          </a:blip>
          <a:stretch>
            <a:fillRect/>
          </a:stretch>
        </a:blipFill>
        <a:effectLst/>
      </p:bgPr>
    </p:bg>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20" name="Google Shape;20;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1" name="Google Shape;21;p3"/>
          <p:cNvPicPr preferRelativeResize="0"/>
          <p:nvPr/>
        </p:nvPicPr>
        <p:blipFill rotWithShape="1">
          <a:blip r:embed="rId4">
            <a:alphaModFix/>
          </a:blip>
          <a:srcRect/>
          <a:stretch/>
        </p:blipFill>
        <p:spPr>
          <a:xfrm>
            <a:off x="7157075" y="4015075"/>
            <a:ext cx="1034550" cy="648150"/>
          </a:xfrm>
          <a:prstGeom prst="rect">
            <a:avLst/>
          </a:prstGeom>
          <a:noFill/>
          <a:ln>
            <a:noFill/>
          </a:ln>
        </p:spPr>
      </p:pic>
      <p:pic>
        <p:nvPicPr>
          <p:cNvPr id="22" name="Google Shape;22;p3"/>
          <p:cNvPicPr preferRelativeResize="0"/>
          <p:nvPr/>
        </p:nvPicPr>
        <p:blipFill rotWithShape="1">
          <a:blip r:embed="rId5">
            <a:alphaModFix/>
          </a:blip>
          <a:srcRect/>
          <a:stretch/>
        </p:blipFill>
        <p:spPr>
          <a:xfrm>
            <a:off x="478650" y="407705"/>
            <a:ext cx="548700" cy="343766"/>
          </a:xfrm>
          <a:prstGeom prst="rect">
            <a:avLst/>
          </a:prstGeom>
          <a:noFill/>
          <a:ln>
            <a:noFill/>
          </a:ln>
        </p:spPr>
      </p:pic>
      <p:pic>
        <p:nvPicPr>
          <p:cNvPr id="23" name="Google Shape;23;p3"/>
          <p:cNvPicPr preferRelativeResize="0"/>
          <p:nvPr/>
        </p:nvPicPr>
        <p:blipFill rotWithShape="1">
          <a:blip r:embed="rId6">
            <a:alphaModFix/>
          </a:blip>
          <a:srcRect/>
          <a:stretch/>
        </p:blipFill>
        <p:spPr>
          <a:xfrm>
            <a:off x="241575" y="3702100"/>
            <a:ext cx="1209875" cy="1209875"/>
          </a:xfrm>
          <a:prstGeom prst="rect">
            <a:avLst/>
          </a:prstGeom>
          <a:noFill/>
          <a:ln>
            <a:noFill/>
          </a:ln>
        </p:spPr>
      </p:pic>
      <p:pic>
        <p:nvPicPr>
          <p:cNvPr id="24" name="Google Shape;24;p3"/>
          <p:cNvPicPr preferRelativeResize="0"/>
          <p:nvPr/>
        </p:nvPicPr>
        <p:blipFill>
          <a:blip r:embed="rId7">
            <a:alphaModFix/>
          </a:blip>
          <a:stretch>
            <a:fillRect/>
          </a:stretch>
        </p:blipFill>
        <p:spPr>
          <a:xfrm>
            <a:off x="1657813" y="1176917"/>
            <a:ext cx="5828372" cy="569165"/>
          </a:xfrm>
          <a:prstGeom prst="rect">
            <a:avLst/>
          </a:prstGeom>
          <a:noFill/>
          <a:ln>
            <a:noFill/>
          </a:ln>
        </p:spPr>
      </p:pic>
      <p:pic>
        <p:nvPicPr>
          <p:cNvPr id="25" name="Google Shape;25;p3"/>
          <p:cNvPicPr preferRelativeResize="0"/>
          <p:nvPr/>
        </p:nvPicPr>
        <p:blipFill>
          <a:blip r:embed="rId8">
            <a:alphaModFix/>
          </a:blip>
          <a:stretch>
            <a:fillRect/>
          </a:stretch>
        </p:blipFill>
        <p:spPr>
          <a:xfrm>
            <a:off x="1211318" y="2124600"/>
            <a:ext cx="6721362" cy="11092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2 1">
  <p:cSld name="TITLE_2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4"/>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28" name="Google Shape;2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9" name="Google Shape;29;p4"/>
          <p:cNvPicPr preferRelativeResize="0"/>
          <p:nvPr/>
        </p:nvPicPr>
        <p:blipFill rotWithShape="1">
          <a:blip r:embed="rId4">
            <a:alphaModFix/>
          </a:blip>
          <a:srcRect/>
          <a:stretch/>
        </p:blipFill>
        <p:spPr>
          <a:xfrm>
            <a:off x="7083800" y="3982963"/>
            <a:ext cx="1034550" cy="648150"/>
          </a:xfrm>
          <a:prstGeom prst="rect">
            <a:avLst/>
          </a:prstGeom>
          <a:noFill/>
          <a:ln>
            <a:noFill/>
          </a:ln>
        </p:spPr>
      </p:pic>
      <p:pic>
        <p:nvPicPr>
          <p:cNvPr id="30" name="Google Shape;30;p4"/>
          <p:cNvPicPr preferRelativeResize="0"/>
          <p:nvPr/>
        </p:nvPicPr>
        <p:blipFill rotWithShape="1">
          <a:blip r:embed="rId5">
            <a:alphaModFix/>
          </a:blip>
          <a:srcRect/>
          <a:stretch/>
        </p:blipFill>
        <p:spPr>
          <a:xfrm>
            <a:off x="646150" y="564705"/>
            <a:ext cx="548700" cy="343766"/>
          </a:xfrm>
          <a:prstGeom prst="rect">
            <a:avLst/>
          </a:prstGeom>
          <a:noFill/>
          <a:ln>
            <a:noFill/>
          </a:ln>
        </p:spPr>
      </p:pic>
      <p:pic>
        <p:nvPicPr>
          <p:cNvPr id="31" name="Google Shape;31;p4"/>
          <p:cNvPicPr preferRelativeResize="0"/>
          <p:nvPr/>
        </p:nvPicPr>
        <p:blipFill rotWithShape="1">
          <a:blip r:embed="rId6">
            <a:alphaModFix/>
          </a:blip>
          <a:srcRect/>
          <a:stretch/>
        </p:blipFill>
        <p:spPr>
          <a:xfrm>
            <a:off x="241575" y="3702100"/>
            <a:ext cx="1209875" cy="1209875"/>
          </a:xfrm>
          <a:prstGeom prst="rect">
            <a:avLst/>
          </a:prstGeom>
          <a:noFill/>
          <a:ln>
            <a:noFill/>
          </a:ln>
        </p:spPr>
      </p:pic>
      <p:pic>
        <p:nvPicPr>
          <p:cNvPr id="32" name="Google Shape;32;p4"/>
          <p:cNvPicPr preferRelativeResize="0"/>
          <p:nvPr/>
        </p:nvPicPr>
        <p:blipFill>
          <a:blip r:embed="rId7">
            <a:alphaModFix/>
          </a:blip>
          <a:stretch>
            <a:fillRect/>
          </a:stretch>
        </p:blipFill>
        <p:spPr>
          <a:xfrm>
            <a:off x="1657813" y="1176917"/>
            <a:ext cx="5828372" cy="569165"/>
          </a:xfrm>
          <a:prstGeom prst="rect">
            <a:avLst/>
          </a:prstGeom>
          <a:noFill/>
          <a:ln>
            <a:noFill/>
          </a:ln>
        </p:spPr>
      </p:pic>
      <p:pic>
        <p:nvPicPr>
          <p:cNvPr id="33" name="Google Shape;33;p4"/>
          <p:cNvPicPr preferRelativeResize="0"/>
          <p:nvPr/>
        </p:nvPicPr>
        <p:blipFill>
          <a:blip r:embed="rId8">
            <a:alphaModFix/>
          </a:blip>
          <a:stretch>
            <a:fillRect/>
          </a:stretch>
        </p:blipFill>
        <p:spPr>
          <a:xfrm>
            <a:off x="1541650" y="2183674"/>
            <a:ext cx="6060698" cy="109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11700" y="4613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5"/>
          <p:cNvSpPr txBox="1">
            <a:spLocks noGrp="1"/>
          </p:cNvSpPr>
          <p:nvPr>
            <p:ph type="body" idx="1"/>
          </p:nvPr>
        </p:nvSpPr>
        <p:spPr>
          <a:xfrm>
            <a:off x="311700" y="1717200"/>
            <a:ext cx="39999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5"/>
          <p:cNvSpPr txBox="1">
            <a:spLocks noGrp="1"/>
          </p:cNvSpPr>
          <p:nvPr>
            <p:ph type="body" idx="2"/>
          </p:nvPr>
        </p:nvSpPr>
        <p:spPr>
          <a:xfrm>
            <a:off x="4832400" y="1717200"/>
            <a:ext cx="39999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39" name="Google Shape;39;p5"/>
          <p:cNvPicPr preferRelativeResize="0"/>
          <p:nvPr/>
        </p:nvPicPr>
        <p:blipFill>
          <a:blip r:embed="rId3">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42" name="Google Shape;42;p6"/>
          <p:cNvPicPr preferRelativeResize="0"/>
          <p:nvPr/>
        </p:nvPicPr>
        <p:blipFill>
          <a:blip r:embed="rId3">
            <a:alphaModFix/>
          </a:blip>
          <a:stretch>
            <a:fillRect/>
          </a:stretch>
        </p:blipFill>
        <p:spPr>
          <a:xfrm>
            <a:off x="7842027" y="253979"/>
            <a:ext cx="1072251" cy="251834"/>
          </a:xfrm>
          <a:prstGeom prst="rect">
            <a:avLst/>
          </a:prstGeom>
          <a:noFill/>
          <a:ln>
            <a:noFill/>
          </a:ln>
        </p:spPr>
      </p:pic>
      <p:sp>
        <p:nvSpPr>
          <p:cNvPr id="43" name="Google Shape;43;p6"/>
          <p:cNvSpPr txBox="1">
            <a:spLocks noGrp="1"/>
          </p:cNvSpPr>
          <p:nvPr>
            <p:ph type="title"/>
          </p:nvPr>
        </p:nvSpPr>
        <p:spPr>
          <a:xfrm>
            <a:off x="311700" y="461350"/>
            <a:ext cx="72561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4" name="Google Shape;44;p6"/>
          <p:cNvSpPr txBox="1">
            <a:spLocks noGrp="1"/>
          </p:cNvSpPr>
          <p:nvPr>
            <p:ph type="body" idx="1"/>
          </p:nvPr>
        </p:nvSpPr>
        <p:spPr>
          <a:xfrm>
            <a:off x="311700" y="1717200"/>
            <a:ext cx="85206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sp>
        <p:nvSpPr>
          <p:cNvPr id="46" name="Google Shape;46;p7"/>
          <p:cNvSpPr txBox="1">
            <a:spLocks noGrp="1"/>
          </p:cNvSpPr>
          <p:nvPr>
            <p:ph type="body" idx="1"/>
          </p:nvPr>
        </p:nvSpPr>
        <p:spPr>
          <a:xfrm>
            <a:off x="1251800" y="1717200"/>
            <a:ext cx="7220700" cy="2946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7" name="Google Shape;4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8" name="Google Shape;48;p7"/>
          <p:cNvSpPr/>
          <p:nvPr/>
        </p:nvSpPr>
        <p:spPr>
          <a:xfrm>
            <a:off x="0" y="-4025"/>
            <a:ext cx="8946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pic>
        <p:nvPicPr>
          <p:cNvPr id="49" name="Google Shape;49;p7"/>
          <p:cNvPicPr preferRelativeResize="0"/>
          <p:nvPr/>
        </p:nvPicPr>
        <p:blipFill rotWithShape="1">
          <a:blip r:embed="rId2">
            <a:alphaModFix/>
          </a:blip>
          <a:srcRect/>
          <a:stretch/>
        </p:blipFill>
        <p:spPr>
          <a:xfrm rot="10800000">
            <a:off x="73270" y="1457749"/>
            <a:ext cx="407175" cy="1517150"/>
          </a:xfrm>
          <a:prstGeom prst="rect">
            <a:avLst/>
          </a:prstGeom>
          <a:noFill/>
          <a:ln>
            <a:noFill/>
          </a:ln>
        </p:spPr>
      </p:pic>
      <p:pic>
        <p:nvPicPr>
          <p:cNvPr id="50" name="Google Shape;50;p7"/>
          <p:cNvPicPr preferRelativeResize="0"/>
          <p:nvPr/>
        </p:nvPicPr>
        <p:blipFill rotWithShape="1">
          <a:blip r:embed="rId3">
            <a:alphaModFix/>
          </a:blip>
          <a:srcRect t="16416" r="25479"/>
          <a:stretch/>
        </p:blipFill>
        <p:spPr>
          <a:xfrm rot="5400000">
            <a:off x="146724" y="3900225"/>
            <a:ext cx="842601" cy="576501"/>
          </a:xfrm>
          <a:prstGeom prst="rect">
            <a:avLst/>
          </a:prstGeom>
          <a:noFill/>
          <a:ln>
            <a:noFill/>
          </a:ln>
        </p:spPr>
      </p:pic>
      <p:pic>
        <p:nvPicPr>
          <p:cNvPr id="51" name="Google Shape;51;p7"/>
          <p:cNvPicPr preferRelativeResize="0"/>
          <p:nvPr/>
        </p:nvPicPr>
        <p:blipFill>
          <a:blip r:embed="rId4">
            <a:alphaModFix/>
          </a:blip>
          <a:stretch>
            <a:fillRect/>
          </a:stretch>
        </p:blipFill>
        <p:spPr>
          <a:xfrm>
            <a:off x="7842027" y="253979"/>
            <a:ext cx="1072251" cy="251834"/>
          </a:xfrm>
          <a:prstGeom prst="rect">
            <a:avLst/>
          </a:prstGeom>
          <a:noFill/>
          <a:ln>
            <a:noFill/>
          </a:ln>
        </p:spPr>
      </p:pic>
      <p:pic>
        <p:nvPicPr>
          <p:cNvPr id="52" name="Google Shape;52;p7"/>
          <p:cNvPicPr preferRelativeResize="0"/>
          <p:nvPr/>
        </p:nvPicPr>
        <p:blipFill>
          <a:blip r:embed="rId5">
            <a:alphaModFix/>
          </a:blip>
          <a:stretch>
            <a:fillRect/>
          </a:stretch>
        </p:blipFill>
        <p:spPr>
          <a:xfrm>
            <a:off x="407175" y="253975"/>
            <a:ext cx="449101" cy="281009"/>
          </a:xfrm>
          <a:prstGeom prst="rect">
            <a:avLst/>
          </a:prstGeom>
          <a:noFill/>
          <a:ln>
            <a:noFill/>
          </a:ln>
        </p:spPr>
      </p:pic>
      <p:sp>
        <p:nvSpPr>
          <p:cNvPr id="53" name="Google Shape;53;p7"/>
          <p:cNvSpPr txBox="1">
            <a:spLocks noGrp="1"/>
          </p:cNvSpPr>
          <p:nvPr>
            <p:ph type="title"/>
          </p:nvPr>
        </p:nvSpPr>
        <p:spPr>
          <a:xfrm>
            <a:off x="1251800" y="461350"/>
            <a:ext cx="6483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54" name="Google Shape;54;p7"/>
          <p:cNvPicPr preferRelativeResize="0"/>
          <p:nvPr/>
        </p:nvPicPr>
        <p:blipFill rotWithShape="1">
          <a:blip r:embed="rId6">
            <a:alphaModFix/>
          </a:blip>
          <a:srcRect/>
          <a:stretch/>
        </p:blipFill>
        <p:spPr>
          <a:xfrm>
            <a:off x="0" y="0"/>
            <a:ext cx="9144003" cy="514796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5"/>
        <p:cNvGrpSpPr/>
        <p:nvPr/>
      </p:nvGrpSpPr>
      <p:grpSpPr>
        <a:xfrm>
          <a:off x="0" y="0"/>
          <a:ext cx="0" cy="0"/>
          <a:chOff x="0" y="0"/>
          <a:chExt cx="0" cy="0"/>
        </a:xfrm>
      </p:grpSpPr>
      <p:sp>
        <p:nvSpPr>
          <p:cNvPr id="56" name="Google Shape;5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7" name="Google Shape;57;p8"/>
          <p:cNvSpPr/>
          <p:nvPr/>
        </p:nvSpPr>
        <p:spPr>
          <a:xfrm>
            <a:off x="7646900" y="-4025"/>
            <a:ext cx="1497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pic>
        <p:nvPicPr>
          <p:cNvPr id="58" name="Google Shape;58;p8"/>
          <p:cNvPicPr preferRelativeResize="0"/>
          <p:nvPr/>
        </p:nvPicPr>
        <p:blipFill rotWithShape="1">
          <a:blip r:embed="rId2">
            <a:alphaModFix/>
          </a:blip>
          <a:srcRect/>
          <a:stretch/>
        </p:blipFill>
        <p:spPr>
          <a:xfrm>
            <a:off x="0" y="0"/>
            <a:ext cx="9144003" cy="5147969"/>
          </a:xfrm>
          <a:prstGeom prst="rect">
            <a:avLst/>
          </a:prstGeom>
          <a:noFill/>
          <a:ln>
            <a:noFill/>
          </a:ln>
        </p:spPr>
      </p:pic>
      <p:pic>
        <p:nvPicPr>
          <p:cNvPr id="59" name="Google Shape;59;p8"/>
          <p:cNvPicPr preferRelativeResize="0"/>
          <p:nvPr/>
        </p:nvPicPr>
        <p:blipFill rotWithShape="1">
          <a:blip r:embed="rId3">
            <a:alphaModFix/>
          </a:blip>
          <a:srcRect/>
          <a:stretch/>
        </p:blipFill>
        <p:spPr>
          <a:xfrm>
            <a:off x="8375025" y="1285930"/>
            <a:ext cx="548700" cy="495825"/>
          </a:xfrm>
          <a:prstGeom prst="rect">
            <a:avLst/>
          </a:prstGeom>
          <a:noFill/>
          <a:ln>
            <a:noFill/>
          </a:ln>
        </p:spPr>
      </p:pic>
      <p:pic>
        <p:nvPicPr>
          <p:cNvPr id="60" name="Google Shape;60;p8"/>
          <p:cNvPicPr preferRelativeResize="0"/>
          <p:nvPr/>
        </p:nvPicPr>
        <p:blipFill rotWithShape="1">
          <a:blip r:embed="rId4">
            <a:alphaModFix/>
          </a:blip>
          <a:srcRect/>
          <a:stretch/>
        </p:blipFill>
        <p:spPr>
          <a:xfrm rot="10800000">
            <a:off x="7646907" y="2103412"/>
            <a:ext cx="407175" cy="1517150"/>
          </a:xfrm>
          <a:prstGeom prst="rect">
            <a:avLst/>
          </a:prstGeom>
          <a:noFill/>
          <a:ln>
            <a:noFill/>
          </a:ln>
        </p:spPr>
      </p:pic>
      <p:sp>
        <p:nvSpPr>
          <p:cNvPr id="61" name="Google Shape;61;p8"/>
          <p:cNvSpPr txBox="1">
            <a:spLocks noGrp="1"/>
          </p:cNvSpPr>
          <p:nvPr>
            <p:ph type="body" idx="1"/>
          </p:nvPr>
        </p:nvSpPr>
        <p:spPr>
          <a:xfrm>
            <a:off x="311700" y="1717200"/>
            <a:ext cx="6568800" cy="25173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pic>
        <p:nvPicPr>
          <p:cNvPr id="62" name="Google Shape;62;p8"/>
          <p:cNvPicPr preferRelativeResize="0"/>
          <p:nvPr/>
        </p:nvPicPr>
        <p:blipFill rotWithShape="1">
          <a:blip r:embed="rId5">
            <a:alphaModFix/>
          </a:blip>
          <a:srcRect r="37032"/>
          <a:stretch/>
        </p:blipFill>
        <p:spPr>
          <a:xfrm>
            <a:off x="8041716" y="3411188"/>
            <a:ext cx="1102283" cy="1517151"/>
          </a:xfrm>
          <a:prstGeom prst="rect">
            <a:avLst/>
          </a:prstGeom>
          <a:noFill/>
          <a:ln>
            <a:noFill/>
          </a:ln>
        </p:spPr>
      </p:pic>
      <p:pic>
        <p:nvPicPr>
          <p:cNvPr id="63" name="Google Shape;63;p8"/>
          <p:cNvPicPr preferRelativeResize="0"/>
          <p:nvPr/>
        </p:nvPicPr>
        <p:blipFill>
          <a:blip r:embed="rId6">
            <a:alphaModFix/>
          </a:blip>
          <a:stretch>
            <a:fillRect/>
          </a:stretch>
        </p:blipFill>
        <p:spPr>
          <a:xfrm>
            <a:off x="7841956" y="253980"/>
            <a:ext cx="1072323" cy="251850"/>
          </a:xfrm>
          <a:prstGeom prst="rect">
            <a:avLst/>
          </a:prstGeom>
          <a:noFill/>
          <a:ln>
            <a:noFill/>
          </a:ln>
        </p:spPr>
      </p:pic>
      <p:sp>
        <p:nvSpPr>
          <p:cNvPr id="64" name="Google Shape;64;p8"/>
          <p:cNvSpPr txBox="1">
            <a:spLocks noGrp="1"/>
          </p:cNvSpPr>
          <p:nvPr>
            <p:ph type="title"/>
          </p:nvPr>
        </p:nvSpPr>
        <p:spPr>
          <a:xfrm>
            <a:off x="311700" y="4613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1 1">
  <p:cSld name="TITLE_AND_BODY_1_1">
    <p:spTree>
      <p:nvGrpSpPr>
        <p:cNvPr id="1" name="Shape 65"/>
        <p:cNvGrpSpPr/>
        <p:nvPr/>
      </p:nvGrpSpPr>
      <p:grpSpPr>
        <a:xfrm>
          <a:off x="0" y="0"/>
          <a:ext cx="0" cy="0"/>
          <a:chOff x="0" y="0"/>
          <a:chExt cx="0" cy="0"/>
        </a:xfrm>
      </p:grpSpPr>
      <p:sp>
        <p:nvSpPr>
          <p:cNvPr id="66" name="Google Shape;66;p9"/>
          <p:cNvSpPr/>
          <p:nvPr/>
        </p:nvSpPr>
        <p:spPr>
          <a:xfrm>
            <a:off x="4595025" y="-4025"/>
            <a:ext cx="45489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67" name="Google Shape;6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68" name="Google Shape;68;p9"/>
          <p:cNvPicPr preferRelativeResize="0"/>
          <p:nvPr/>
        </p:nvPicPr>
        <p:blipFill>
          <a:blip r:embed="rId2">
            <a:alphaModFix/>
          </a:blip>
          <a:stretch>
            <a:fillRect/>
          </a:stretch>
        </p:blipFill>
        <p:spPr>
          <a:xfrm>
            <a:off x="7841956" y="253980"/>
            <a:ext cx="1072323" cy="251850"/>
          </a:xfrm>
          <a:prstGeom prst="rect">
            <a:avLst/>
          </a:prstGeom>
          <a:noFill/>
          <a:ln>
            <a:noFill/>
          </a:ln>
        </p:spPr>
      </p:pic>
      <p:sp>
        <p:nvSpPr>
          <p:cNvPr id="69" name="Google Shape;69;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0" name="Google Shape;70;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1" name="Google Shape;71;p9"/>
          <p:cNvSpPr txBox="1">
            <a:spLocks noGrp="1"/>
          </p:cNvSpPr>
          <p:nvPr>
            <p:ph type="body" idx="2"/>
          </p:nvPr>
        </p:nvSpPr>
        <p:spPr>
          <a:xfrm>
            <a:off x="4843025" y="737163"/>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Font typeface="IBM Plex Sans"/>
              <a:buChar char="●"/>
              <a:defRPr b="1">
                <a:solidFill>
                  <a:schemeClr val="lt1"/>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9pPr>
          </a:lstStyle>
          <a:p>
            <a:endParaRPr/>
          </a:p>
        </p:txBody>
      </p:sp>
      <p:pic>
        <p:nvPicPr>
          <p:cNvPr id="72" name="Google Shape;72;p9"/>
          <p:cNvPicPr preferRelativeResize="0"/>
          <p:nvPr/>
        </p:nvPicPr>
        <p:blipFill rotWithShape="1">
          <a:blip r:embed="rId3">
            <a:alphaModFix/>
          </a:blip>
          <a:srcRect/>
          <a:stretch/>
        </p:blipFill>
        <p:spPr>
          <a:xfrm>
            <a:off x="0" y="0"/>
            <a:ext cx="9144003" cy="514796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1 1 1">
  <p:cSld name="TITLE_AND_BODY_1_1_1">
    <p:spTree>
      <p:nvGrpSpPr>
        <p:cNvPr id="1" name="Shape 73"/>
        <p:cNvGrpSpPr/>
        <p:nvPr/>
      </p:nvGrpSpPr>
      <p:grpSpPr>
        <a:xfrm>
          <a:off x="0" y="0"/>
          <a:ext cx="0" cy="0"/>
          <a:chOff x="0" y="0"/>
          <a:chExt cx="0" cy="0"/>
        </a:xfrm>
      </p:grpSpPr>
      <p:sp>
        <p:nvSpPr>
          <p:cNvPr id="74" name="Google Shape;74;p10"/>
          <p:cNvSpPr/>
          <p:nvPr/>
        </p:nvSpPr>
        <p:spPr>
          <a:xfrm>
            <a:off x="0" y="-4025"/>
            <a:ext cx="45114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75" name="Google Shape;7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6" name="Google Shape;76;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77" name="Google Shape;77;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78" name="Google Shape;78;p10"/>
          <p:cNvSpPr txBox="1">
            <a:spLocks noGrp="1"/>
          </p:cNvSpPr>
          <p:nvPr>
            <p:ph type="body" idx="2"/>
          </p:nvPr>
        </p:nvSpPr>
        <p:spPr>
          <a:xfrm>
            <a:off x="5181175" y="736975"/>
            <a:ext cx="36036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rgbClr val="0E1E30"/>
              </a:buClr>
              <a:buSzPts val="1800"/>
              <a:buFont typeface="IBM Plex Sans"/>
              <a:buChar char="●"/>
              <a:defRPr b="1">
                <a:solidFill>
                  <a:srgbClr val="0E1E30"/>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9pPr>
          </a:lstStyle>
          <a:p>
            <a:endParaRPr/>
          </a:p>
        </p:txBody>
      </p:sp>
      <p:pic>
        <p:nvPicPr>
          <p:cNvPr id="79" name="Google Shape;79;p10"/>
          <p:cNvPicPr preferRelativeResize="0"/>
          <p:nvPr/>
        </p:nvPicPr>
        <p:blipFill>
          <a:blip r:embed="rId2">
            <a:alphaModFix/>
          </a:blip>
          <a:stretch>
            <a:fillRect/>
          </a:stretch>
        </p:blipFill>
        <p:spPr>
          <a:xfrm>
            <a:off x="7842027" y="253979"/>
            <a:ext cx="1072251" cy="251834"/>
          </a:xfrm>
          <a:prstGeom prst="rect">
            <a:avLst/>
          </a:prstGeom>
          <a:noFill/>
          <a:ln>
            <a:noFill/>
          </a:ln>
        </p:spPr>
      </p:pic>
      <p:pic>
        <p:nvPicPr>
          <p:cNvPr id="80" name="Google Shape;80;p10"/>
          <p:cNvPicPr preferRelativeResize="0"/>
          <p:nvPr/>
        </p:nvPicPr>
        <p:blipFill rotWithShape="1">
          <a:blip r:embed="rId3">
            <a:alphaModFix/>
          </a:blip>
          <a:srcRect/>
          <a:stretch/>
        </p:blipFill>
        <p:spPr>
          <a:xfrm>
            <a:off x="0" y="0"/>
            <a:ext cx="9144003" cy="514796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column text 1 1">
  <p:cSld name="ONE_COLUMN_TEXT_1_1">
    <p:bg>
      <p:bgPr>
        <a:blipFill>
          <a:blip r:embed="rId2">
            <a:alphaModFix/>
          </a:blip>
          <a:stretch>
            <a:fillRect/>
          </a:stretch>
        </a:blipFill>
        <a:effectLst/>
      </p:bgPr>
    </p:bg>
    <p:spTree>
      <p:nvGrpSpPr>
        <p:cNvPr id="1" name="Shape 81"/>
        <p:cNvGrpSpPr/>
        <p:nvPr/>
      </p:nvGrpSpPr>
      <p:grpSpPr>
        <a:xfrm>
          <a:off x="0" y="0"/>
          <a:ext cx="0" cy="0"/>
          <a:chOff x="0" y="0"/>
          <a:chExt cx="0" cy="0"/>
        </a:xfrm>
      </p:grpSpPr>
      <p:pic>
        <p:nvPicPr>
          <p:cNvPr id="82" name="Google Shape;82;p11"/>
          <p:cNvPicPr preferRelativeResize="0"/>
          <p:nvPr/>
        </p:nvPicPr>
        <p:blipFill rotWithShape="1">
          <a:blip r:embed="rId3">
            <a:alphaModFix/>
          </a:blip>
          <a:srcRect b="42237"/>
          <a:stretch/>
        </p:blipFill>
        <p:spPr>
          <a:xfrm>
            <a:off x="265500" y="4534725"/>
            <a:ext cx="903000" cy="522101"/>
          </a:xfrm>
          <a:prstGeom prst="rect">
            <a:avLst/>
          </a:prstGeom>
          <a:noFill/>
          <a:ln>
            <a:noFill/>
          </a:ln>
        </p:spPr>
      </p:pic>
      <p:pic>
        <p:nvPicPr>
          <p:cNvPr id="83" name="Google Shape;83;p11"/>
          <p:cNvPicPr preferRelativeResize="0"/>
          <p:nvPr/>
        </p:nvPicPr>
        <p:blipFill rotWithShape="1">
          <a:blip r:embed="rId4">
            <a:alphaModFix/>
          </a:blip>
          <a:srcRect/>
          <a:stretch/>
        </p:blipFill>
        <p:spPr>
          <a:xfrm>
            <a:off x="0" y="0"/>
            <a:ext cx="9144003" cy="5147969"/>
          </a:xfrm>
          <a:prstGeom prst="rect">
            <a:avLst/>
          </a:prstGeom>
          <a:noFill/>
          <a:ln>
            <a:noFill/>
          </a:ln>
        </p:spPr>
      </p:pic>
      <p:sp>
        <p:nvSpPr>
          <p:cNvPr id="84" name="Google Shape;8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85" name="Google Shape;85;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86" name="Google Shape;86;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7" name="Google Shape;87;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dk1"/>
              </a:buClr>
              <a:buSzPts val="1800"/>
              <a:buFont typeface="IBM Plex Sans"/>
              <a:buChar char="●"/>
              <a:defRPr b="1">
                <a:solidFill>
                  <a:schemeClr val="dk1"/>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9pPr>
          </a:lstStyle>
          <a:p>
            <a:endParaRPr/>
          </a:p>
        </p:txBody>
      </p:sp>
      <p:pic>
        <p:nvPicPr>
          <p:cNvPr id="88" name="Google Shape;88;p11"/>
          <p:cNvPicPr preferRelativeResize="0"/>
          <p:nvPr/>
        </p:nvPicPr>
        <p:blipFill>
          <a:blip r:embed="rId5">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89"/>
        <p:cNvGrpSpPr/>
        <p:nvPr/>
      </p:nvGrpSpPr>
      <p:grpSpPr>
        <a:xfrm>
          <a:off x="0" y="0"/>
          <a:ext cx="0" cy="0"/>
          <a:chOff x="0" y="0"/>
          <a:chExt cx="0" cy="0"/>
        </a:xfrm>
      </p:grpSpPr>
      <p:sp>
        <p:nvSpPr>
          <p:cNvPr id="90" name="Google Shape;90;p12"/>
          <p:cNvSpPr/>
          <p:nvPr/>
        </p:nvSpPr>
        <p:spPr>
          <a:xfrm>
            <a:off x="-50" y="-4025"/>
            <a:ext cx="9144000" cy="1082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91" name="Google Shape;91;p12"/>
          <p:cNvSpPr txBox="1">
            <a:spLocks noGrp="1"/>
          </p:cNvSpPr>
          <p:nvPr>
            <p:ph type="title"/>
          </p:nvPr>
        </p:nvSpPr>
        <p:spPr>
          <a:xfrm>
            <a:off x="311700" y="253975"/>
            <a:ext cx="8520600" cy="949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12"/>
          <p:cNvSpPr txBox="1">
            <a:spLocks noGrp="1"/>
          </p:cNvSpPr>
          <p:nvPr>
            <p:ph type="body" idx="1"/>
          </p:nvPr>
        </p:nvSpPr>
        <p:spPr>
          <a:xfrm>
            <a:off x="311700" y="171662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3" name="Google Shape;93;p12"/>
          <p:cNvSpPr txBox="1">
            <a:spLocks noGrp="1"/>
          </p:cNvSpPr>
          <p:nvPr>
            <p:ph type="body" idx="2"/>
          </p:nvPr>
        </p:nvSpPr>
        <p:spPr>
          <a:xfrm>
            <a:off x="4832400" y="171662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4" name="Google Shape;9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95" name="Google Shape;95;p12"/>
          <p:cNvPicPr preferRelativeResize="0"/>
          <p:nvPr/>
        </p:nvPicPr>
        <p:blipFill>
          <a:blip r:embed="rId2">
            <a:alphaModFix/>
          </a:blip>
          <a:stretch>
            <a:fillRect/>
          </a:stretch>
        </p:blipFill>
        <p:spPr>
          <a:xfrm>
            <a:off x="7841956" y="253980"/>
            <a:ext cx="1072323" cy="251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CE24 1">
  <p:cSld name="BLANK_1">
    <p:bg>
      <p:bgPr>
        <a:blipFill>
          <a:blip r:embed="rId2">
            <a:alphaModFix/>
          </a:blip>
          <a:stretch>
            <a:fillRect/>
          </a:stretch>
        </a:blipFill>
        <a:effectLst/>
      </p:bgPr>
    </p:bg>
    <p:spTree>
      <p:nvGrpSpPr>
        <p:cNvPr id="1" name="Shape 96"/>
        <p:cNvGrpSpPr/>
        <p:nvPr/>
      </p:nvGrpSpPr>
      <p:grpSpPr>
        <a:xfrm>
          <a:off x="0" y="0"/>
          <a:ext cx="0" cy="0"/>
          <a:chOff x="0" y="0"/>
          <a:chExt cx="0" cy="0"/>
        </a:xfrm>
      </p:grpSpPr>
      <p:pic>
        <p:nvPicPr>
          <p:cNvPr id="97" name="Google Shape;97;p13"/>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98" name="Google Shape;9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99" name="Google Shape;99;p13"/>
          <p:cNvPicPr preferRelativeResize="0"/>
          <p:nvPr/>
        </p:nvPicPr>
        <p:blipFill rotWithShape="1">
          <a:blip r:embed="rId4">
            <a:alphaModFix/>
          </a:blip>
          <a:srcRect b="49262"/>
          <a:stretch/>
        </p:blipFill>
        <p:spPr>
          <a:xfrm>
            <a:off x="315663" y="3965625"/>
            <a:ext cx="2150699" cy="1091201"/>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5769950" y="4243909"/>
            <a:ext cx="1229076" cy="749716"/>
          </a:xfrm>
          <a:prstGeom prst="rect">
            <a:avLst/>
          </a:prstGeom>
          <a:noFill/>
          <a:ln>
            <a:noFill/>
          </a:ln>
        </p:spPr>
      </p:pic>
      <p:sp>
        <p:nvSpPr>
          <p:cNvPr id="101" name="Google Shape;101;p13"/>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02" name="Google Shape;102;p13"/>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03" name="Google Shape;103;p13"/>
          <p:cNvPicPr preferRelativeResize="0"/>
          <p:nvPr/>
        </p:nvPicPr>
        <p:blipFill>
          <a:blip r:embed="rId6">
            <a:alphaModFix/>
          </a:blip>
          <a:stretch>
            <a:fillRect/>
          </a:stretch>
        </p:blipFill>
        <p:spPr>
          <a:xfrm>
            <a:off x="7335925" y="303525"/>
            <a:ext cx="853149" cy="533825"/>
          </a:xfrm>
          <a:prstGeom prst="rect">
            <a:avLst/>
          </a:prstGeom>
          <a:noFill/>
          <a:ln>
            <a:noFill/>
          </a:ln>
        </p:spPr>
      </p:pic>
      <p:pic>
        <p:nvPicPr>
          <p:cNvPr id="104" name="Google Shape;104;p13"/>
          <p:cNvPicPr preferRelativeResize="0"/>
          <p:nvPr/>
        </p:nvPicPr>
        <p:blipFill>
          <a:blip r:embed="rId7">
            <a:alphaModFix/>
          </a:blip>
          <a:stretch>
            <a:fillRect/>
          </a:stretch>
        </p:blipFill>
        <p:spPr>
          <a:xfrm>
            <a:off x="8189064" y="837354"/>
            <a:ext cx="718500" cy="451660"/>
          </a:xfrm>
          <a:prstGeom prst="rect">
            <a:avLst/>
          </a:prstGeom>
          <a:noFill/>
          <a:ln>
            <a:noFill/>
          </a:ln>
        </p:spPr>
      </p:pic>
      <p:sp>
        <p:nvSpPr>
          <p:cNvPr id="105" name="Google Shape;105;p13"/>
          <p:cNvSpPr txBox="1">
            <a:spLocks noGrp="1"/>
          </p:cNvSpPr>
          <p:nvPr>
            <p:ph type="title"/>
          </p:nvPr>
        </p:nvSpPr>
        <p:spPr>
          <a:xfrm>
            <a:off x="581975" y="1452975"/>
            <a:ext cx="7980000" cy="1482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CE24 1 1">
  <p:cSld name="BLANK_1_1">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08" name="Google Shape;108;p14"/>
          <p:cNvPicPr preferRelativeResize="0"/>
          <p:nvPr/>
        </p:nvPicPr>
        <p:blipFill rotWithShape="1">
          <a:blip r:embed="rId3">
            <a:alphaModFix/>
          </a:blip>
          <a:srcRect t="45590"/>
          <a:stretch/>
        </p:blipFill>
        <p:spPr>
          <a:xfrm>
            <a:off x="776475" y="0"/>
            <a:ext cx="1229075" cy="589849"/>
          </a:xfrm>
          <a:prstGeom prst="rect">
            <a:avLst/>
          </a:prstGeom>
          <a:noFill/>
          <a:ln>
            <a:noFill/>
          </a:ln>
        </p:spPr>
      </p:pic>
      <p:pic>
        <p:nvPicPr>
          <p:cNvPr id="109" name="Google Shape;109;p14"/>
          <p:cNvPicPr preferRelativeResize="0"/>
          <p:nvPr/>
        </p:nvPicPr>
        <p:blipFill rotWithShape="1">
          <a:blip r:embed="rId4">
            <a:alphaModFix/>
          </a:blip>
          <a:srcRect/>
          <a:stretch/>
        </p:blipFill>
        <p:spPr>
          <a:xfrm>
            <a:off x="7898650" y="836750"/>
            <a:ext cx="758350" cy="648575"/>
          </a:xfrm>
          <a:prstGeom prst="rect">
            <a:avLst/>
          </a:prstGeom>
          <a:noFill/>
          <a:ln>
            <a:noFill/>
          </a:ln>
        </p:spPr>
      </p:pic>
      <p:pic>
        <p:nvPicPr>
          <p:cNvPr id="110" name="Google Shape;110;p14"/>
          <p:cNvPicPr preferRelativeResize="0"/>
          <p:nvPr/>
        </p:nvPicPr>
        <p:blipFill rotWithShape="1">
          <a:blip r:embed="rId5">
            <a:alphaModFix/>
          </a:blip>
          <a:srcRect/>
          <a:stretch/>
        </p:blipFill>
        <p:spPr>
          <a:xfrm>
            <a:off x="657874" y="295350"/>
            <a:ext cx="604600" cy="697100"/>
          </a:xfrm>
          <a:prstGeom prst="rect">
            <a:avLst/>
          </a:prstGeom>
          <a:noFill/>
          <a:ln>
            <a:noFill/>
          </a:ln>
        </p:spPr>
      </p:pic>
      <p:pic>
        <p:nvPicPr>
          <p:cNvPr id="111" name="Google Shape;111;p14"/>
          <p:cNvPicPr preferRelativeResize="0"/>
          <p:nvPr/>
        </p:nvPicPr>
        <p:blipFill rotWithShape="1">
          <a:blip r:embed="rId6">
            <a:alphaModFix/>
          </a:blip>
          <a:srcRect/>
          <a:stretch/>
        </p:blipFill>
        <p:spPr>
          <a:xfrm>
            <a:off x="5769950" y="4243909"/>
            <a:ext cx="1229076" cy="749716"/>
          </a:xfrm>
          <a:prstGeom prst="rect">
            <a:avLst/>
          </a:prstGeom>
          <a:noFill/>
          <a:ln>
            <a:noFill/>
          </a:ln>
        </p:spPr>
      </p:pic>
      <p:pic>
        <p:nvPicPr>
          <p:cNvPr id="112" name="Google Shape;112;p14"/>
          <p:cNvPicPr preferRelativeResize="0"/>
          <p:nvPr/>
        </p:nvPicPr>
        <p:blipFill rotWithShape="1">
          <a:blip r:embed="rId7">
            <a:alphaModFix/>
          </a:blip>
          <a:srcRect/>
          <a:stretch/>
        </p:blipFill>
        <p:spPr>
          <a:xfrm>
            <a:off x="6902325" y="4051040"/>
            <a:ext cx="758350" cy="283435"/>
          </a:xfrm>
          <a:prstGeom prst="rect">
            <a:avLst/>
          </a:prstGeom>
          <a:noFill/>
          <a:ln>
            <a:noFill/>
          </a:ln>
        </p:spPr>
      </p:pic>
      <p:sp>
        <p:nvSpPr>
          <p:cNvPr id="113" name="Google Shape;113;p14"/>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14" name="Google Shape;114;p14"/>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15" name="Google Shape;115;p14"/>
          <p:cNvPicPr preferRelativeResize="0"/>
          <p:nvPr/>
        </p:nvPicPr>
        <p:blipFill rotWithShape="1">
          <a:blip r:embed="rId8">
            <a:alphaModFix/>
          </a:blip>
          <a:srcRect/>
          <a:stretch/>
        </p:blipFill>
        <p:spPr>
          <a:xfrm>
            <a:off x="0" y="0"/>
            <a:ext cx="9144003" cy="514796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CE24">
  <p:cSld name="BLANK_2">
    <p:bg>
      <p:bgPr>
        <a:blipFill>
          <a:blip r:embed="rId2">
            <a:alphaModFix/>
          </a:blip>
          <a:stretch>
            <a:fillRect/>
          </a:stretch>
        </a:blipFill>
        <a:effectLst/>
      </p:bgPr>
    </p:bg>
    <p:spTree>
      <p:nvGrpSpPr>
        <p:cNvPr id="1" name="Shape 116"/>
        <p:cNvGrpSpPr/>
        <p:nvPr/>
      </p:nvGrpSpPr>
      <p:grpSpPr>
        <a:xfrm>
          <a:off x="0" y="0"/>
          <a:ext cx="0" cy="0"/>
          <a:chOff x="0" y="0"/>
          <a:chExt cx="0" cy="0"/>
        </a:xfrm>
      </p:grpSpPr>
      <p:pic>
        <p:nvPicPr>
          <p:cNvPr id="117" name="Google Shape;117;p15"/>
          <p:cNvPicPr preferRelativeResize="0"/>
          <p:nvPr/>
        </p:nvPicPr>
        <p:blipFill rotWithShape="1">
          <a:blip r:embed="rId3">
            <a:alphaModFix/>
          </a:blip>
          <a:srcRect b="49262"/>
          <a:stretch/>
        </p:blipFill>
        <p:spPr>
          <a:xfrm>
            <a:off x="315663" y="4052300"/>
            <a:ext cx="2150699" cy="1091201"/>
          </a:xfrm>
          <a:prstGeom prst="rect">
            <a:avLst/>
          </a:prstGeom>
          <a:noFill/>
          <a:ln>
            <a:noFill/>
          </a:ln>
        </p:spPr>
      </p:pic>
      <p:sp>
        <p:nvSpPr>
          <p:cNvPr id="118" name="Google Shape;11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19" name="Google Shape;119;p15"/>
          <p:cNvPicPr preferRelativeResize="0"/>
          <p:nvPr/>
        </p:nvPicPr>
        <p:blipFill rotWithShape="1">
          <a:blip r:embed="rId4">
            <a:alphaModFix/>
          </a:blip>
          <a:srcRect/>
          <a:stretch/>
        </p:blipFill>
        <p:spPr>
          <a:xfrm>
            <a:off x="7357325" y="3913509"/>
            <a:ext cx="1229076" cy="749716"/>
          </a:xfrm>
          <a:prstGeom prst="rect">
            <a:avLst/>
          </a:prstGeom>
          <a:noFill/>
          <a:ln>
            <a:noFill/>
          </a:ln>
        </p:spPr>
      </p:pic>
      <p:sp>
        <p:nvSpPr>
          <p:cNvPr id="120" name="Google Shape;120;p15"/>
          <p:cNvSpPr/>
          <p:nvPr/>
        </p:nvSpPr>
        <p:spPr>
          <a:xfrm>
            <a:off x="3659466" y="2678753"/>
            <a:ext cx="2055000" cy="5580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121" name="Google Shape;121;p15"/>
          <p:cNvSpPr/>
          <p:nvPr/>
        </p:nvSpPr>
        <p:spPr>
          <a:xfrm>
            <a:off x="3544500" y="2563787"/>
            <a:ext cx="2055000" cy="558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122" name="Google Shape;122;p15"/>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23" name="Google Shape;123;p15"/>
          <p:cNvSpPr txBox="1"/>
          <p:nvPr/>
        </p:nvSpPr>
        <p:spPr>
          <a:xfrm>
            <a:off x="3629850" y="2507225"/>
            <a:ext cx="1884300" cy="631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GB" sz="2900" b="1" i="0" u="none" strike="noStrike" cap="none">
                <a:solidFill>
                  <a:schemeClr val="dk2"/>
                </a:solidFill>
                <a:latin typeface="IBM Plex Sans"/>
                <a:ea typeface="IBM Plex Sans"/>
                <a:cs typeface="IBM Plex Sans"/>
                <a:sym typeface="IBM Plex Sans"/>
              </a:rPr>
              <a:t>Thanks!</a:t>
            </a:r>
            <a:endParaRPr sz="2900" b="1" i="0" u="none" strike="noStrike" cap="none">
              <a:solidFill>
                <a:schemeClr val="dk2"/>
              </a:solidFill>
              <a:latin typeface="IBM Plex Sans"/>
              <a:ea typeface="IBM Plex Sans"/>
              <a:cs typeface="IBM Plex Sans"/>
              <a:sym typeface="IBM Plex Sans"/>
            </a:endParaRPr>
          </a:p>
        </p:txBody>
      </p:sp>
      <p:sp>
        <p:nvSpPr>
          <p:cNvPr id="124" name="Google Shape;124;p15"/>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25" name="Google Shape;125;p15"/>
          <p:cNvPicPr preferRelativeResize="0"/>
          <p:nvPr/>
        </p:nvPicPr>
        <p:blipFill>
          <a:blip r:embed="rId5">
            <a:alphaModFix/>
          </a:blip>
          <a:stretch>
            <a:fillRect/>
          </a:stretch>
        </p:blipFill>
        <p:spPr>
          <a:xfrm>
            <a:off x="1455163" y="1738022"/>
            <a:ext cx="6463626" cy="631200"/>
          </a:xfrm>
          <a:prstGeom prst="rect">
            <a:avLst/>
          </a:prstGeom>
          <a:noFill/>
          <a:ln>
            <a:noFill/>
          </a:ln>
        </p:spPr>
      </p:pic>
      <p:pic>
        <p:nvPicPr>
          <p:cNvPr id="126" name="Google Shape;126;p15"/>
          <p:cNvPicPr preferRelativeResize="0"/>
          <p:nvPr/>
        </p:nvPicPr>
        <p:blipFill rotWithShape="1">
          <a:blip r:embed="rId6">
            <a:alphaModFix/>
          </a:blip>
          <a:srcRect/>
          <a:stretch/>
        </p:blipFill>
        <p:spPr>
          <a:xfrm>
            <a:off x="0" y="0"/>
            <a:ext cx="9144003" cy="5147969"/>
          </a:xfrm>
          <a:prstGeom prst="rect">
            <a:avLst/>
          </a:prstGeom>
          <a:noFill/>
          <a:ln>
            <a:noFill/>
          </a:ln>
        </p:spPr>
      </p:pic>
      <p:pic>
        <p:nvPicPr>
          <p:cNvPr id="127" name="Google Shape;127;p15"/>
          <p:cNvPicPr preferRelativeResize="0"/>
          <p:nvPr/>
        </p:nvPicPr>
        <p:blipFill>
          <a:blip r:embed="rId7">
            <a:alphaModFix/>
          </a:blip>
          <a:stretch>
            <a:fillRect/>
          </a:stretch>
        </p:blipFill>
        <p:spPr>
          <a:xfrm>
            <a:off x="957035" y="262700"/>
            <a:ext cx="544963" cy="550113"/>
          </a:xfrm>
          <a:prstGeom prst="rect">
            <a:avLst/>
          </a:prstGeom>
          <a:noFill/>
          <a:ln>
            <a:noFill/>
          </a:ln>
        </p:spPr>
      </p:pic>
      <p:pic>
        <p:nvPicPr>
          <p:cNvPr id="128" name="Google Shape;128;p15"/>
          <p:cNvPicPr preferRelativeResize="0"/>
          <p:nvPr/>
        </p:nvPicPr>
        <p:blipFill>
          <a:blip r:embed="rId8">
            <a:alphaModFix/>
          </a:blip>
          <a:stretch>
            <a:fillRect/>
          </a:stretch>
        </p:blipFill>
        <p:spPr>
          <a:xfrm>
            <a:off x="224850" y="954656"/>
            <a:ext cx="544962" cy="51611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1">
  <p:cSld name="TITLE_1">
    <p:bg>
      <p:bgPr>
        <a:blipFill>
          <a:blip r:embed="rId2">
            <a:alphaModFix/>
          </a:blip>
          <a:stretch>
            <a:fillRect/>
          </a:stretch>
        </a:blipFill>
        <a:effectLst/>
      </p:bgPr>
    </p:bg>
    <p:spTree>
      <p:nvGrpSpPr>
        <p:cNvPr id="1" name="Shape 143"/>
        <p:cNvGrpSpPr/>
        <p:nvPr/>
      </p:nvGrpSpPr>
      <p:grpSpPr>
        <a:xfrm>
          <a:off x="0" y="0"/>
          <a:ext cx="0" cy="0"/>
          <a:chOff x="0" y="0"/>
          <a:chExt cx="0" cy="0"/>
        </a:xfrm>
      </p:grpSpPr>
      <p:sp>
        <p:nvSpPr>
          <p:cNvPr id="144" name="Google Shape;144;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5" name="Google Shape;145;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6" name="Google Shape;14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47" name="Google Shape;147;p17"/>
          <p:cNvPicPr preferRelativeResize="0"/>
          <p:nvPr/>
        </p:nvPicPr>
        <p:blipFill>
          <a:blip r:embed="rId3">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5E5B-21F7-9B43-8FC8-0E89B7B3CF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426C865-7C4A-AE48-9953-CCDDC78F87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4E0855-DDE9-094C-9337-17867B3A3194}"/>
              </a:ext>
            </a:extLst>
          </p:cNvPr>
          <p:cNvSpPr>
            <a:spLocks noGrp="1"/>
          </p:cNvSpPr>
          <p:nvPr>
            <p:ph type="dt" sz="half" idx="10"/>
          </p:nvPr>
        </p:nvSpPr>
        <p:spPr/>
        <p:txBody>
          <a:bodyPr/>
          <a:lstStyle/>
          <a:p>
            <a:fld id="{F7617E6C-B4C1-F64F-9F0E-38D55D0C6E24}" type="datetimeFigureOut">
              <a:rPr lang="en-GB" smtClean="0"/>
              <a:t>20/04/2026</a:t>
            </a:fld>
            <a:endParaRPr lang="en-GB"/>
          </a:p>
        </p:txBody>
      </p:sp>
      <p:sp>
        <p:nvSpPr>
          <p:cNvPr id="5" name="Footer Placeholder 4">
            <a:extLst>
              <a:ext uri="{FF2B5EF4-FFF2-40B4-BE49-F238E27FC236}">
                <a16:creationId xmlns:a16="http://schemas.microsoft.com/office/drawing/2014/main" id="{67ACA8FB-F48D-3348-86CE-F61D62DCDB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9C4A5A2-3AA9-1449-8EED-169A55247E8B}"/>
              </a:ext>
            </a:extLst>
          </p:cNvPr>
          <p:cNvSpPr>
            <a:spLocks noGrp="1"/>
          </p:cNvSpPr>
          <p:nvPr>
            <p:ph type="sldNum" sz="quarter" idx="12"/>
          </p:nvPr>
        </p:nvSpPr>
        <p:spPr/>
        <p:txBody>
          <a:bodyPr/>
          <a:lstStyle/>
          <a:p>
            <a:fld id="{C53A41D0-2003-5440-9C4D-D6DBC081D415}" type="slidenum">
              <a:rPr lang="en-GB" smtClean="0"/>
              <a:t>‹#›</a:t>
            </a:fld>
            <a:endParaRPr lang="en-GB"/>
          </a:p>
        </p:txBody>
      </p:sp>
    </p:spTree>
    <p:extLst>
      <p:ext uri="{BB962C8B-B14F-4D97-AF65-F5344CB8AC3E}">
        <p14:creationId xmlns:p14="http://schemas.microsoft.com/office/powerpoint/2010/main" val="683045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3AF31-EF08-444B-8887-BCFBF668AFB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F240A8BC-2E00-0747-A42C-83D36570DF4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830330E-3D23-C44A-BF56-E651AA9EDBFF}"/>
              </a:ext>
            </a:extLst>
          </p:cNvPr>
          <p:cNvSpPr>
            <a:spLocks noGrp="1"/>
          </p:cNvSpPr>
          <p:nvPr>
            <p:ph type="dt" sz="half" idx="10"/>
          </p:nvPr>
        </p:nvSpPr>
        <p:spPr/>
        <p:txBody>
          <a:bodyPr/>
          <a:lstStyle/>
          <a:p>
            <a:fld id="{F7617E6C-B4C1-F64F-9F0E-38D55D0C6E24}" type="datetimeFigureOut">
              <a:rPr lang="en-GB" smtClean="0"/>
              <a:t>20/04/2026</a:t>
            </a:fld>
            <a:endParaRPr lang="en-GB"/>
          </a:p>
        </p:txBody>
      </p:sp>
      <p:sp>
        <p:nvSpPr>
          <p:cNvPr id="5" name="Footer Placeholder 4">
            <a:extLst>
              <a:ext uri="{FF2B5EF4-FFF2-40B4-BE49-F238E27FC236}">
                <a16:creationId xmlns:a16="http://schemas.microsoft.com/office/drawing/2014/main" id="{1DC5F726-A9E3-3A4B-817D-C0CCA91B7A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988299-2EC2-9F49-BA57-065C788216BC}"/>
              </a:ext>
            </a:extLst>
          </p:cNvPr>
          <p:cNvSpPr>
            <a:spLocks noGrp="1"/>
          </p:cNvSpPr>
          <p:nvPr>
            <p:ph type="sldNum" sz="quarter" idx="12"/>
          </p:nvPr>
        </p:nvSpPr>
        <p:spPr/>
        <p:txBody>
          <a:bodyPr/>
          <a:lstStyle/>
          <a:p>
            <a:fld id="{C53A41D0-2003-5440-9C4D-D6DBC081D415}" type="slidenum">
              <a:rPr lang="en-GB" smtClean="0"/>
              <a:t>‹#›</a:t>
            </a:fld>
            <a:endParaRPr lang="en-GB"/>
          </a:p>
        </p:txBody>
      </p:sp>
    </p:spTree>
    <p:extLst>
      <p:ext uri="{BB962C8B-B14F-4D97-AF65-F5344CB8AC3E}">
        <p14:creationId xmlns:p14="http://schemas.microsoft.com/office/powerpoint/2010/main" val="3345874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5"/>
        <p:cNvGrpSpPr/>
        <p:nvPr/>
      </p:nvGrpSpPr>
      <p:grpSpPr>
        <a:xfrm>
          <a:off x="0" y="0"/>
          <a:ext cx="0" cy="0"/>
          <a:chOff x="0" y="0"/>
          <a:chExt cx="0" cy="0"/>
        </a:xfrm>
      </p:grpSpPr>
      <p:sp>
        <p:nvSpPr>
          <p:cNvPr id="16" name="Google Shape;16;p4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18" name="Google Shape;18;p4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3965115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1"/>
        <p:cNvGrpSpPr/>
        <p:nvPr/>
      </p:nvGrpSpPr>
      <p:grpSpPr>
        <a:xfrm>
          <a:off x="0" y="0"/>
          <a:ext cx="0" cy="0"/>
          <a:chOff x="0" y="0"/>
          <a:chExt cx="0" cy="0"/>
        </a:xfrm>
      </p:grpSpPr>
      <p:sp>
        <p:nvSpPr>
          <p:cNvPr id="22" name="Google Shape;22;p4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4" name="Google Shape;24;p4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349597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Encabezado de sección" type="secHead">
  <p:cSld name="Encabezado de sección">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0" name="Google Shape;30;p4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404186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6" name="Google Shape;36;p47"/>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7" name="Google Shape;37;p4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5277225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3" name="Google Shape;43;p4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4" name="Google Shape;44;p4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5" name="Google Shape;45;p4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6" name="Google Shape;46;p4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798134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olo el título" type="titleOnly">
  <p:cSld name="Solo el título">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5802207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54"/>
        <p:cNvGrpSpPr/>
        <p:nvPr/>
      </p:nvGrpSpPr>
      <p:grpSpPr>
        <a:xfrm>
          <a:off x="0" y="0"/>
          <a:ext cx="0" cy="0"/>
          <a:chOff x="0" y="0"/>
          <a:chExt cx="0" cy="0"/>
        </a:xfrm>
      </p:grpSpPr>
      <p:sp>
        <p:nvSpPr>
          <p:cNvPr id="55" name="Google Shape;55;p5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2454182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5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5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74163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2"/>
          <p:cNvSpPr>
            <a:spLocks noGrp="1"/>
          </p:cNvSpPr>
          <p:nvPr>
            <p:ph type="pic" idx="2"/>
          </p:nvPr>
        </p:nvSpPr>
        <p:spPr>
          <a:xfrm>
            <a:off x="3887391" y="740569"/>
            <a:ext cx="4629150" cy="3655219"/>
          </a:xfrm>
          <a:prstGeom prst="rect">
            <a:avLst/>
          </a:prstGeom>
          <a:noFill/>
          <a:ln>
            <a:noFill/>
          </a:ln>
        </p:spPr>
      </p:sp>
      <p:sp>
        <p:nvSpPr>
          <p:cNvPr id="68" name="Google Shape;68;p5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5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40128012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23619304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44935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74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1pPr>
            <a:lvl2pPr marR="0" lvl="1"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2pPr>
            <a:lvl3pPr marR="0" lvl="2"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3pPr>
            <a:lvl4pPr marR="0" lvl="3"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4pPr>
            <a:lvl5pPr marR="0" lvl="4"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5pPr>
            <a:lvl6pPr marR="0" lvl="5"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6pPr>
            <a:lvl7pPr marR="0" lvl="6"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7pPr>
            <a:lvl8pPr marR="0" lvl="7"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8pPr>
            <a:lvl9pPr marR="0" lvl="8"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9pPr>
          </a:lstStyle>
          <a:p>
            <a:endParaRPr/>
          </a:p>
        </p:txBody>
      </p:sp>
      <p:sp>
        <p:nvSpPr>
          <p:cNvPr id="7" name="Google Shape;7;p1"/>
          <p:cNvSpPr txBox="1">
            <a:spLocks noGrp="1"/>
          </p:cNvSpPr>
          <p:nvPr>
            <p:ph type="body" idx="1"/>
          </p:nvPr>
        </p:nvSpPr>
        <p:spPr>
          <a:xfrm>
            <a:off x="311700" y="1717200"/>
            <a:ext cx="8520600" cy="2677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IBM Plex Sans SemiBold"/>
              <a:buChar char="●"/>
              <a:defRPr sz="1800" b="0" i="0" u="none" strike="noStrike" cap="none">
                <a:solidFill>
                  <a:schemeClr val="dk2"/>
                </a:solidFill>
                <a:latin typeface="IBM Plex Sans SemiBold"/>
                <a:ea typeface="IBM Plex Sans SemiBold"/>
                <a:cs typeface="IBM Plex Sans SemiBold"/>
                <a:sym typeface="IBM Plex Sans SemiBold"/>
              </a:defRPr>
            </a:lvl1pPr>
            <a:lvl2pPr marL="914400" marR="0" lvl="1"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2pPr>
            <a:lvl3pPr marL="1371600" marR="0" lvl="2"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3pPr>
            <a:lvl4pPr marL="1828800" marR="0" lvl="3"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4pPr>
            <a:lvl5pPr marL="2286000" marR="0" lvl="4"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5pPr>
            <a:lvl6pPr marL="2743200" marR="0" lvl="5"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6pPr>
            <a:lvl7pPr marL="3200400" marR="0" lvl="6"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7pPr>
            <a:lvl8pPr marL="3657600" marR="0" lvl="7"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8pPr>
            <a:lvl9pPr marL="4114800" marR="0" lvl="8"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3" r:id="rId15"/>
    <p:sldLayoutId id="2147483677" r:id="rId16"/>
    <p:sldLayoutId id="2147483678"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3921457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1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6" name="Google Shape;88;p1" descr="What is dark matter and why does it matter? | DUG Technology">
            <a:extLst>
              <a:ext uri="{FF2B5EF4-FFF2-40B4-BE49-F238E27FC236}">
                <a16:creationId xmlns:a16="http://schemas.microsoft.com/office/drawing/2014/main" id="{28422F86-7A2E-442D-96A4-FE760CDACC2A}"/>
              </a:ext>
            </a:extLst>
          </p:cNvPr>
          <p:cNvPicPr preferRelativeResize="0"/>
          <p:nvPr/>
        </p:nvPicPr>
        <p:blipFill rotWithShape="1">
          <a:blip r:embed="rId3">
            <a:alphaModFix/>
          </a:blip>
          <a:srcRect/>
          <a:stretch/>
        </p:blipFill>
        <p:spPr>
          <a:xfrm>
            <a:off x="365760" y="274320"/>
            <a:ext cx="7373389" cy="394854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Google Shape;89;p1">
            <a:extLst>
              <a:ext uri="{FF2B5EF4-FFF2-40B4-BE49-F238E27FC236}">
                <a16:creationId xmlns:a16="http://schemas.microsoft.com/office/drawing/2014/main" id="{F5B3969F-C154-40A9-8D58-4DADEAA0AADB}"/>
              </a:ext>
            </a:extLst>
          </p:cNvPr>
          <p:cNvSpPr txBox="1"/>
          <p:nvPr/>
        </p:nvSpPr>
        <p:spPr>
          <a:xfrm>
            <a:off x="1375756" y="2984066"/>
            <a:ext cx="5349240" cy="692467"/>
          </a:xfrm>
          <a:prstGeom prst="rect">
            <a:avLst/>
          </a:prstGeom>
          <a:noFill/>
          <a:ln>
            <a:noFill/>
          </a:ln>
        </p:spPr>
        <p:txBody>
          <a:bodyPr spcFirstLastPara="1" wrap="square" lIns="68569" tIns="34275" rIns="68569" bIns="34275" anchor="t" anchorCtr="0">
            <a:spAutoFit/>
          </a:bodyPr>
          <a:lstStyle/>
          <a:p>
            <a:pPr defTabSz="685800">
              <a:buClr>
                <a:srgbClr val="FFFFFF"/>
              </a:buClr>
              <a:buSzPts val="5400"/>
            </a:pPr>
            <a:r>
              <a:rPr lang="es-ES" sz="4050" dirty="0">
                <a:solidFill>
                  <a:srgbClr val="FFFFFF"/>
                </a:solidFill>
                <a:latin typeface="Calibri"/>
                <a:ea typeface="Calibri"/>
                <a:cs typeface="Calibri"/>
                <a:sym typeface="Calibri"/>
              </a:rPr>
              <a:t>Universe dark matter</a:t>
            </a:r>
            <a:endParaRPr sz="1050" dirty="0"/>
          </a:p>
        </p:txBody>
      </p:sp>
      <p:pic>
        <p:nvPicPr>
          <p:cNvPr id="8" name="Google Shape;90;p1">
            <a:extLst>
              <a:ext uri="{FF2B5EF4-FFF2-40B4-BE49-F238E27FC236}">
                <a16:creationId xmlns:a16="http://schemas.microsoft.com/office/drawing/2014/main" id="{90E486BF-DDB9-4C3F-85B2-32EDE06CB350}"/>
              </a:ext>
            </a:extLst>
          </p:cNvPr>
          <p:cNvPicPr preferRelativeResize="0"/>
          <p:nvPr/>
        </p:nvPicPr>
        <p:blipFill>
          <a:blip r:embed="rId4">
            <a:alphaModFix/>
          </a:blip>
          <a:stretch>
            <a:fillRect/>
          </a:stretch>
        </p:blipFill>
        <p:spPr>
          <a:xfrm>
            <a:off x="858537" y="2345169"/>
            <a:ext cx="2332987" cy="1277793"/>
          </a:xfrm>
          <a:prstGeom prst="rect">
            <a:avLst/>
          </a:prstGeom>
          <a:noFill/>
          <a:ln>
            <a:noFill/>
          </a:ln>
        </p:spPr>
      </p:pic>
      <p:pic>
        <p:nvPicPr>
          <p:cNvPr id="9" name="Google Shape;91;p1">
            <a:extLst>
              <a:ext uri="{FF2B5EF4-FFF2-40B4-BE49-F238E27FC236}">
                <a16:creationId xmlns:a16="http://schemas.microsoft.com/office/drawing/2014/main" id="{64B515DA-9328-4A68-BB77-980B18340413}"/>
              </a:ext>
            </a:extLst>
          </p:cNvPr>
          <p:cNvPicPr preferRelativeResize="0"/>
          <p:nvPr/>
        </p:nvPicPr>
        <p:blipFill rotWithShape="1">
          <a:blip r:embed="rId5">
            <a:alphaModFix/>
          </a:blip>
          <a:srcRect r="33680" b="59451"/>
          <a:stretch/>
        </p:blipFill>
        <p:spPr>
          <a:xfrm>
            <a:off x="4273304" y="3213793"/>
            <a:ext cx="2227249" cy="409170"/>
          </a:xfrm>
          <a:prstGeom prst="rect">
            <a:avLst/>
          </a:prstGeom>
          <a:noFill/>
          <a:ln>
            <a:noFill/>
          </a:ln>
        </p:spPr>
      </p:pic>
      <p:pic>
        <p:nvPicPr>
          <p:cNvPr id="11" name="Imagen 10">
            <a:extLst>
              <a:ext uri="{FF2B5EF4-FFF2-40B4-BE49-F238E27FC236}">
                <a16:creationId xmlns:a16="http://schemas.microsoft.com/office/drawing/2014/main" id="{E9618163-148B-48D1-96CF-96F8D9871487}"/>
              </a:ext>
            </a:extLst>
          </p:cNvPr>
          <p:cNvPicPr>
            <a:picLocks noChangeAspect="1"/>
          </p:cNvPicPr>
          <p:nvPr/>
        </p:nvPicPr>
        <p:blipFill>
          <a:blip r:embed="rId6"/>
          <a:stretch>
            <a:fillRect/>
          </a:stretch>
        </p:blipFill>
        <p:spPr>
          <a:xfrm>
            <a:off x="3383279" y="1404850"/>
            <a:ext cx="4351713" cy="2901142"/>
          </a:xfrm>
          <a:prstGeom prst="rect">
            <a:avLst/>
          </a:prstGeom>
        </p:spPr>
      </p:pic>
      <p:pic>
        <p:nvPicPr>
          <p:cNvPr id="14" name="Imagen 13">
            <a:extLst>
              <a:ext uri="{FF2B5EF4-FFF2-40B4-BE49-F238E27FC236}">
                <a16:creationId xmlns:a16="http://schemas.microsoft.com/office/drawing/2014/main" id="{F22D14CD-6021-4E32-8D10-6ED4A794EE3F}"/>
              </a:ext>
            </a:extLst>
          </p:cNvPr>
          <p:cNvPicPr>
            <a:picLocks noChangeAspect="1"/>
          </p:cNvPicPr>
          <p:nvPr/>
        </p:nvPicPr>
        <p:blipFill>
          <a:blip r:embed="rId7"/>
          <a:stretch>
            <a:fillRect/>
          </a:stretch>
        </p:blipFill>
        <p:spPr>
          <a:xfrm>
            <a:off x="3515764" y="2345169"/>
            <a:ext cx="5021407" cy="33476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4" name="Imagen 3">
            <a:extLst>
              <a:ext uri="{FF2B5EF4-FFF2-40B4-BE49-F238E27FC236}">
                <a16:creationId xmlns:a16="http://schemas.microsoft.com/office/drawing/2014/main" id="{C572E847-7A73-45D4-9A9E-4BE2C83EFA45}"/>
              </a:ext>
            </a:extLst>
          </p:cNvPr>
          <p:cNvPicPr>
            <a:picLocks noChangeAspect="1"/>
          </p:cNvPicPr>
          <p:nvPr/>
        </p:nvPicPr>
        <p:blipFill>
          <a:blip r:embed="rId3"/>
          <a:stretch>
            <a:fillRect/>
          </a:stretch>
        </p:blipFill>
        <p:spPr>
          <a:xfrm>
            <a:off x="109104" y="122093"/>
            <a:ext cx="4899314" cy="4899314"/>
          </a:xfrm>
          <a:prstGeom prst="rect">
            <a:avLst/>
          </a:prstGeom>
        </p:spPr>
      </p:pic>
    </p:spTree>
    <p:extLst>
      <p:ext uri="{BB962C8B-B14F-4D97-AF65-F5344CB8AC3E}">
        <p14:creationId xmlns:p14="http://schemas.microsoft.com/office/powerpoint/2010/main" val="221237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Threads en Linux</a:t>
            </a:r>
            <a:endParaRPr dirty="0"/>
          </a:p>
        </p:txBody>
      </p:sp>
      <p:sp>
        <p:nvSpPr>
          <p:cNvPr id="3" name="Subtítulo 2">
            <a:extLst>
              <a:ext uri="{FF2B5EF4-FFF2-40B4-BE49-F238E27FC236}">
                <a16:creationId xmlns:a16="http://schemas.microsoft.com/office/drawing/2014/main" id="{683A23B6-A9C4-46B7-8102-6AE6E00B240C}"/>
              </a:ext>
            </a:extLst>
          </p:cNvPr>
          <p:cNvSpPr>
            <a:spLocks noGrp="1"/>
          </p:cNvSpPr>
          <p:nvPr>
            <p:ph type="subTitle" idx="1"/>
          </p:nvPr>
        </p:nvSpPr>
        <p:spPr/>
        <p:txBody>
          <a:bodyPr/>
          <a:lstStyle/>
          <a:p>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muel L. Jackson Say What meme">
            <a:extLst>
              <a:ext uri="{FF2B5EF4-FFF2-40B4-BE49-F238E27FC236}">
                <a16:creationId xmlns:a16="http://schemas.microsoft.com/office/drawing/2014/main" id="{5C58B2E0-A5AB-4D1C-87E9-6CCFD40F4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4" y="0"/>
            <a:ext cx="9157566"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26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7" name="Google Shape;177;p22"/>
          <p:cNvSpPr txBox="1">
            <a:spLocks noGrp="1"/>
          </p:cNvSpPr>
          <p:nvPr>
            <p:ph type="body" idx="2"/>
          </p:nvPr>
        </p:nvSpPr>
        <p:spPr>
          <a:xfrm>
            <a:off x="5181175" y="736975"/>
            <a:ext cx="36036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ES" dirty="0"/>
              <a:t>Time sharing -&gt; años 60</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Tasks -&gt; años 70-80</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Threads -&gt; años 90</a:t>
            </a:r>
          </a:p>
          <a:p>
            <a:pPr marL="0" lvl="0" indent="0" algn="l" rtl="0">
              <a:spcBef>
                <a:spcPts val="0"/>
              </a:spcBef>
              <a:spcAft>
                <a:spcPts val="0"/>
              </a:spcAft>
              <a:buNone/>
            </a:pPr>
            <a:endParaRPr dirty="0"/>
          </a:p>
        </p:txBody>
      </p:sp>
      <p:pic>
        <p:nvPicPr>
          <p:cNvPr id="2050" name="Picture 2" descr="Christopher Strachey - Chessprogramming wiki">
            <a:extLst>
              <a:ext uri="{FF2B5EF4-FFF2-40B4-BE49-F238E27FC236}">
                <a16:creationId xmlns:a16="http://schemas.microsoft.com/office/drawing/2014/main" id="{0C9B8F0C-FE31-4F2A-94B7-8A7B358F7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76" y="516321"/>
            <a:ext cx="1479205" cy="189167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ernando Corbató - Wikipedia, la enciclopedia libre">
            <a:extLst>
              <a:ext uri="{FF2B5EF4-FFF2-40B4-BE49-F238E27FC236}">
                <a16:creationId xmlns:a16="http://schemas.microsoft.com/office/drawing/2014/main" id="{D41B1B8F-0D92-4640-B9E7-05EBA06CA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316" y="516318"/>
            <a:ext cx="1617158" cy="18916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tanford's John McCarthy, seminal figure of artificial intelligence ...">
            <a:extLst>
              <a:ext uri="{FF2B5EF4-FFF2-40B4-BE49-F238E27FC236}">
                <a16:creationId xmlns:a16="http://schemas.microsoft.com/office/drawing/2014/main" id="{B66D5E83-4596-4F48-BE9F-E3F2824FAA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5581" y="516318"/>
            <a:ext cx="1355820" cy="18916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ye, Bee, M Logo Design History - by Richard Baird">
            <a:extLst>
              <a:ext uri="{FF2B5EF4-FFF2-40B4-BE49-F238E27FC236}">
                <a16:creationId xmlns:a16="http://schemas.microsoft.com/office/drawing/2014/main" id="{B7D2056D-800C-4EBC-AF21-A0C0F11B4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7501" y="3051475"/>
            <a:ext cx="1355820" cy="13558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ictor A. Vyssotsky - Wikipedia">
            <a:extLst>
              <a:ext uri="{FF2B5EF4-FFF2-40B4-BE49-F238E27FC236}">
                <a16:creationId xmlns:a16="http://schemas.microsoft.com/office/drawing/2014/main" id="{86B3CC15-C61C-40F3-A3F6-B6DDC57182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376" y="2944534"/>
            <a:ext cx="1546788" cy="156970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ichard Stallman - Alchetron, The Free Social Encyclopedia">
            <a:extLst>
              <a:ext uri="{FF2B5EF4-FFF2-40B4-BE49-F238E27FC236}">
                <a16:creationId xmlns:a16="http://schemas.microsoft.com/office/drawing/2014/main" id="{4FD14308-E394-4BEF-AD60-983DE637BC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3321" y="2738196"/>
            <a:ext cx="1283939" cy="190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85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251800" y="1717200"/>
            <a:ext cx="7220700" cy="2946000"/>
          </a:xfrm>
          <a:prstGeom prst="rect">
            <a:avLst/>
          </a:prstGeom>
        </p:spPr>
        <p:txBody>
          <a:bodyPr spcFirstLastPara="1" wrap="square" lIns="91425" tIns="91425" rIns="91425" bIns="91425" anchor="t" anchorCtr="0">
            <a:normAutofit/>
          </a:bodyPr>
          <a:lstStyle/>
          <a:p>
            <a:pPr marL="285750" indent="-285750"/>
            <a:r>
              <a:rPr lang="es-ES" dirty="0"/>
              <a:t>La mínima unidad de ejecución para un proceso</a:t>
            </a:r>
          </a:p>
          <a:p>
            <a:pPr marL="285750" indent="-285750"/>
            <a:endParaRPr lang="es-ES" dirty="0"/>
          </a:p>
          <a:p>
            <a:pPr marL="285750" indent="-285750"/>
            <a:r>
              <a:rPr lang="es-ES" dirty="0"/>
              <a:t>Los threads de un mismo proceso comparten recursos</a:t>
            </a:r>
          </a:p>
          <a:p>
            <a:pPr marL="285750" indent="-285750"/>
            <a:endParaRPr lang="es-ES" dirty="0"/>
          </a:p>
          <a:p>
            <a:pPr marL="285750" indent="-285750"/>
            <a:r>
              <a:rPr lang="es-ES" dirty="0"/>
              <a:t>El cambio de contexto entre threads del mismo proceso es rápido y ligero</a:t>
            </a:r>
          </a:p>
          <a:p>
            <a:pPr marL="285750" indent="-285750"/>
            <a:endParaRPr lang="es-ES" dirty="0"/>
          </a:p>
          <a:p>
            <a:pPr marL="0" indent="0" algn="ctr">
              <a:buNone/>
            </a:pPr>
            <a:r>
              <a:rPr lang="es-ES" dirty="0" err="1"/>
              <a:t>PThtreads</a:t>
            </a:r>
            <a:r>
              <a:rPr lang="es-ES" dirty="0"/>
              <a:t> (POSIX Threads)</a:t>
            </a:r>
          </a:p>
          <a:p>
            <a:pPr marL="285750" indent="-285750"/>
            <a:endParaRPr dirty="0"/>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Qué es un thread</a:t>
            </a:r>
            <a:endParaRPr dirty="0"/>
          </a:p>
        </p:txBody>
      </p:sp>
    </p:spTree>
    <p:extLst>
      <p:ext uri="{BB962C8B-B14F-4D97-AF65-F5344CB8AC3E}">
        <p14:creationId xmlns:p14="http://schemas.microsoft.com/office/powerpoint/2010/main" val="683068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body" idx="1"/>
          </p:nvPr>
        </p:nvSpPr>
        <p:spPr>
          <a:xfrm>
            <a:off x="311700" y="1034050"/>
            <a:ext cx="6273658" cy="1105142"/>
          </a:xfrm>
          <a:prstGeom prst="rect">
            <a:avLst/>
          </a:prstGeom>
        </p:spPr>
        <p:txBody>
          <a:bodyPr spcFirstLastPara="1" wrap="square" lIns="91425" tIns="91425" rIns="91425" bIns="91425" anchor="t" anchorCtr="0">
            <a:normAutofit lnSpcReduction="10000"/>
          </a:bodyPr>
          <a:lstStyle/>
          <a:p>
            <a:pPr marL="285750" indent="-285750"/>
            <a:r>
              <a:rPr lang="es-ES" dirty="0"/>
              <a:t>Son tratados como procesos ligeros</a:t>
            </a:r>
          </a:p>
          <a:p>
            <a:pPr marL="285750" indent="-285750"/>
            <a:r>
              <a:rPr lang="es-ES" dirty="0"/>
              <a:t>Gestionados en estructuras llamadas TCB: Thread Control Block</a:t>
            </a:r>
          </a:p>
        </p:txBody>
      </p:sp>
      <p:sp>
        <p:nvSpPr>
          <p:cNvPr id="170" name="Google Shape;170;p21"/>
          <p:cNvSpPr txBox="1">
            <a:spLocks noGrp="1"/>
          </p:cNvSpPr>
          <p:nvPr>
            <p:ph type="title"/>
          </p:nvPr>
        </p:nvSpPr>
        <p:spPr>
          <a:xfrm>
            <a:off x="311700" y="461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Manejo de hilos en el </a:t>
            </a:r>
            <a:r>
              <a:rPr lang="es-ES" dirty="0" err="1"/>
              <a:t>kernel</a:t>
            </a:r>
            <a:endParaRPr dirty="0"/>
          </a:p>
        </p:txBody>
      </p:sp>
      <p:pic>
        <p:nvPicPr>
          <p:cNvPr id="1026" name="Picture 2">
            <a:extLst>
              <a:ext uri="{FF2B5EF4-FFF2-40B4-BE49-F238E27FC236}">
                <a16:creationId xmlns:a16="http://schemas.microsoft.com/office/drawing/2014/main" id="{2CA38970-A2FE-4A7C-A09C-E769B8454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654" y="2128598"/>
            <a:ext cx="5112093" cy="26920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body" idx="1"/>
          </p:nvPr>
        </p:nvSpPr>
        <p:spPr>
          <a:xfrm>
            <a:off x="311700" y="1717200"/>
            <a:ext cx="6568800" cy="2517300"/>
          </a:xfrm>
          <a:prstGeom prst="rect">
            <a:avLst/>
          </a:prstGeom>
        </p:spPr>
        <p:txBody>
          <a:bodyPr spcFirstLastPara="1" wrap="square" lIns="91425" tIns="91425" rIns="91425" bIns="91425" anchor="t" anchorCtr="0">
            <a:normAutofit fontScale="92500" lnSpcReduction="10000"/>
          </a:bodyPr>
          <a:lstStyle/>
          <a:p>
            <a:pPr marL="285750" indent="-285750"/>
            <a:r>
              <a:rPr lang="es-ES" b="0" i="0" dirty="0">
                <a:solidFill>
                  <a:srgbClr val="000000"/>
                </a:solidFill>
                <a:effectLst/>
                <a:latin typeface="IBM Plex Sans" panose="020B0503050203000203" pitchFamily="34" charset="0"/>
              </a:rPr>
              <a:t>Un </a:t>
            </a:r>
            <a:r>
              <a:rPr lang="es-ES" b="1" i="0" dirty="0">
                <a:solidFill>
                  <a:srgbClr val="000000"/>
                </a:solidFill>
                <a:effectLst/>
                <a:latin typeface="IBM Plex Sans" panose="020B0503050203000203" pitchFamily="34" charset="0"/>
              </a:rPr>
              <a:t>Thread comparte el mismo espacio de direcciones que el proceso</a:t>
            </a:r>
            <a:r>
              <a:rPr lang="es-ES" b="0" i="0" dirty="0">
                <a:solidFill>
                  <a:srgbClr val="000000"/>
                </a:solidFill>
                <a:effectLst/>
                <a:latin typeface="IBM Plex Sans" panose="020B0503050203000203" pitchFamily="34" charset="0"/>
              </a:rPr>
              <a:t>. Por lo tanto, crear un nuevo hilo dentro de un proceso resulta más económico que iniciar un nuevo proceso.</a:t>
            </a:r>
          </a:p>
          <a:p>
            <a:pPr marL="285750" indent="-285750"/>
            <a:r>
              <a:rPr lang="es-ES" b="1" i="0" dirty="0">
                <a:solidFill>
                  <a:srgbClr val="000000"/>
                </a:solidFill>
                <a:effectLst/>
                <a:latin typeface="IBM Plex Sans" panose="020B0503050203000203" pitchFamily="34" charset="0"/>
              </a:rPr>
              <a:t>Los threads también se pueden intercambiar más rápidamente </a:t>
            </a:r>
            <a:r>
              <a:rPr lang="es-ES" b="0" i="0" dirty="0">
                <a:solidFill>
                  <a:srgbClr val="000000"/>
                </a:solidFill>
                <a:effectLst/>
                <a:latin typeface="IBM Plex Sans" panose="020B0503050203000203" pitchFamily="34" charset="0"/>
              </a:rPr>
              <a:t>(ya que comparten el espacio de direcciones con el proceso) </a:t>
            </a:r>
            <a:r>
              <a:rPr lang="es-ES" b="1" i="0" dirty="0">
                <a:solidFill>
                  <a:srgbClr val="000000"/>
                </a:solidFill>
                <a:effectLst/>
                <a:latin typeface="IBM Plex Sans" panose="020B0503050203000203" pitchFamily="34" charset="0"/>
              </a:rPr>
              <a:t>que los procesos en la CPU</a:t>
            </a:r>
            <a:r>
              <a:rPr lang="es-ES" b="0" i="0" dirty="0">
                <a:solidFill>
                  <a:srgbClr val="000000"/>
                </a:solidFill>
                <a:effectLst/>
                <a:latin typeface="IBM Plex Sans" panose="020B0503050203000203" pitchFamily="34" charset="0"/>
              </a:rPr>
              <a:t>.</a:t>
            </a:r>
          </a:p>
          <a:p>
            <a:pPr marL="285750" indent="-285750"/>
            <a:r>
              <a:rPr lang="es-ES" b="0" i="0" dirty="0">
                <a:solidFill>
                  <a:srgbClr val="000000"/>
                </a:solidFill>
                <a:effectLst/>
                <a:latin typeface="IBM Plex Sans" panose="020B0503050203000203" pitchFamily="34" charset="0"/>
              </a:rPr>
              <a:t>Internamente, </a:t>
            </a:r>
            <a:r>
              <a:rPr lang="es-ES" b="1" i="0" dirty="0">
                <a:solidFill>
                  <a:srgbClr val="000000"/>
                </a:solidFill>
                <a:effectLst/>
                <a:latin typeface="IBM Plex Sans" panose="020B0503050203000203" pitchFamily="34" charset="0"/>
              </a:rPr>
              <a:t>un thread solo tiene una pila en memoria </a:t>
            </a:r>
            <a:r>
              <a:rPr lang="es-ES" b="0" i="0" dirty="0">
                <a:solidFill>
                  <a:srgbClr val="000000"/>
                </a:solidFill>
                <a:effectLst/>
                <a:latin typeface="IBM Plex Sans" panose="020B0503050203000203" pitchFamily="34" charset="0"/>
              </a:rPr>
              <a:t>y comparte el </a:t>
            </a:r>
            <a:r>
              <a:rPr lang="es-ES" b="1" i="0" dirty="0">
                <a:solidFill>
                  <a:srgbClr val="000000"/>
                </a:solidFill>
                <a:effectLst/>
                <a:latin typeface="IBM Plex Sans" panose="020B0503050203000203" pitchFamily="34" charset="0"/>
              </a:rPr>
              <a:t>heap</a:t>
            </a:r>
            <a:r>
              <a:rPr lang="es-ES" b="0" i="0" dirty="0">
                <a:solidFill>
                  <a:srgbClr val="000000"/>
                </a:solidFill>
                <a:effectLst/>
                <a:latin typeface="IBM Plex Sans" panose="020B0503050203000203" pitchFamily="34" charset="0"/>
              </a:rPr>
              <a:t> (memoria del proceso) con el proceso padre.</a:t>
            </a:r>
            <a:endParaRPr dirty="0">
              <a:latin typeface="IBM Plex Sans" panose="020B0503050203000203" pitchFamily="34" charset="0"/>
            </a:endParaRPr>
          </a:p>
        </p:txBody>
      </p:sp>
      <p:sp>
        <p:nvSpPr>
          <p:cNvPr id="170" name="Google Shape;170;p21"/>
          <p:cNvSpPr txBox="1">
            <a:spLocks noGrp="1"/>
          </p:cNvSpPr>
          <p:nvPr>
            <p:ph type="title"/>
          </p:nvPr>
        </p:nvSpPr>
        <p:spPr>
          <a:xfrm>
            <a:off x="311700" y="461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Manejo de hilos en el </a:t>
            </a:r>
            <a:r>
              <a:rPr lang="es-ES" dirty="0" err="1"/>
              <a:t>kernel</a:t>
            </a:r>
            <a:endParaRPr dirty="0"/>
          </a:p>
        </p:txBody>
      </p:sp>
    </p:spTree>
    <p:extLst>
      <p:ext uri="{BB962C8B-B14F-4D97-AF65-F5344CB8AC3E}">
        <p14:creationId xmlns:p14="http://schemas.microsoft.com/office/powerpoint/2010/main" val="122901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7" name="Imagen 6">
            <a:extLst>
              <a:ext uri="{FF2B5EF4-FFF2-40B4-BE49-F238E27FC236}">
                <a16:creationId xmlns:a16="http://schemas.microsoft.com/office/drawing/2014/main" id="{E150D3F8-21CD-4CDB-BBD8-1FE6D39197F9}"/>
              </a:ext>
            </a:extLst>
          </p:cNvPr>
          <p:cNvPicPr>
            <a:picLocks noChangeAspect="1"/>
          </p:cNvPicPr>
          <p:nvPr/>
        </p:nvPicPr>
        <p:blipFill>
          <a:blip r:embed="rId3"/>
          <a:stretch>
            <a:fillRect/>
          </a:stretch>
        </p:blipFill>
        <p:spPr>
          <a:xfrm>
            <a:off x="-1" y="0"/>
            <a:ext cx="7625593" cy="5083728"/>
          </a:xfrm>
          <a:prstGeom prst="rect">
            <a:avLst/>
          </a:prstGeom>
        </p:spPr>
      </p:pic>
      <p:sp>
        <p:nvSpPr>
          <p:cNvPr id="10" name="CuadroTexto 9">
            <a:extLst>
              <a:ext uri="{FF2B5EF4-FFF2-40B4-BE49-F238E27FC236}">
                <a16:creationId xmlns:a16="http://schemas.microsoft.com/office/drawing/2014/main" id="{1624B0F1-61B9-4D9C-BE56-1A819633241E}"/>
              </a:ext>
            </a:extLst>
          </p:cNvPr>
          <p:cNvSpPr txBox="1"/>
          <p:nvPr/>
        </p:nvSpPr>
        <p:spPr>
          <a:xfrm rot="19765594">
            <a:off x="955963" y="3969327"/>
            <a:ext cx="2811988" cy="307777"/>
          </a:xfrm>
          <a:prstGeom prst="rect">
            <a:avLst/>
          </a:prstGeom>
          <a:noFill/>
        </p:spPr>
        <p:txBody>
          <a:bodyPr wrap="none" rtlCol="0">
            <a:spAutoFit/>
          </a:bodyPr>
          <a:lstStyle/>
          <a:p>
            <a:r>
              <a:rPr lang="es-ES" b="1" dirty="0">
                <a:solidFill>
                  <a:srgbClr val="FF0000"/>
                </a:solidFill>
                <a:latin typeface="IBM Plex Sans" panose="020B0503050203000203" pitchFamily="34" charset="0"/>
              </a:rPr>
              <a:t>TODO Rehacer imagen a mano</a:t>
            </a:r>
          </a:p>
        </p:txBody>
      </p:sp>
    </p:spTree>
    <p:extLst>
      <p:ext uri="{BB962C8B-B14F-4D97-AF65-F5344CB8AC3E}">
        <p14:creationId xmlns:p14="http://schemas.microsoft.com/office/powerpoint/2010/main" val="96748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Java Threads en Linux</a:t>
            </a:r>
            <a:endParaRPr dirty="0"/>
          </a:p>
        </p:txBody>
      </p:sp>
      <p:sp>
        <p:nvSpPr>
          <p:cNvPr id="158" name="Google Shape;15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ES" dirty="0"/>
              <a:t>No virtuales, todavía…</a:t>
            </a:r>
            <a:endParaRPr dirty="0"/>
          </a:p>
        </p:txBody>
      </p:sp>
    </p:spTree>
    <p:extLst>
      <p:ext uri="{BB962C8B-B14F-4D97-AF65-F5344CB8AC3E}">
        <p14:creationId xmlns:p14="http://schemas.microsoft.com/office/powerpoint/2010/main" val="2841846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100798" y="1034050"/>
            <a:ext cx="7220700" cy="2946000"/>
          </a:xfrm>
          <a:prstGeom prst="rect">
            <a:avLst/>
          </a:prstGeom>
        </p:spPr>
        <p:txBody>
          <a:bodyPr spcFirstLastPara="1" wrap="square" lIns="91425" tIns="91425" rIns="91425" bIns="91425" anchor="t" anchorCtr="0">
            <a:normAutofit fontScale="92500" lnSpcReduction="10000"/>
          </a:bodyPr>
          <a:lstStyle/>
          <a:p>
            <a:pPr marL="285750" indent="-285750"/>
            <a:r>
              <a:rPr lang="es-ES" dirty="0"/>
              <a:t>Cada </a:t>
            </a:r>
            <a:r>
              <a:rPr lang="es-ES" dirty="0" err="1">
                <a:latin typeface="Consolas" panose="020B0609020204030204" pitchFamily="49" charset="0"/>
              </a:rPr>
              <a:t>java.lang.Thread</a:t>
            </a:r>
            <a:r>
              <a:rPr lang="es-ES" dirty="0">
                <a:latin typeface="Consolas" panose="020B0609020204030204" pitchFamily="49" charset="0"/>
              </a:rPr>
              <a:t> </a:t>
            </a:r>
            <a:r>
              <a:rPr lang="es-ES" dirty="0"/>
              <a:t>nativo se corresponde con un hilo real del sistema operativo Linux.</a:t>
            </a:r>
          </a:p>
          <a:p>
            <a:pPr marL="285750" indent="-285750"/>
            <a:endParaRPr lang="es-ES" dirty="0"/>
          </a:p>
          <a:p>
            <a:pPr marL="0" indent="0">
              <a:buNone/>
            </a:pPr>
            <a:r>
              <a:rPr lang="en-US" dirty="0">
                <a:latin typeface="Consolas" panose="020B0609020204030204" pitchFamily="49" charset="0"/>
              </a:rPr>
              <a:t>Thread t = new Thread(() -&gt; </a:t>
            </a:r>
            <a:r>
              <a:rPr lang="en-US" dirty="0" err="1">
                <a:latin typeface="Consolas" panose="020B0609020204030204" pitchFamily="49" charset="0"/>
              </a:rPr>
              <a:t>trabajo</a:t>
            </a:r>
            <a:r>
              <a:rPr lang="en-US" dirty="0">
                <a:latin typeface="Consolas" panose="020B0609020204030204" pitchFamily="49" charset="0"/>
              </a:rPr>
              <a:t>());</a:t>
            </a:r>
          </a:p>
          <a:p>
            <a:pPr marL="0" indent="0">
              <a:buNone/>
            </a:pPr>
            <a:r>
              <a:rPr lang="en-US" dirty="0" err="1">
                <a:latin typeface="Consolas" panose="020B0609020204030204" pitchFamily="49" charset="0"/>
              </a:rPr>
              <a:t>t.start</a:t>
            </a:r>
            <a:r>
              <a:rPr lang="en-US" dirty="0">
                <a:latin typeface="Consolas" panose="020B0609020204030204" pitchFamily="49" charset="0"/>
              </a:rPr>
              <a:t>();</a:t>
            </a:r>
          </a:p>
          <a:p>
            <a:pPr marL="0" indent="0">
              <a:buNone/>
            </a:pPr>
            <a:endParaRPr lang="es-ES" dirty="0">
              <a:latin typeface="Consolas" panose="020B0609020204030204" pitchFamily="49" charset="0"/>
            </a:endParaRPr>
          </a:p>
          <a:p>
            <a:pPr marL="342900">
              <a:buFont typeface="+mj-lt"/>
              <a:buAutoNum type="arabicPeriod"/>
            </a:pPr>
            <a:r>
              <a:rPr lang="es-ES" dirty="0"/>
              <a:t>Crea objeto </a:t>
            </a:r>
            <a:r>
              <a:rPr lang="es-ES" dirty="0" err="1">
                <a:latin typeface="Consolas" panose="020B0609020204030204" pitchFamily="49" charset="0"/>
              </a:rPr>
              <a:t>java.lang.Thread</a:t>
            </a:r>
            <a:r>
              <a:rPr lang="es-ES" dirty="0">
                <a:latin typeface="Consolas" panose="020B0609020204030204" pitchFamily="49" charset="0"/>
              </a:rPr>
              <a:t> </a:t>
            </a:r>
            <a:r>
              <a:rPr lang="es-ES" dirty="0"/>
              <a:t>en heap Java</a:t>
            </a:r>
          </a:p>
          <a:p>
            <a:pPr marL="342900">
              <a:buFont typeface="+mj-lt"/>
              <a:buAutoNum type="arabicPeriod"/>
            </a:pPr>
            <a:r>
              <a:rPr lang="es-ES" dirty="0"/>
              <a:t>Reserva estructuras internas de la JVM</a:t>
            </a:r>
          </a:p>
          <a:p>
            <a:pPr marL="342900">
              <a:buFont typeface="+mj-lt"/>
              <a:buAutoNum type="arabicPeriod"/>
            </a:pPr>
            <a:r>
              <a:rPr lang="es-ES" dirty="0"/>
              <a:t>Invoca creación de hilo nativo  </a:t>
            </a:r>
            <a:r>
              <a:rPr lang="es-ES" dirty="0" err="1">
                <a:latin typeface="Consolas" panose="020B0609020204030204" pitchFamily="49" charset="0"/>
              </a:rPr>
              <a:t>pthread_create</a:t>
            </a:r>
            <a:r>
              <a:rPr lang="es-ES" dirty="0">
                <a:latin typeface="Consolas" panose="020B0609020204030204" pitchFamily="49" charset="0"/>
              </a:rPr>
              <a:t>()</a:t>
            </a:r>
          </a:p>
          <a:p>
            <a:pPr marL="342900">
              <a:buFont typeface="+mj-lt"/>
              <a:buAutoNum type="arabicPeriod"/>
            </a:pPr>
            <a:r>
              <a:rPr lang="es-ES" dirty="0"/>
              <a:t>Linux crea un hilo </a:t>
            </a:r>
            <a:r>
              <a:rPr lang="es-ES" dirty="0" err="1"/>
              <a:t>kernel</a:t>
            </a:r>
            <a:r>
              <a:rPr lang="es-ES" dirty="0"/>
              <a:t> </a:t>
            </a:r>
            <a:r>
              <a:rPr lang="es-ES" dirty="0">
                <a:latin typeface="Consolas" panose="020B0609020204030204" pitchFamily="49" charset="0"/>
              </a:rPr>
              <a:t>(LWP con TID propio)</a:t>
            </a:r>
          </a:p>
          <a:p>
            <a:pPr marL="285750" indent="-285750"/>
            <a:endParaRPr lang="es-ES" dirty="0"/>
          </a:p>
          <a:p>
            <a:pPr marL="285750" indent="-285750"/>
            <a:endParaRPr dirty="0"/>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Y ahora Java Threads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4" name="Imagen 3">
            <a:extLst>
              <a:ext uri="{FF2B5EF4-FFF2-40B4-BE49-F238E27FC236}">
                <a16:creationId xmlns:a16="http://schemas.microsoft.com/office/drawing/2014/main" id="{78E9BDEF-29E5-4101-B60C-7261808F84C2}"/>
              </a:ext>
            </a:extLst>
          </p:cNvPr>
          <p:cNvPicPr>
            <a:picLocks noChangeAspect="1"/>
          </p:cNvPicPr>
          <p:nvPr/>
        </p:nvPicPr>
        <p:blipFill>
          <a:blip r:embed="rId3"/>
          <a:stretch>
            <a:fillRect/>
          </a:stretch>
        </p:blipFill>
        <p:spPr>
          <a:xfrm>
            <a:off x="0" y="0"/>
            <a:ext cx="7566870" cy="5044580"/>
          </a:xfrm>
          <a:prstGeom prst="rect">
            <a:avLst/>
          </a:prstGeom>
        </p:spPr>
      </p:pic>
      <p:sp>
        <p:nvSpPr>
          <p:cNvPr id="6" name="CuadroTexto 5">
            <a:extLst>
              <a:ext uri="{FF2B5EF4-FFF2-40B4-BE49-F238E27FC236}">
                <a16:creationId xmlns:a16="http://schemas.microsoft.com/office/drawing/2014/main" id="{CDF8CCD7-BFCD-458E-ADB1-ACA586464B0F}"/>
              </a:ext>
            </a:extLst>
          </p:cNvPr>
          <p:cNvSpPr txBox="1"/>
          <p:nvPr/>
        </p:nvSpPr>
        <p:spPr>
          <a:xfrm rot="19765594">
            <a:off x="1773382" y="3934691"/>
            <a:ext cx="2811988" cy="307777"/>
          </a:xfrm>
          <a:prstGeom prst="rect">
            <a:avLst/>
          </a:prstGeom>
          <a:noFill/>
        </p:spPr>
        <p:txBody>
          <a:bodyPr wrap="none" rtlCol="0">
            <a:spAutoFit/>
          </a:bodyPr>
          <a:lstStyle/>
          <a:p>
            <a:r>
              <a:rPr lang="es-ES" b="1" dirty="0">
                <a:solidFill>
                  <a:srgbClr val="FF0000"/>
                </a:solidFill>
              </a:rPr>
              <a:t>TODO Rehacer imagen a mano</a:t>
            </a:r>
          </a:p>
        </p:txBody>
      </p:sp>
    </p:spTree>
    <p:extLst>
      <p:ext uri="{BB962C8B-B14F-4D97-AF65-F5344CB8AC3E}">
        <p14:creationId xmlns:p14="http://schemas.microsoft.com/office/powerpoint/2010/main" val="1777460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38" name="Google Shape;417;p16" descr="Back to the Future Trilogy [Reino Unido] [DVD]">
            <a:extLst>
              <a:ext uri="{FF2B5EF4-FFF2-40B4-BE49-F238E27FC236}">
                <a16:creationId xmlns:a16="http://schemas.microsoft.com/office/drawing/2014/main" id="{8DF8E6A3-06BF-43E8-B026-2F9C1C9BC3A8}"/>
              </a:ext>
            </a:extLst>
          </p:cNvPr>
          <p:cNvPicPr preferRelativeResize="0"/>
          <p:nvPr/>
        </p:nvPicPr>
        <p:blipFill rotWithShape="1">
          <a:blip r:embed="rId3">
            <a:alphaModFix/>
          </a:blip>
          <a:srcRect/>
          <a:stretch/>
        </p:blipFill>
        <p:spPr>
          <a:xfrm>
            <a:off x="347480" y="721151"/>
            <a:ext cx="1531254" cy="2138706"/>
          </a:xfrm>
          <a:prstGeom prst="rect">
            <a:avLst/>
          </a:prstGeom>
          <a:noFill/>
          <a:ln>
            <a:noFill/>
          </a:ln>
        </p:spPr>
      </p:pic>
      <p:sp>
        <p:nvSpPr>
          <p:cNvPr id="39" name="Google Shape;418;p16">
            <a:extLst>
              <a:ext uri="{FF2B5EF4-FFF2-40B4-BE49-F238E27FC236}">
                <a16:creationId xmlns:a16="http://schemas.microsoft.com/office/drawing/2014/main" id="{BEDF61F0-1AEA-4ED4-87BB-98BC7EEA5106}"/>
              </a:ext>
            </a:extLst>
          </p:cNvPr>
          <p:cNvSpPr txBox="1"/>
          <p:nvPr/>
        </p:nvSpPr>
        <p:spPr>
          <a:xfrm>
            <a:off x="2042029" y="630286"/>
            <a:ext cx="6419654" cy="1223382"/>
          </a:xfrm>
          <a:prstGeom prst="rect">
            <a:avLst/>
          </a:prstGeom>
          <a:noFill/>
          <a:ln>
            <a:noFill/>
          </a:ln>
        </p:spPr>
        <p:txBody>
          <a:bodyPr spcFirstLastPara="1" wrap="square" lIns="68569" tIns="34275" rIns="68569" bIns="34275" anchor="t" anchorCtr="0">
            <a:spAutoFit/>
          </a:bodyPr>
          <a:lstStyle/>
          <a:p>
            <a:pPr marL="214313" marR="0" lvl="0" indent="-214313" defTabSz="685800" eaLnBrk="1" fontAlgn="auto" latinLnBrk="0" hangingPunct="1">
              <a:lnSpc>
                <a:spcPct val="100000"/>
              </a:lnSpc>
              <a:spcBef>
                <a:spcPts val="0"/>
              </a:spcBef>
              <a:spcAft>
                <a:spcPts val="0"/>
              </a:spcAft>
              <a:buClrTx/>
              <a:buSzPts val="1800"/>
              <a:buFont typeface="Arial"/>
              <a:buChar char="•"/>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Como en nuestras peores pesadillas en las prácticas de las asignaturas de sistemas operativos, para poder entender la gestión de threads tenemos que lidiar con </a:t>
            </a:r>
            <a:r>
              <a:rPr kumimoji="0" lang="es-ES" sz="2100" b="1" i="0" u="none" strike="noStrike" kern="0" cap="none" spc="0" normalizeH="0" baseline="0" noProof="0" dirty="0">
                <a:ln>
                  <a:noFill/>
                </a:ln>
                <a:solidFill>
                  <a:srgbClr val="002060"/>
                </a:solidFill>
                <a:effectLst/>
                <a:uLnTx/>
                <a:uFillTx/>
                <a:latin typeface="IBM Plex Sans" panose="020B0503050203000203" pitchFamily="34" charset="0"/>
              </a:rPr>
              <a:t>malloc</a:t>
            </a: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214313" marR="0" lvl="0" indent="-214313" defTabSz="685800" eaLnBrk="1" fontAlgn="auto" latinLnBrk="0" hangingPunct="1">
              <a:lnSpc>
                <a:spcPct val="100000"/>
              </a:lnSpc>
              <a:spcBef>
                <a:spcPts val="0"/>
              </a:spcBef>
              <a:spcAft>
                <a:spcPts val="0"/>
              </a:spcAft>
              <a:buClrTx/>
              <a:buSzPts val="1800"/>
              <a:buFont typeface="Arial"/>
              <a:buChar char="•"/>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La máquina virtual java esta escrita en C, así que usa malloc (glibc) para cualquier allocation de memoria que requiera</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0" name="Google Shape;419;p16">
            <a:extLst>
              <a:ext uri="{FF2B5EF4-FFF2-40B4-BE49-F238E27FC236}">
                <a16:creationId xmlns:a16="http://schemas.microsoft.com/office/drawing/2014/main" id="{BB4EA12B-6EB7-40A2-8BB4-BB6CB46ABDB1}"/>
              </a:ext>
            </a:extLst>
          </p:cNvPr>
          <p:cNvSpPr/>
          <p:nvPr/>
        </p:nvSpPr>
        <p:spPr>
          <a:xfrm>
            <a:off x="2653111" y="2179810"/>
            <a:ext cx="749431"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malloc</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1" name="Google Shape;420;p16">
            <a:extLst>
              <a:ext uri="{FF2B5EF4-FFF2-40B4-BE49-F238E27FC236}">
                <a16:creationId xmlns:a16="http://schemas.microsoft.com/office/drawing/2014/main" id="{9AA0400B-BB16-4283-ADD0-194CA25AEE72}"/>
              </a:ext>
            </a:extLst>
          </p:cNvPr>
          <p:cNvSpPr/>
          <p:nvPr/>
        </p:nvSpPr>
        <p:spPr>
          <a:xfrm>
            <a:off x="3849872" y="1899349"/>
            <a:ext cx="692870"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brk</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2" name="Google Shape;421;p16">
            <a:extLst>
              <a:ext uri="{FF2B5EF4-FFF2-40B4-BE49-F238E27FC236}">
                <a16:creationId xmlns:a16="http://schemas.microsoft.com/office/drawing/2014/main" id="{5B48EB98-1D56-42B6-9E51-318DDFF502FB}"/>
              </a:ext>
            </a:extLst>
          </p:cNvPr>
          <p:cNvSpPr/>
          <p:nvPr/>
        </p:nvSpPr>
        <p:spPr>
          <a:xfrm>
            <a:off x="3849871" y="2473206"/>
            <a:ext cx="692870"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43" name="Google Shape;422;p16">
            <a:extLst>
              <a:ext uri="{FF2B5EF4-FFF2-40B4-BE49-F238E27FC236}">
                <a16:creationId xmlns:a16="http://schemas.microsoft.com/office/drawing/2014/main" id="{32B8646E-D9DE-493B-B286-3964E0B7AB4E}"/>
              </a:ext>
            </a:extLst>
          </p:cNvPr>
          <p:cNvCxnSpPr>
            <a:stCxn id="40" idx="3"/>
            <a:endCxn id="41" idx="1"/>
          </p:cNvCxnSpPr>
          <p:nvPr/>
        </p:nvCxnSpPr>
        <p:spPr>
          <a:xfrm rot="10800000" flipH="1">
            <a:off x="3402542" y="2125703"/>
            <a:ext cx="447300" cy="280350"/>
          </a:xfrm>
          <a:prstGeom prst="straightConnector1">
            <a:avLst/>
          </a:prstGeom>
          <a:noFill/>
          <a:ln w="9525" cap="flat" cmpd="sng">
            <a:solidFill>
              <a:srgbClr val="4472C4"/>
            </a:solidFill>
            <a:prstDash val="solid"/>
            <a:miter lim="800000"/>
            <a:headEnd type="none" w="sm" len="sm"/>
            <a:tailEnd type="triangle" w="med" len="med"/>
          </a:ln>
        </p:spPr>
      </p:cxnSp>
      <p:cxnSp>
        <p:nvCxnSpPr>
          <p:cNvPr id="44" name="Google Shape;423;p16">
            <a:extLst>
              <a:ext uri="{FF2B5EF4-FFF2-40B4-BE49-F238E27FC236}">
                <a16:creationId xmlns:a16="http://schemas.microsoft.com/office/drawing/2014/main" id="{4DD7856D-1CC0-4256-A256-97FF67C97AF1}"/>
              </a:ext>
            </a:extLst>
          </p:cNvPr>
          <p:cNvCxnSpPr>
            <a:stCxn id="40" idx="3"/>
            <a:endCxn id="42" idx="1"/>
          </p:cNvCxnSpPr>
          <p:nvPr/>
        </p:nvCxnSpPr>
        <p:spPr>
          <a:xfrm>
            <a:off x="3402542" y="2406053"/>
            <a:ext cx="447300" cy="293400"/>
          </a:xfrm>
          <a:prstGeom prst="straightConnector1">
            <a:avLst/>
          </a:prstGeom>
          <a:noFill/>
          <a:ln w="9525" cap="flat" cmpd="sng">
            <a:solidFill>
              <a:srgbClr val="4472C4"/>
            </a:solidFill>
            <a:prstDash val="solid"/>
            <a:miter lim="800000"/>
            <a:headEnd type="none" w="sm" len="sm"/>
            <a:tailEnd type="triangle" w="med" len="med"/>
          </a:ln>
        </p:spPr>
      </p:cxnSp>
      <p:sp>
        <p:nvSpPr>
          <p:cNvPr id="45" name="Google Shape;424;p16">
            <a:extLst>
              <a:ext uri="{FF2B5EF4-FFF2-40B4-BE49-F238E27FC236}">
                <a16:creationId xmlns:a16="http://schemas.microsoft.com/office/drawing/2014/main" id="{F4B2BBF6-3638-4632-AB57-B26054925203}"/>
              </a:ext>
            </a:extLst>
          </p:cNvPr>
          <p:cNvSpPr txBox="1"/>
          <p:nvPr/>
        </p:nvSpPr>
        <p:spPr>
          <a:xfrm>
            <a:off x="4661020" y="1917480"/>
            <a:ext cx="3058337"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Para pequeños chunks de memoria &lt;128k</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6" name="Google Shape;425;p16">
            <a:extLst>
              <a:ext uri="{FF2B5EF4-FFF2-40B4-BE49-F238E27FC236}">
                <a16:creationId xmlns:a16="http://schemas.microsoft.com/office/drawing/2014/main" id="{D53CDA73-122E-47D5-A91C-1A067DA578B8}"/>
              </a:ext>
            </a:extLst>
          </p:cNvPr>
          <p:cNvSpPr txBox="1"/>
          <p:nvPr/>
        </p:nvSpPr>
        <p:spPr>
          <a:xfrm>
            <a:off x="4661020" y="2560949"/>
            <a:ext cx="1461122"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Para grandes áreas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7" name="Google Shape;426;p16">
            <a:extLst>
              <a:ext uri="{FF2B5EF4-FFF2-40B4-BE49-F238E27FC236}">
                <a16:creationId xmlns:a16="http://schemas.microsoft.com/office/drawing/2014/main" id="{EED79AE6-ADC7-4FEF-BD25-E23524D92741}"/>
              </a:ext>
            </a:extLst>
          </p:cNvPr>
          <p:cNvSpPr/>
          <p:nvPr/>
        </p:nvSpPr>
        <p:spPr>
          <a:xfrm>
            <a:off x="1504312" y="3564927"/>
            <a:ext cx="7393585" cy="699944"/>
          </a:xfrm>
          <a:prstGeom prst="roundRect">
            <a:avLst>
              <a:gd name="adj" fmla="val 6070"/>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IBM Plex Sans" panose="020B0503050203000203" pitchFamily="34" charset="0"/>
              <a:ea typeface="Calibri"/>
              <a:cs typeface="Calibri"/>
              <a:sym typeface="Calibri"/>
            </a:endParaRPr>
          </a:p>
        </p:txBody>
      </p:sp>
      <p:sp>
        <p:nvSpPr>
          <p:cNvPr id="48" name="Google Shape;427;p16">
            <a:extLst>
              <a:ext uri="{FF2B5EF4-FFF2-40B4-BE49-F238E27FC236}">
                <a16:creationId xmlns:a16="http://schemas.microsoft.com/office/drawing/2014/main" id="{5588D6C3-9173-425D-92D3-7181EB5DB25D}"/>
              </a:ext>
            </a:extLst>
          </p:cNvPr>
          <p:cNvSpPr/>
          <p:nvPr/>
        </p:nvSpPr>
        <p:spPr>
          <a:xfrm>
            <a:off x="1504312" y="3564927"/>
            <a:ext cx="1280078"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9" name="Google Shape;428;p16">
            <a:extLst>
              <a:ext uri="{FF2B5EF4-FFF2-40B4-BE49-F238E27FC236}">
                <a16:creationId xmlns:a16="http://schemas.microsoft.com/office/drawing/2014/main" id="{5E50859F-1537-4A06-904C-9E88564363FA}"/>
              </a:ext>
            </a:extLst>
          </p:cNvPr>
          <p:cNvSpPr txBox="1"/>
          <p:nvPr/>
        </p:nvSpPr>
        <p:spPr>
          <a:xfrm>
            <a:off x="1928787" y="3711790"/>
            <a:ext cx="57625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0" name="Google Shape;429;p16">
            <a:extLst>
              <a:ext uri="{FF2B5EF4-FFF2-40B4-BE49-F238E27FC236}">
                <a16:creationId xmlns:a16="http://schemas.microsoft.com/office/drawing/2014/main" id="{7C21CEE6-4FF5-4FEB-B83C-DFEF692146F8}"/>
              </a:ext>
            </a:extLst>
          </p:cNvPr>
          <p:cNvSpPr/>
          <p:nvPr/>
        </p:nvSpPr>
        <p:spPr>
          <a:xfrm>
            <a:off x="3052606" y="3564926"/>
            <a:ext cx="1269635"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1" name="Google Shape;430;p16">
            <a:extLst>
              <a:ext uri="{FF2B5EF4-FFF2-40B4-BE49-F238E27FC236}">
                <a16:creationId xmlns:a16="http://schemas.microsoft.com/office/drawing/2014/main" id="{CB22F2DF-9C90-4F47-88F8-6CAA68916038}"/>
              </a:ext>
            </a:extLst>
          </p:cNvPr>
          <p:cNvSpPr txBox="1"/>
          <p:nvPr/>
        </p:nvSpPr>
        <p:spPr>
          <a:xfrm>
            <a:off x="3426033" y="3714303"/>
            <a:ext cx="73215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2" name="Google Shape;431;p16">
            <a:extLst>
              <a:ext uri="{FF2B5EF4-FFF2-40B4-BE49-F238E27FC236}">
                <a16:creationId xmlns:a16="http://schemas.microsoft.com/office/drawing/2014/main" id="{DB7621C4-8ED4-40D7-891C-F71D0C90D675}"/>
              </a:ext>
            </a:extLst>
          </p:cNvPr>
          <p:cNvSpPr/>
          <p:nvPr/>
        </p:nvSpPr>
        <p:spPr>
          <a:xfrm>
            <a:off x="4592233" y="3564925"/>
            <a:ext cx="1318490"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3" name="Google Shape;432;p16">
            <a:extLst>
              <a:ext uri="{FF2B5EF4-FFF2-40B4-BE49-F238E27FC236}">
                <a16:creationId xmlns:a16="http://schemas.microsoft.com/office/drawing/2014/main" id="{E56351B2-C1A0-48C0-8501-BC78FF713FA8}"/>
              </a:ext>
            </a:extLst>
          </p:cNvPr>
          <p:cNvSpPr txBox="1"/>
          <p:nvPr/>
        </p:nvSpPr>
        <p:spPr>
          <a:xfrm>
            <a:off x="4977352" y="3711790"/>
            <a:ext cx="654500"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class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4" name="Google Shape;433;p16">
            <a:extLst>
              <a:ext uri="{FF2B5EF4-FFF2-40B4-BE49-F238E27FC236}">
                <a16:creationId xmlns:a16="http://schemas.microsoft.com/office/drawing/2014/main" id="{84B9E333-6642-4E32-A155-5D1F2B7F7A19}"/>
              </a:ext>
            </a:extLst>
          </p:cNvPr>
          <p:cNvSpPr/>
          <p:nvPr/>
        </p:nvSpPr>
        <p:spPr>
          <a:xfrm>
            <a:off x="6190619" y="3564924"/>
            <a:ext cx="888422"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5" name="Google Shape;434;p16">
            <a:extLst>
              <a:ext uri="{FF2B5EF4-FFF2-40B4-BE49-F238E27FC236}">
                <a16:creationId xmlns:a16="http://schemas.microsoft.com/office/drawing/2014/main" id="{CD5F8227-2B75-4CFB-BD0D-4A4149028727}"/>
              </a:ext>
            </a:extLst>
          </p:cNvPr>
          <p:cNvSpPr txBox="1"/>
          <p:nvPr/>
        </p:nvSpPr>
        <p:spPr>
          <a:xfrm>
            <a:off x="6365890" y="3702873"/>
            <a:ext cx="557713"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code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7" name="Google Shape;436;p16">
            <a:extLst>
              <a:ext uri="{FF2B5EF4-FFF2-40B4-BE49-F238E27FC236}">
                <a16:creationId xmlns:a16="http://schemas.microsoft.com/office/drawing/2014/main" id="{A8CD7DD0-D3FE-4C9F-959C-BF0321AAF7C1}"/>
              </a:ext>
            </a:extLst>
          </p:cNvPr>
          <p:cNvSpPr/>
          <p:nvPr/>
        </p:nvSpPr>
        <p:spPr>
          <a:xfrm>
            <a:off x="7269133" y="3564923"/>
            <a:ext cx="1055250" cy="699944"/>
          </a:xfrm>
          <a:prstGeom prst="rect">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IBM Plex Sans" panose="020B0503050203000203" pitchFamily="34" charset="0"/>
              <a:ea typeface="Calibri"/>
              <a:cs typeface="Calibri"/>
              <a:sym typeface="Calibri"/>
            </a:endParaRPr>
          </a:p>
        </p:txBody>
      </p:sp>
      <p:sp>
        <p:nvSpPr>
          <p:cNvPr id="58" name="Google Shape;437;p16">
            <a:extLst>
              <a:ext uri="{FF2B5EF4-FFF2-40B4-BE49-F238E27FC236}">
                <a16:creationId xmlns:a16="http://schemas.microsoft.com/office/drawing/2014/main" id="{9FBE75CC-14D9-4B93-95F9-4DFDC33B8F4E}"/>
              </a:ext>
            </a:extLst>
          </p:cNvPr>
          <p:cNvSpPr txBox="1"/>
          <p:nvPr/>
        </p:nvSpPr>
        <p:spPr>
          <a:xfrm>
            <a:off x="7318636" y="3716685"/>
            <a:ext cx="96337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dirty="0">
                <a:ln>
                  <a:noFill/>
                </a:ln>
                <a:solidFill>
                  <a:srgbClr val="FF0000"/>
                </a:solidFill>
                <a:effectLst/>
                <a:uLnTx/>
                <a:uFillTx/>
                <a:latin typeface="IBM Plex Sans" panose="020B0503050203000203" pitchFamily="34" charset="0"/>
              </a:rPr>
              <a:t>pequeños</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cxnSp>
        <p:nvCxnSpPr>
          <p:cNvPr id="59" name="Google Shape;438;p16">
            <a:extLst>
              <a:ext uri="{FF2B5EF4-FFF2-40B4-BE49-F238E27FC236}">
                <a16:creationId xmlns:a16="http://schemas.microsoft.com/office/drawing/2014/main" id="{9CECECA9-0B15-4F50-8F0F-47718F5C98F6}"/>
              </a:ext>
            </a:extLst>
          </p:cNvPr>
          <p:cNvCxnSpPr>
            <a:stCxn id="42" idx="2"/>
            <a:endCxn id="48" idx="0"/>
          </p:cNvCxnSpPr>
          <p:nvPr/>
        </p:nvCxnSpPr>
        <p:spPr>
          <a:xfrm flipH="1">
            <a:off x="2144306" y="2925692"/>
            <a:ext cx="205200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0" name="Google Shape;439;p16">
            <a:extLst>
              <a:ext uri="{FF2B5EF4-FFF2-40B4-BE49-F238E27FC236}">
                <a16:creationId xmlns:a16="http://schemas.microsoft.com/office/drawing/2014/main" id="{B7F50E9A-9608-4867-B3F6-8DD2EFD152CA}"/>
              </a:ext>
            </a:extLst>
          </p:cNvPr>
          <p:cNvCxnSpPr>
            <a:stCxn id="42" idx="2"/>
            <a:endCxn id="50" idx="0"/>
          </p:cNvCxnSpPr>
          <p:nvPr/>
        </p:nvCxnSpPr>
        <p:spPr>
          <a:xfrm flipH="1">
            <a:off x="3687356" y="2925692"/>
            <a:ext cx="5089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1" name="Google Shape;440;p16">
            <a:extLst>
              <a:ext uri="{FF2B5EF4-FFF2-40B4-BE49-F238E27FC236}">
                <a16:creationId xmlns:a16="http://schemas.microsoft.com/office/drawing/2014/main" id="{D562D8F4-2C5D-4E72-8CD0-6FB0A1072DBD}"/>
              </a:ext>
            </a:extLst>
          </p:cNvPr>
          <p:cNvCxnSpPr>
            <a:stCxn id="42" idx="2"/>
            <a:endCxn id="52" idx="0"/>
          </p:cNvCxnSpPr>
          <p:nvPr/>
        </p:nvCxnSpPr>
        <p:spPr>
          <a:xfrm>
            <a:off x="4196306" y="2925692"/>
            <a:ext cx="10552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2" name="Google Shape;441;p16">
            <a:extLst>
              <a:ext uri="{FF2B5EF4-FFF2-40B4-BE49-F238E27FC236}">
                <a16:creationId xmlns:a16="http://schemas.microsoft.com/office/drawing/2014/main" id="{2BD6C19A-8A90-4AAC-805E-02EC1EFC529D}"/>
              </a:ext>
            </a:extLst>
          </p:cNvPr>
          <p:cNvCxnSpPr>
            <a:stCxn id="42" idx="2"/>
            <a:endCxn id="54" idx="0"/>
          </p:cNvCxnSpPr>
          <p:nvPr/>
        </p:nvCxnSpPr>
        <p:spPr>
          <a:xfrm>
            <a:off x="4196306" y="2925692"/>
            <a:ext cx="24385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3" name="Google Shape;442;p16">
            <a:extLst>
              <a:ext uri="{FF2B5EF4-FFF2-40B4-BE49-F238E27FC236}">
                <a16:creationId xmlns:a16="http://schemas.microsoft.com/office/drawing/2014/main" id="{8BD8FF1D-EC69-4F6A-AEF1-FDF997A3691A}"/>
              </a:ext>
            </a:extLst>
          </p:cNvPr>
          <p:cNvCxnSpPr>
            <a:cxnSpLocks/>
            <a:stCxn id="42" idx="2"/>
            <a:endCxn id="57" idx="0"/>
          </p:cNvCxnSpPr>
          <p:nvPr/>
        </p:nvCxnSpPr>
        <p:spPr>
          <a:xfrm>
            <a:off x="4196306" y="2925692"/>
            <a:ext cx="3600452" cy="639231"/>
          </a:xfrm>
          <a:prstGeom prst="straightConnector1">
            <a:avLst/>
          </a:prstGeom>
          <a:noFill/>
          <a:ln w="9525" cap="flat" cmpd="sng">
            <a:solidFill>
              <a:srgbClr val="4472C4"/>
            </a:solidFill>
            <a:prstDash val="solid"/>
            <a:miter lim="800000"/>
            <a:headEnd type="none" w="sm" len="sm"/>
            <a:tailEnd type="triangle" w="med" len="med"/>
          </a:ln>
        </p:spPr>
      </p:cxnSp>
      <p:sp>
        <p:nvSpPr>
          <p:cNvPr id="64" name="Google Shape;443;p16">
            <a:extLst>
              <a:ext uri="{FF2B5EF4-FFF2-40B4-BE49-F238E27FC236}">
                <a16:creationId xmlns:a16="http://schemas.microsoft.com/office/drawing/2014/main" id="{AB7CDBD6-1772-4E21-9E00-0CAF079C2833}"/>
              </a:ext>
            </a:extLst>
          </p:cNvPr>
          <p:cNvSpPr txBox="1"/>
          <p:nvPr/>
        </p:nvSpPr>
        <p:spPr>
          <a:xfrm>
            <a:off x="3052606" y="4320792"/>
            <a:ext cx="5744210" cy="69246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En las áreas off-heap puede producirse fragmentación con bastante frecuencia</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Son gestionadas por la JVM</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pic>
        <p:nvPicPr>
          <p:cNvPr id="66" name="Google Shape;445;p16" descr="Increase Icons - Free SVG &amp; PNG Increase Images - Noun Project">
            <a:extLst>
              <a:ext uri="{FF2B5EF4-FFF2-40B4-BE49-F238E27FC236}">
                <a16:creationId xmlns:a16="http://schemas.microsoft.com/office/drawing/2014/main" id="{13EEFB50-20C9-472F-BBC6-4AA5D56E93A6}"/>
              </a:ext>
            </a:extLst>
          </p:cNvPr>
          <p:cNvPicPr preferRelativeResize="0"/>
          <p:nvPr/>
        </p:nvPicPr>
        <p:blipFill rotWithShape="1">
          <a:blip r:embed="rId4">
            <a:alphaModFix/>
          </a:blip>
          <a:srcRect/>
          <a:stretch/>
        </p:blipFill>
        <p:spPr>
          <a:xfrm>
            <a:off x="6911946" y="2472256"/>
            <a:ext cx="714375" cy="714375"/>
          </a:xfrm>
          <a:prstGeom prst="rect">
            <a:avLst/>
          </a:prstGeom>
          <a:noFill/>
          <a:ln>
            <a:noFill/>
          </a:ln>
        </p:spPr>
      </p:pic>
      <p:sp>
        <p:nvSpPr>
          <p:cNvPr id="67" name="Google Shape;446;p16">
            <a:extLst>
              <a:ext uri="{FF2B5EF4-FFF2-40B4-BE49-F238E27FC236}">
                <a16:creationId xmlns:a16="http://schemas.microsoft.com/office/drawing/2014/main" id="{DECA7D17-8F0B-40B1-AC16-11AED24A6B16}"/>
              </a:ext>
            </a:extLst>
          </p:cNvPr>
          <p:cNvSpPr/>
          <p:nvPr/>
        </p:nvSpPr>
        <p:spPr>
          <a:xfrm>
            <a:off x="7566524" y="2421282"/>
            <a:ext cx="1359000" cy="715550"/>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2100" b="1" i="0" u="none" strike="noStrike" kern="0" cap="none" spc="0" normalizeH="0" baseline="0" noProof="0" dirty="0">
                <a:ln>
                  <a:noFill/>
                </a:ln>
                <a:solidFill>
                  <a:srgbClr val="FF0000"/>
                </a:solidFill>
                <a:effectLst/>
                <a:uLnTx/>
                <a:uFillTx/>
                <a:latin typeface="IBM Plex Sans" panose="020B0503050203000203" pitchFamily="34" charset="0"/>
              </a:rPr>
              <a:t>malloc</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0" marR="0" lvl="0" indent="0" defTabSz="685800" eaLnBrk="1" fontAlgn="auto" latinLnBrk="0" hangingPunct="1">
              <a:lnSpc>
                <a:spcPct val="100000"/>
              </a:lnSpc>
              <a:spcBef>
                <a:spcPts val="0"/>
              </a:spcBef>
              <a:spcAft>
                <a:spcPts val="0"/>
              </a:spcAft>
              <a:buClrTx/>
              <a:buSzTx/>
              <a:buFontTx/>
              <a:buNone/>
              <a:tabLst/>
              <a:defRPr/>
            </a:pPr>
            <a:r>
              <a:rPr kumimoji="0" lang="es-ES" sz="2100" b="1" i="0" u="none" strike="noStrike" kern="0" cap="none" spc="0" normalizeH="0" baseline="0" noProof="0" dirty="0">
                <a:ln>
                  <a:noFill/>
                </a:ln>
                <a:solidFill>
                  <a:srgbClr val="FF0000"/>
                </a:solidFill>
                <a:effectLst/>
                <a:uLnTx/>
                <a:uFillTx/>
                <a:latin typeface="IBM Plex Sans" panose="020B0503050203000203" pitchFamily="34" charset="0"/>
              </a:rPr>
              <a:t>overhead</a:t>
            </a:r>
            <a:endParaRPr kumimoji="0" sz="2100" b="0" i="0" u="none" strike="noStrike" kern="0" cap="none" spc="0" normalizeH="0" baseline="0" noProof="0" dirty="0">
              <a:ln>
                <a:noFill/>
              </a:ln>
              <a:solidFill>
                <a:srgbClr val="FF0000"/>
              </a:solidFill>
              <a:effectLst/>
              <a:uLnTx/>
              <a:uFillTx/>
              <a:latin typeface="IBM Plex Sans" panose="020B0503050203000203" pitchFamily="34" charset="0"/>
              <a:ea typeface="Calibri"/>
              <a:cs typeface="Calibri"/>
              <a:sym typeface="Calibri"/>
            </a:endParaRPr>
          </a:p>
        </p:txBody>
      </p:sp>
    </p:spTree>
    <p:extLst>
      <p:ext uri="{BB962C8B-B14F-4D97-AF65-F5344CB8AC3E}">
        <p14:creationId xmlns:p14="http://schemas.microsoft.com/office/powerpoint/2010/main" val="46096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anim calcmode="lin" valueType="num">
                                      <p:cBhvr additive="base">
                                        <p:cTn id="67" dur="500"/>
                                        <p:tgtEl>
                                          <p:spTgt spid="66"/>
                                        </p:tgtEl>
                                        <p:attrNameLst>
                                          <p:attrName>ppt_w</p:attrName>
                                        </p:attrNameLst>
                                      </p:cBhvr>
                                      <p:tavLst>
                                        <p:tav tm="0">
                                          <p:val>
                                            <p:strVal val="0"/>
                                          </p:val>
                                        </p:tav>
                                        <p:tav tm="100000">
                                          <p:val>
                                            <p:strVal val="#ppt_w"/>
                                          </p:val>
                                        </p:tav>
                                      </p:tavLst>
                                    </p:anim>
                                    <p:anim calcmode="lin" valueType="num">
                                      <p:cBhvr additive="base">
                                        <p:cTn id="68" dur="500"/>
                                        <p:tgtEl>
                                          <p:spTgt spid="66"/>
                                        </p:tgtEl>
                                        <p:attrNameLst>
                                          <p:attrName>ppt_h</p:attrName>
                                        </p:attrNameLst>
                                      </p:cBhvr>
                                      <p:tavLst>
                                        <p:tav tm="0">
                                          <p:val>
                                            <p:str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additive="base">
                                        <p:cTn id="71" dur="500"/>
                                        <p:tgtEl>
                                          <p:spTgt spid="67"/>
                                        </p:tgtEl>
                                        <p:attrNameLst>
                                          <p:attrName>ppt_w</p:attrName>
                                        </p:attrNameLst>
                                      </p:cBhvr>
                                      <p:tavLst>
                                        <p:tav tm="0">
                                          <p:val>
                                            <p:strVal val="0"/>
                                          </p:val>
                                        </p:tav>
                                        <p:tav tm="100000">
                                          <p:val>
                                            <p:strVal val="#ppt_w"/>
                                          </p:val>
                                        </p:tav>
                                      </p:tavLst>
                                    </p:anim>
                                    <p:anim calcmode="lin" valueType="num">
                                      <p:cBhvr additive="base">
                                        <p:cTn id="72" dur="500"/>
                                        <p:tgtEl>
                                          <p:spTgt spid="6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9" name="Google Shape;476;p18">
            <a:extLst>
              <a:ext uri="{FF2B5EF4-FFF2-40B4-BE49-F238E27FC236}">
                <a16:creationId xmlns:a16="http://schemas.microsoft.com/office/drawing/2014/main" id="{750E0052-B49C-46D0-B211-7F84D0AEDA33}"/>
              </a:ext>
            </a:extLst>
          </p:cNvPr>
          <p:cNvSpPr/>
          <p:nvPr/>
        </p:nvSpPr>
        <p:spPr>
          <a:xfrm>
            <a:off x="985228" y="3739188"/>
            <a:ext cx="7880681" cy="699944"/>
          </a:xfrm>
          <a:prstGeom prst="roundRect">
            <a:avLst>
              <a:gd name="adj" fmla="val 6070"/>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Calibri"/>
              <a:ea typeface="Calibri"/>
              <a:cs typeface="Calibri"/>
              <a:sym typeface="Calibri"/>
            </a:endParaRPr>
          </a:p>
        </p:txBody>
      </p:sp>
      <p:sp>
        <p:nvSpPr>
          <p:cNvPr id="10" name="Google Shape;477;p18">
            <a:extLst>
              <a:ext uri="{FF2B5EF4-FFF2-40B4-BE49-F238E27FC236}">
                <a16:creationId xmlns:a16="http://schemas.microsoft.com/office/drawing/2014/main" id="{8B17A340-F01A-4857-9107-FD8A9B304BCD}"/>
              </a:ext>
            </a:extLst>
          </p:cNvPr>
          <p:cNvSpPr/>
          <p:nvPr/>
        </p:nvSpPr>
        <p:spPr>
          <a:xfrm>
            <a:off x="7762834" y="1023395"/>
            <a:ext cx="1269635" cy="339749"/>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1" name="Google Shape;478;p18">
            <a:extLst>
              <a:ext uri="{FF2B5EF4-FFF2-40B4-BE49-F238E27FC236}">
                <a16:creationId xmlns:a16="http://schemas.microsoft.com/office/drawing/2014/main" id="{5166027D-C3E7-41B7-9BA2-2C7F42F1A972}"/>
              </a:ext>
            </a:extLst>
          </p:cNvPr>
          <p:cNvSpPr txBox="1"/>
          <p:nvPr/>
        </p:nvSpPr>
        <p:spPr>
          <a:xfrm>
            <a:off x="8110235" y="1059665"/>
            <a:ext cx="57625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2" name="Google Shape;479;p18">
            <a:extLst>
              <a:ext uri="{FF2B5EF4-FFF2-40B4-BE49-F238E27FC236}">
                <a16:creationId xmlns:a16="http://schemas.microsoft.com/office/drawing/2014/main" id="{D1266FC0-66A5-44FF-A47F-42EF4DD184AA}"/>
              </a:ext>
            </a:extLst>
          </p:cNvPr>
          <p:cNvSpPr/>
          <p:nvPr/>
        </p:nvSpPr>
        <p:spPr>
          <a:xfrm>
            <a:off x="7762834" y="623007"/>
            <a:ext cx="1269635" cy="377537"/>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3" name="Google Shape;480;p18">
            <a:extLst>
              <a:ext uri="{FF2B5EF4-FFF2-40B4-BE49-F238E27FC236}">
                <a16:creationId xmlns:a16="http://schemas.microsoft.com/office/drawing/2014/main" id="{A802F24A-3CC8-45DE-B333-702BDBDAE697}"/>
              </a:ext>
            </a:extLst>
          </p:cNvPr>
          <p:cNvSpPr txBox="1"/>
          <p:nvPr/>
        </p:nvSpPr>
        <p:spPr>
          <a:xfrm>
            <a:off x="8019783" y="673792"/>
            <a:ext cx="73215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4" name="Google Shape;481;p18">
            <a:extLst>
              <a:ext uri="{FF2B5EF4-FFF2-40B4-BE49-F238E27FC236}">
                <a16:creationId xmlns:a16="http://schemas.microsoft.com/office/drawing/2014/main" id="{206E3E10-E3CD-4D0B-AC4A-8959A0EB5975}"/>
              </a:ext>
            </a:extLst>
          </p:cNvPr>
          <p:cNvSpPr/>
          <p:nvPr/>
        </p:nvSpPr>
        <p:spPr>
          <a:xfrm>
            <a:off x="7762834" y="1395684"/>
            <a:ext cx="1269635" cy="321371"/>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5" name="Google Shape;482;p18">
            <a:extLst>
              <a:ext uri="{FF2B5EF4-FFF2-40B4-BE49-F238E27FC236}">
                <a16:creationId xmlns:a16="http://schemas.microsoft.com/office/drawing/2014/main" id="{627E484C-04FC-4169-8192-58F97E39C640}"/>
              </a:ext>
            </a:extLst>
          </p:cNvPr>
          <p:cNvSpPr txBox="1"/>
          <p:nvPr/>
        </p:nvSpPr>
        <p:spPr>
          <a:xfrm>
            <a:off x="8118835" y="1414984"/>
            <a:ext cx="654500"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class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6" name="Google Shape;483;p18">
            <a:extLst>
              <a:ext uri="{FF2B5EF4-FFF2-40B4-BE49-F238E27FC236}">
                <a16:creationId xmlns:a16="http://schemas.microsoft.com/office/drawing/2014/main" id="{0F40D73A-AC1E-46A8-AFB7-C0239B40C5F5}"/>
              </a:ext>
            </a:extLst>
          </p:cNvPr>
          <p:cNvSpPr/>
          <p:nvPr/>
        </p:nvSpPr>
        <p:spPr>
          <a:xfrm>
            <a:off x="7762835" y="1743823"/>
            <a:ext cx="1269635" cy="377537"/>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7" name="Google Shape;484;p18">
            <a:extLst>
              <a:ext uri="{FF2B5EF4-FFF2-40B4-BE49-F238E27FC236}">
                <a16:creationId xmlns:a16="http://schemas.microsoft.com/office/drawing/2014/main" id="{3D1FDEE4-7F9D-4F7F-9D0A-901D87A9DE73}"/>
              </a:ext>
            </a:extLst>
          </p:cNvPr>
          <p:cNvSpPr txBox="1"/>
          <p:nvPr/>
        </p:nvSpPr>
        <p:spPr>
          <a:xfrm>
            <a:off x="8172838" y="1824750"/>
            <a:ext cx="557713"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code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9" name="Google Shape;486;p18">
            <a:extLst>
              <a:ext uri="{FF2B5EF4-FFF2-40B4-BE49-F238E27FC236}">
                <a16:creationId xmlns:a16="http://schemas.microsoft.com/office/drawing/2014/main" id="{C894017F-96A3-4C86-816A-8144512D4443}"/>
              </a:ext>
            </a:extLst>
          </p:cNvPr>
          <p:cNvSpPr/>
          <p:nvPr/>
        </p:nvSpPr>
        <p:spPr>
          <a:xfrm>
            <a:off x="3377226" y="652943"/>
            <a:ext cx="996884" cy="664539"/>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FFFF"/>
                </a:solidFill>
                <a:effectLst/>
                <a:uLnTx/>
                <a:uFillTx/>
                <a:latin typeface="IBM Plex Sans" panose="020B0503050203000203" pitchFamily="34" charset="0"/>
              </a:rPr>
              <a:t>I’m a java 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0" name="Google Shape;487;p18">
            <a:extLst>
              <a:ext uri="{FF2B5EF4-FFF2-40B4-BE49-F238E27FC236}">
                <a16:creationId xmlns:a16="http://schemas.microsoft.com/office/drawing/2014/main" id="{601C017B-6010-4941-82ED-138DFB614501}"/>
              </a:ext>
            </a:extLst>
          </p:cNvPr>
          <p:cNvSpPr txBox="1"/>
          <p:nvPr/>
        </p:nvSpPr>
        <p:spPr>
          <a:xfrm>
            <a:off x="4885442" y="607306"/>
            <a:ext cx="2799762" cy="55396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Mi stack (mmap) almacena mis method frames, sus variables, mis variables locales (thread-local)</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21" name="Google Shape;488;p18">
            <a:extLst>
              <a:ext uri="{FF2B5EF4-FFF2-40B4-BE49-F238E27FC236}">
                <a16:creationId xmlns:a16="http://schemas.microsoft.com/office/drawing/2014/main" id="{3BA37BEC-7138-4FDF-B572-F884B9A9C066}"/>
              </a:ext>
            </a:extLst>
          </p:cNvPr>
          <p:cNvPicPr preferRelativeResize="0"/>
          <p:nvPr/>
        </p:nvPicPr>
        <p:blipFill rotWithShape="1">
          <a:blip r:embed="rId3">
            <a:alphaModFix/>
          </a:blip>
          <a:srcRect/>
          <a:stretch/>
        </p:blipFill>
        <p:spPr>
          <a:xfrm>
            <a:off x="4517197" y="655099"/>
            <a:ext cx="347033" cy="344623"/>
          </a:xfrm>
          <a:prstGeom prst="rect">
            <a:avLst/>
          </a:prstGeom>
          <a:noFill/>
          <a:ln>
            <a:noFill/>
          </a:ln>
        </p:spPr>
      </p:pic>
      <p:sp>
        <p:nvSpPr>
          <p:cNvPr id="22" name="Google Shape;489;p18">
            <a:extLst>
              <a:ext uri="{FF2B5EF4-FFF2-40B4-BE49-F238E27FC236}">
                <a16:creationId xmlns:a16="http://schemas.microsoft.com/office/drawing/2014/main" id="{B95DB471-9177-4CFB-B8C9-10BD75044438}"/>
              </a:ext>
            </a:extLst>
          </p:cNvPr>
          <p:cNvSpPr txBox="1"/>
          <p:nvPr/>
        </p:nvSpPr>
        <p:spPr>
          <a:xfrm>
            <a:off x="4903148" y="997951"/>
            <a:ext cx="2764349"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creo objetos durante mi ejecución, irán al 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3" name="Google Shape;490;p18">
            <a:extLst>
              <a:ext uri="{FF2B5EF4-FFF2-40B4-BE49-F238E27FC236}">
                <a16:creationId xmlns:a16="http://schemas.microsoft.com/office/drawing/2014/main" id="{0612378B-BA62-4B85-B8AB-0F3F6233786A}"/>
              </a:ext>
            </a:extLst>
          </p:cNvPr>
          <p:cNvSpPr txBox="1"/>
          <p:nvPr/>
        </p:nvSpPr>
        <p:spPr>
          <a:xfrm>
            <a:off x="4903147" y="1381369"/>
            <a:ext cx="2764350"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Si las clases de esos objetos no lo estaban ya, serán alojadas en </a:t>
            </a:r>
            <a:r>
              <a:rPr kumimoji="0" lang="es-ES" sz="1050" b="0" i="0" u="none" strike="noStrike" kern="0" cap="none" spc="0" normalizeH="0" baseline="0" noProof="0" dirty="0" err="1">
                <a:ln>
                  <a:noFill/>
                </a:ln>
                <a:solidFill>
                  <a:sysClr val="windowText" lastClr="000000"/>
                </a:solidFill>
                <a:effectLst/>
                <a:uLnTx/>
                <a:uFillTx/>
                <a:latin typeface="IBM Plex Sans" panose="020B0503050203000203" pitchFamily="34" charset="0"/>
                <a:ea typeface="Calibri"/>
                <a:cs typeface="Calibri"/>
                <a:sym typeface="Calibri"/>
              </a:rPr>
              <a:t>Metaspace</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24" name="Google Shape;491;p18">
            <a:extLst>
              <a:ext uri="{FF2B5EF4-FFF2-40B4-BE49-F238E27FC236}">
                <a16:creationId xmlns:a16="http://schemas.microsoft.com/office/drawing/2014/main" id="{6247CC11-CB31-4835-8E70-2CAB75F8027E}"/>
              </a:ext>
            </a:extLst>
          </p:cNvPr>
          <p:cNvSpPr txBox="1"/>
          <p:nvPr/>
        </p:nvSpPr>
        <p:spPr>
          <a:xfrm>
            <a:off x="4903147" y="1805133"/>
            <a:ext cx="2676004"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JIT optimizará y compilará los métodos que ejecuto, y se almacenarán en Code </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5" name="Google Shape;492;p18">
            <a:extLst>
              <a:ext uri="{FF2B5EF4-FFF2-40B4-BE49-F238E27FC236}">
                <a16:creationId xmlns:a16="http://schemas.microsoft.com/office/drawing/2014/main" id="{B9E3468D-6230-4D5D-BDAE-20BA3C474CBC}"/>
              </a:ext>
            </a:extLst>
          </p:cNvPr>
          <p:cNvSpPr txBox="1"/>
          <p:nvPr/>
        </p:nvSpPr>
        <p:spPr>
          <a:xfrm>
            <a:off x="4905050" y="2192641"/>
            <a:ext cx="2744741"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uso memory mapped files, se alojarán como una nueva zona con </a:t>
            </a:r>
            <a:r>
              <a:rPr kumimoji="0" lang="es-ES" sz="1050" b="1" i="0" u="none" strike="noStrike" kern="0" cap="none" spc="0" normalizeH="0" baseline="0" noProof="0">
                <a:ln>
                  <a:noFill/>
                </a:ln>
                <a:solidFill>
                  <a:sysClr val="windowText" lastClr="000000"/>
                </a:solidFill>
                <a:effectLst/>
                <a:uLnTx/>
                <a:uFillTx/>
                <a:latin typeface="IBM Plex Sans" panose="020B0503050203000203" pitchFamily="34" charset="0"/>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26" name="Google Shape;493;p18">
            <a:extLst>
              <a:ext uri="{FF2B5EF4-FFF2-40B4-BE49-F238E27FC236}">
                <a16:creationId xmlns:a16="http://schemas.microsoft.com/office/drawing/2014/main" id="{5C809571-4AF8-4892-B937-F2D869FF0414}"/>
              </a:ext>
            </a:extLst>
          </p:cNvPr>
          <p:cNvPicPr preferRelativeResize="0"/>
          <p:nvPr/>
        </p:nvPicPr>
        <p:blipFill rotWithShape="1">
          <a:blip r:embed="rId4">
            <a:alphaModFix/>
          </a:blip>
          <a:srcRect/>
          <a:stretch/>
        </p:blipFill>
        <p:spPr>
          <a:xfrm>
            <a:off x="4547544" y="2266396"/>
            <a:ext cx="337898" cy="335576"/>
          </a:xfrm>
          <a:prstGeom prst="rect">
            <a:avLst/>
          </a:prstGeom>
          <a:noFill/>
          <a:ln>
            <a:noFill/>
          </a:ln>
        </p:spPr>
      </p:pic>
      <p:sp>
        <p:nvSpPr>
          <p:cNvPr id="27" name="Google Shape;494;p18">
            <a:extLst>
              <a:ext uri="{FF2B5EF4-FFF2-40B4-BE49-F238E27FC236}">
                <a16:creationId xmlns:a16="http://schemas.microsoft.com/office/drawing/2014/main" id="{54E5FFBF-D898-4082-9929-DF8657C9F6F0}"/>
              </a:ext>
            </a:extLst>
          </p:cNvPr>
          <p:cNvSpPr/>
          <p:nvPr/>
        </p:nvSpPr>
        <p:spPr>
          <a:xfrm>
            <a:off x="6965577" y="3749280"/>
            <a:ext cx="1419119"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28" name="Google Shape;495;p18">
            <a:extLst>
              <a:ext uri="{FF2B5EF4-FFF2-40B4-BE49-F238E27FC236}">
                <a16:creationId xmlns:a16="http://schemas.microsoft.com/office/drawing/2014/main" id="{0F6E2E75-35FE-4924-A442-30390645861E}"/>
              </a:ext>
            </a:extLst>
          </p:cNvPr>
          <p:cNvSpPr txBox="1"/>
          <p:nvPr/>
        </p:nvSpPr>
        <p:spPr>
          <a:xfrm>
            <a:off x="7203521" y="3730284"/>
            <a:ext cx="1016048" cy="69246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dirty="0">
                <a:ln>
                  <a:noFill/>
                </a:ln>
                <a:solidFill>
                  <a:srgbClr val="FF0000"/>
                </a:solidFill>
                <a:effectLst/>
                <a:uLnTx/>
                <a:uFillTx/>
                <a:latin typeface="IBM Plex Sans" panose="020B0503050203000203" pitchFamily="34" charset="0"/>
              </a:rPr>
              <a:t>memory mapped file</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29" name="Google Shape;496;p18">
            <a:extLst>
              <a:ext uri="{FF2B5EF4-FFF2-40B4-BE49-F238E27FC236}">
                <a16:creationId xmlns:a16="http://schemas.microsoft.com/office/drawing/2014/main" id="{A9886758-6B21-4EC0-BD0C-D20F8C6A825B}"/>
              </a:ext>
            </a:extLst>
          </p:cNvPr>
          <p:cNvSpPr/>
          <p:nvPr/>
        </p:nvSpPr>
        <p:spPr>
          <a:xfrm>
            <a:off x="3220057" y="1779482"/>
            <a:ext cx="1175030"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pic>
        <p:nvPicPr>
          <p:cNvPr id="30" name="Google Shape;497;p18">
            <a:extLst>
              <a:ext uri="{FF2B5EF4-FFF2-40B4-BE49-F238E27FC236}">
                <a16:creationId xmlns:a16="http://schemas.microsoft.com/office/drawing/2014/main" id="{FB93F647-E2AD-4365-B8FF-57D580A7143E}"/>
              </a:ext>
            </a:extLst>
          </p:cNvPr>
          <p:cNvPicPr preferRelativeResize="0"/>
          <p:nvPr/>
        </p:nvPicPr>
        <p:blipFill rotWithShape="1">
          <a:blip r:embed="rId3">
            <a:alphaModFix/>
          </a:blip>
          <a:srcRect/>
          <a:stretch/>
        </p:blipFill>
        <p:spPr>
          <a:xfrm>
            <a:off x="4530335" y="1057299"/>
            <a:ext cx="347033" cy="344623"/>
          </a:xfrm>
          <a:prstGeom prst="rect">
            <a:avLst/>
          </a:prstGeom>
          <a:noFill/>
          <a:ln>
            <a:noFill/>
          </a:ln>
        </p:spPr>
      </p:pic>
      <p:pic>
        <p:nvPicPr>
          <p:cNvPr id="31" name="Google Shape;498;p18">
            <a:extLst>
              <a:ext uri="{FF2B5EF4-FFF2-40B4-BE49-F238E27FC236}">
                <a16:creationId xmlns:a16="http://schemas.microsoft.com/office/drawing/2014/main" id="{05D2102D-3177-4507-9B9D-A7F10CF8CC4C}"/>
              </a:ext>
            </a:extLst>
          </p:cNvPr>
          <p:cNvPicPr preferRelativeResize="0"/>
          <p:nvPr/>
        </p:nvPicPr>
        <p:blipFill rotWithShape="1">
          <a:blip r:embed="rId3">
            <a:alphaModFix/>
          </a:blip>
          <a:srcRect/>
          <a:stretch/>
        </p:blipFill>
        <p:spPr>
          <a:xfrm>
            <a:off x="4530335" y="1455710"/>
            <a:ext cx="347033" cy="344623"/>
          </a:xfrm>
          <a:prstGeom prst="rect">
            <a:avLst/>
          </a:prstGeom>
          <a:noFill/>
          <a:ln>
            <a:noFill/>
          </a:ln>
        </p:spPr>
      </p:pic>
      <p:pic>
        <p:nvPicPr>
          <p:cNvPr id="32" name="Google Shape;499;p18">
            <a:extLst>
              <a:ext uri="{FF2B5EF4-FFF2-40B4-BE49-F238E27FC236}">
                <a16:creationId xmlns:a16="http://schemas.microsoft.com/office/drawing/2014/main" id="{649A3C22-965F-4FE7-93A5-5746728812FA}"/>
              </a:ext>
            </a:extLst>
          </p:cNvPr>
          <p:cNvPicPr preferRelativeResize="0"/>
          <p:nvPr/>
        </p:nvPicPr>
        <p:blipFill rotWithShape="1">
          <a:blip r:embed="rId3">
            <a:alphaModFix/>
          </a:blip>
          <a:srcRect/>
          <a:stretch/>
        </p:blipFill>
        <p:spPr>
          <a:xfrm>
            <a:off x="4530335" y="1854120"/>
            <a:ext cx="347033" cy="344623"/>
          </a:xfrm>
          <a:prstGeom prst="rect">
            <a:avLst/>
          </a:prstGeom>
          <a:noFill/>
          <a:ln>
            <a:noFill/>
          </a:ln>
        </p:spPr>
      </p:pic>
      <p:cxnSp>
        <p:nvCxnSpPr>
          <p:cNvPr id="33" name="Google Shape;500;p18">
            <a:extLst>
              <a:ext uri="{FF2B5EF4-FFF2-40B4-BE49-F238E27FC236}">
                <a16:creationId xmlns:a16="http://schemas.microsoft.com/office/drawing/2014/main" id="{6FDBF83F-E4C6-46B2-B320-68F60986FC53}"/>
              </a:ext>
            </a:extLst>
          </p:cNvPr>
          <p:cNvCxnSpPr>
            <a:stCxn id="25" idx="2"/>
            <a:endCxn id="27" idx="0"/>
          </p:cNvCxnSpPr>
          <p:nvPr/>
        </p:nvCxnSpPr>
        <p:spPr>
          <a:xfrm>
            <a:off x="6277421" y="2585026"/>
            <a:ext cx="1397716" cy="1164254"/>
          </a:xfrm>
          <a:prstGeom prst="straightConnector1">
            <a:avLst/>
          </a:prstGeom>
          <a:noFill/>
          <a:ln w="9525" cap="flat" cmpd="sng">
            <a:solidFill>
              <a:srgbClr val="000000"/>
            </a:solidFill>
            <a:prstDash val="solid"/>
            <a:miter lim="800000"/>
            <a:headEnd type="none" w="sm" len="sm"/>
            <a:tailEnd type="triangle" w="med" len="med"/>
          </a:ln>
        </p:spPr>
      </p:cxnSp>
      <p:sp>
        <p:nvSpPr>
          <p:cNvPr id="34" name="Google Shape;501;p18">
            <a:extLst>
              <a:ext uri="{FF2B5EF4-FFF2-40B4-BE49-F238E27FC236}">
                <a16:creationId xmlns:a16="http://schemas.microsoft.com/office/drawing/2014/main" id="{4634BD73-D6E4-4E71-A603-A2C674C1D5B3}"/>
              </a:ext>
            </a:extLst>
          </p:cNvPr>
          <p:cNvSpPr txBox="1"/>
          <p:nvPr/>
        </p:nvSpPr>
        <p:spPr>
          <a:xfrm>
            <a:off x="3080772" y="1414288"/>
            <a:ext cx="1384677"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¿Y que hago con esto?</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5" name="Google Shape;502;p18">
            <a:extLst>
              <a:ext uri="{FF2B5EF4-FFF2-40B4-BE49-F238E27FC236}">
                <a16:creationId xmlns:a16="http://schemas.microsoft.com/office/drawing/2014/main" id="{29522DFC-697B-4168-A8BB-B2B8CCB94CEA}"/>
              </a:ext>
            </a:extLst>
          </p:cNvPr>
          <p:cNvSpPr/>
          <p:nvPr/>
        </p:nvSpPr>
        <p:spPr>
          <a:xfrm>
            <a:off x="3244960" y="2053642"/>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36" name="Google Shape;503;p18">
            <a:extLst>
              <a:ext uri="{FF2B5EF4-FFF2-40B4-BE49-F238E27FC236}">
                <a16:creationId xmlns:a16="http://schemas.microsoft.com/office/drawing/2014/main" id="{29CFE81C-9867-4CC0-8922-62F9DD4E18EE}"/>
              </a:ext>
            </a:extLst>
          </p:cNvPr>
          <p:cNvSpPr txBox="1"/>
          <p:nvPr/>
        </p:nvSpPr>
        <p:spPr>
          <a:xfrm>
            <a:off x="3221961" y="2028666"/>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7" name="Google Shape;504;p18">
            <a:extLst>
              <a:ext uri="{FF2B5EF4-FFF2-40B4-BE49-F238E27FC236}">
                <a16:creationId xmlns:a16="http://schemas.microsoft.com/office/drawing/2014/main" id="{353C6E3F-F602-42D7-9534-B6486BC1BBED}"/>
              </a:ext>
            </a:extLst>
          </p:cNvPr>
          <p:cNvSpPr/>
          <p:nvPr/>
        </p:nvSpPr>
        <p:spPr>
          <a:xfrm>
            <a:off x="3800601" y="2025745"/>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38" name="Google Shape;505;p18">
            <a:extLst>
              <a:ext uri="{FF2B5EF4-FFF2-40B4-BE49-F238E27FC236}">
                <a16:creationId xmlns:a16="http://schemas.microsoft.com/office/drawing/2014/main" id="{1AEAA87C-1B01-4B9A-8BE8-EC96AE577B1E}"/>
              </a:ext>
            </a:extLst>
          </p:cNvPr>
          <p:cNvSpPr txBox="1"/>
          <p:nvPr/>
        </p:nvSpPr>
        <p:spPr>
          <a:xfrm>
            <a:off x="3777602" y="2000768"/>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9" name="Google Shape;506;p18">
            <a:extLst>
              <a:ext uri="{FF2B5EF4-FFF2-40B4-BE49-F238E27FC236}">
                <a16:creationId xmlns:a16="http://schemas.microsoft.com/office/drawing/2014/main" id="{2696DEE8-3CE0-4FA9-9C08-F6117DC9684C}"/>
              </a:ext>
            </a:extLst>
          </p:cNvPr>
          <p:cNvSpPr/>
          <p:nvPr/>
        </p:nvSpPr>
        <p:spPr>
          <a:xfrm>
            <a:off x="3295548" y="1829497"/>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0" name="Google Shape;507;p18">
            <a:extLst>
              <a:ext uri="{FF2B5EF4-FFF2-40B4-BE49-F238E27FC236}">
                <a16:creationId xmlns:a16="http://schemas.microsoft.com/office/drawing/2014/main" id="{22242C5A-C9EA-4EDE-A352-4507EA4650EC}"/>
              </a:ext>
            </a:extLst>
          </p:cNvPr>
          <p:cNvSpPr txBox="1"/>
          <p:nvPr/>
        </p:nvSpPr>
        <p:spPr>
          <a:xfrm>
            <a:off x="3272548" y="1804521"/>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1" name="Google Shape;508;p18">
            <a:extLst>
              <a:ext uri="{FF2B5EF4-FFF2-40B4-BE49-F238E27FC236}">
                <a16:creationId xmlns:a16="http://schemas.microsoft.com/office/drawing/2014/main" id="{CB0EB364-E24D-4C1B-BD61-A1D506402DA1}"/>
              </a:ext>
            </a:extLst>
          </p:cNvPr>
          <p:cNvSpPr/>
          <p:nvPr/>
        </p:nvSpPr>
        <p:spPr>
          <a:xfrm>
            <a:off x="3289747" y="2295791"/>
            <a:ext cx="1021708" cy="148107"/>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2" name="Google Shape;509;p18">
            <a:extLst>
              <a:ext uri="{FF2B5EF4-FFF2-40B4-BE49-F238E27FC236}">
                <a16:creationId xmlns:a16="http://schemas.microsoft.com/office/drawing/2014/main" id="{15D94F84-6078-42AC-ADB3-EB9FA6C39F61}"/>
              </a:ext>
            </a:extLst>
          </p:cNvPr>
          <p:cNvSpPr txBox="1"/>
          <p:nvPr/>
        </p:nvSpPr>
        <p:spPr>
          <a:xfrm>
            <a:off x="3289747" y="2258532"/>
            <a:ext cx="1021707" cy="184636"/>
          </a:xfrm>
          <a:prstGeom prst="rect">
            <a:avLst/>
          </a:prstGeom>
          <a:noFill/>
          <a:ln>
            <a:noFill/>
          </a:ln>
        </p:spPr>
        <p:txBody>
          <a:bodyPr spcFirstLastPara="1" wrap="square" lIns="68569" tIns="34275" rIns="68569" bIns="34275" anchor="t" anchorCtr="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3" name="Google Shape;510;p18">
            <a:extLst>
              <a:ext uri="{FF2B5EF4-FFF2-40B4-BE49-F238E27FC236}">
                <a16:creationId xmlns:a16="http://schemas.microsoft.com/office/drawing/2014/main" id="{1C2EDF1D-1A41-4077-B5A8-AC2E4F24925E}"/>
              </a:ext>
            </a:extLst>
          </p:cNvPr>
          <p:cNvSpPr/>
          <p:nvPr/>
        </p:nvSpPr>
        <p:spPr>
          <a:xfrm>
            <a:off x="3587050" y="3744595"/>
            <a:ext cx="1901921"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4" name="Google Shape;511;p18">
            <a:extLst>
              <a:ext uri="{FF2B5EF4-FFF2-40B4-BE49-F238E27FC236}">
                <a16:creationId xmlns:a16="http://schemas.microsoft.com/office/drawing/2014/main" id="{1858891B-0D41-4817-9761-939A73F47D89}"/>
              </a:ext>
            </a:extLst>
          </p:cNvPr>
          <p:cNvSpPr txBox="1"/>
          <p:nvPr/>
        </p:nvSpPr>
        <p:spPr>
          <a:xfrm>
            <a:off x="3624081" y="3718390"/>
            <a:ext cx="1882160"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malloc arena #1 (mmap)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45" name="Google Shape;512;p18">
            <a:extLst>
              <a:ext uri="{FF2B5EF4-FFF2-40B4-BE49-F238E27FC236}">
                <a16:creationId xmlns:a16="http://schemas.microsoft.com/office/drawing/2014/main" id="{75FA5A36-74CD-4EFB-A868-EF9F5F0DA5BD}"/>
              </a:ext>
            </a:extLst>
          </p:cNvPr>
          <p:cNvPicPr preferRelativeResize="0"/>
          <p:nvPr/>
        </p:nvPicPr>
        <p:blipFill rotWithShape="1">
          <a:blip r:embed="rId5">
            <a:alphaModFix/>
          </a:blip>
          <a:srcRect/>
          <a:stretch/>
        </p:blipFill>
        <p:spPr>
          <a:xfrm>
            <a:off x="2768191" y="1398651"/>
            <a:ext cx="312581" cy="310403"/>
          </a:xfrm>
          <a:prstGeom prst="rect">
            <a:avLst/>
          </a:prstGeom>
          <a:noFill/>
          <a:ln>
            <a:noFill/>
          </a:ln>
        </p:spPr>
      </p:pic>
      <p:sp>
        <p:nvSpPr>
          <p:cNvPr id="46" name="Google Shape;513;p18">
            <a:extLst>
              <a:ext uri="{FF2B5EF4-FFF2-40B4-BE49-F238E27FC236}">
                <a16:creationId xmlns:a16="http://schemas.microsoft.com/office/drawing/2014/main" id="{9715AD54-106C-4D5D-BEB3-38CE84303E7E}"/>
              </a:ext>
            </a:extLst>
          </p:cNvPr>
          <p:cNvSpPr/>
          <p:nvPr/>
        </p:nvSpPr>
        <p:spPr>
          <a:xfrm>
            <a:off x="5781217" y="3744595"/>
            <a:ext cx="1147328"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7" name="Google Shape;514;p18">
            <a:extLst>
              <a:ext uri="{FF2B5EF4-FFF2-40B4-BE49-F238E27FC236}">
                <a16:creationId xmlns:a16="http://schemas.microsoft.com/office/drawing/2014/main" id="{0D918D11-02C3-4A3A-B137-A03CCF508DF7}"/>
              </a:ext>
            </a:extLst>
          </p:cNvPr>
          <p:cNvSpPr txBox="1"/>
          <p:nvPr/>
        </p:nvSpPr>
        <p:spPr>
          <a:xfrm>
            <a:off x="6055616" y="3712639"/>
            <a:ext cx="69364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8" name="Google Shape;515;p18">
            <a:extLst>
              <a:ext uri="{FF2B5EF4-FFF2-40B4-BE49-F238E27FC236}">
                <a16:creationId xmlns:a16="http://schemas.microsoft.com/office/drawing/2014/main" id="{3522639A-0C14-4E74-880D-2212AEFD3710}"/>
              </a:ext>
            </a:extLst>
          </p:cNvPr>
          <p:cNvSpPr/>
          <p:nvPr/>
        </p:nvSpPr>
        <p:spPr>
          <a:xfrm>
            <a:off x="5848403" y="4003263"/>
            <a:ext cx="1021708" cy="148107"/>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9" name="Google Shape;516;p18">
            <a:extLst>
              <a:ext uri="{FF2B5EF4-FFF2-40B4-BE49-F238E27FC236}">
                <a16:creationId xmlns:a16="http://schemas.microsoft.com/office/drawing/2014/main" id="{72D89EA0-AE48-4CCB-91AA-9901D1492F5D}"/>
              </a:ext>
            </a:extLst>
          </p:cNvPr>
          <p:cNvSpPr txBox="1"/>
          <p:nvPr/>
        </p:nvSpPr>
        <p:spPr>
          <a:xfrm>
            <a:off x="5848403" y="3978286"/>
            <a:ext cx="1021707" cy="184636"/>
          </a:xfrm>
          <a:prstGeom prst="rect">
            <a:avLst/>
          </a:prstGeom>
          <a:noFill/>
          <a:ln>
            <a:noFill/>
          </a:ln>
        </p:spPr>
        <p:txBody>
          <a:bodyPr spcFirstLastPara="1" wrap="square" lIns="68569" tIns="34275" rIns="68569" bIns="34275" anchor="t" anchorCtr="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50" name="Google Shape;517;p18">
            <a:extLst>
              <a:ext uri="{FF2B5EF4-FFF2-40B4-BE49-F238E27FC236}">
                <a16:creationId xmlns:a16="http://schemas.microsoft.com/office/drawing/2014/main" id="{C32EA7FD-28FF-4EA5-ACE1-A292E4BD8203}"/>
              </a:ext>
            </a:extLst>
          </p:cNvPr>
          <p:cNvCxnSpPr>
            <a:stCxn id="42" idx="3"/>
            <a:endCxn id="49" idx="1"/>
          </p:cNvCxnSpPr>
          <p:nvPr/>
        </p:nvCxnSpPr>
        <p:spPr>
          <a:xfrm>
            <a:off x="4311454" y="2350850"/>
            <a:ext cx="1536949" cy="1719754"/>
          </a:xfrm>
          <a:prstGeom prst="straightConnector1">
            <a:avLst/>
          </a:prstGeom>
          <a:noFill/>
          <a:ln w="9525" cap="flat" cmpd="sng">
            <a:solidFill>
              <a:srgbClr val="000000"/>
            </a:solidFill>
            <a:prstDash val="solid"/>
            <a:miter lim="800000"/>
            <a:headEnd type="none" w="sm" len="sm"/>
            <a:tailEnd type="triangle" w="med" len="med"/>
          </a:ln>
        </p:spPr>
      </p:cxnSp>
      <p:sp>
        <p:nvSpPr>
          <p:cNvPr id="51" name="Google Shape;518;p18">
            <a:extLst>
              <a:ext uri="{FF2B5EF4-FFF2-40B4-BE49-F238E27FC236}">
                <a16:creationId xmlns:a16="http://schemas.microsoft.com/office/drawing/2014/main" id="{95BD4359-9432-4EC1-A76A-86496E703D1E}"/>
              </a:ext>
            </a:extLst>
          </p:cNvPr>
          <p:cNvSpPr txBox="1"/>
          <p:nvPr/>
        </p:nvSpPr>
        <p:spPr>
          <a:xfrm>
            <a:off x="5301226" y="2972591"/>
            <a:ext cx="911728" cy="55396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Este grande lo pongo aquí</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52" name="Google Shape;519;p18">
            <a:extLst>
              <a:ext uri="{FF2B5EF4-FFF2-40B4-BE49-F238E27FC236}">
                <a16:creationId xmlns:a16="http://schemas.microsoft.com/office/drawing/2014/main" id="{27DE2731-E176-4102-BB6E-7B93A0E6C7CB}"/>
              </a:ext>
            </a:extLst>
          </p:cNvPr>
          <p:cNvSpPr/>
          <p:nvPr/>
        </p:nvSpPr>
        <p:spPr>
          <a:xfrm>
            <a:off x="4325032" y="4186597"/>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3" name="Google Shape;520;p18">
            <a:extLst>
              <a:ext uri="{FF2B5EF4-FFF2-40B4-BE49-F238E27FC236}">
                <a16:creationId xmlns:a16="http://schemas.microsoft.com/office/drawing/2014/main" id="{39DF93A3-1C81-4208-BB2D-CFDF18CAF393}"/>
              </a:ext>
            </a:extLst>
          </p:cNvPr>
          <p:cNvSpPr txBox="1"/>
          <p:nvPr/>
        </p:nvSpPr>
        <p:spPr>
          <a:xfrm>
            <a:off x="4302033" y="4161620"/>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4" name="Google Shape;521;p18">
            <a:extLst>
              <a:ext uri="{FF2B5EF4-FFF2-40B4-BE49-F238E27FC236}">
                <a16:creationId xmlns:a16="http://schemas.microsoft.com/office/drawing/2014/main" id="{773C551A-FF95-4EDE-A96E-20845E88A965}"/>
              </a:ext>
            </a:extLst>
          </p:cNvPr>
          <p:cNvSpPr/>
          <p:nvPr/>
        </p:nvSpPr>
        <p:spPr>
          <a:xfrm>
            <a:off x="4880674" y="4158699"/>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5" name="Google Shape;522;p18">
            <a:extLst>
              <a:ext uri="{FF2B5EF4-FFF2-40B4-BE49-F238E27FC236}">
                <a16:creationId xmlns:a16="http://schemas.microsoft.com/office/drawing/2014/main" id="{9614D18E-92BE-477A-BF60-7784A9A2200E}"/>
              </a:ext>
            </a:extLst>
          </p:cNvPr>
          <p:cNvSpPr txBox="1"/>
          <p:nvPr/>
        </p:nvSpPr>
        <p:spPr>
          <a:xfrm>
            <a:off x="4857674" y="4133722"/>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6" name="Google Shape;523;p18">
            <a:extLst>
              <a:ext uri="{FF2B5EF4-FFF2-40B4-BE49-F238E27FC236}">
                <a16:creationId xmlns:a16="http://schemas.microsoft.com/office/drawing/2014/main" id="{84273DB1-16AD-4CC5-9914-C7FA825343A5}"/>
              </a:ext>
            </a:extLst>
          </p:cNvPr>
          <p:cNvSpPr/>
          <p:nvPr/>
        </p:nvSpPr>
        <p:spPr>
          <a:xfrm>
            <a:off x="4375620" y="3962452"/>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7" name="Google Shape;524;p18">
            <a:extLst>
              <a:ext uri="{FF2B5EF4-FFF2-40B4-BE49-F238E27FC236}">
                <a16:creationId xmlns:a16="http://schemas.microsoft.com/office/drawing/2014/main" id="{84751081-CA10-4B95-84E3-78BEFAC1212C}"/>
              </a:ext>
            </a:extLst>
          </p:cNvPr>
          <p:cNvSpPr txBox="1"/>
          <p:nvPr/>
        </p:nvSpPr>
        <p:spPr>
          <a:xfrm>
            <a:off x="4352621" y="3937475"/>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cxnSp>
        <p:nvCxnSpPr>
          <p:cNvPr id="58" name="Google Shape;525;p18">
            <a:extLst>
              <a:ext uri="{FF2B5EF4-FFF2-40B4-BE49-F238E27FC236}">
                <a16:creationId xmlns:a16="http://schemas.microsoft.com/office/drawing/2014/main" id="{4A4BC8C9-45CA-4AF1-8A05-133519F7B051}"/>
              </a:ext>
            </a:extLst>
          </p:cNvPr>
          <p:cNvCxnSpPr>
            <a:stCxn id="29" idx="2"/>
          </p:cNvCxnSpPr>
          <p:nvPr/>
        </p:nvCxnSpPr>
        <p:spPr>
          <a:xfrm>
            <a:off x="3807572" y="2479426"/>
            <a:ext cx="29250" cy="1243800"/>
          </a:xfrm>
          <a:prstGeom prst="straightConnector1">
            <a:avLst/>
          </a:prstGeom>
          <a:noFill/>
          <a:ln w="9525" cap="flat" cmpd="sng">
            <a:solidFill>
              <a:srgbClr val="000000"/>
            </a:solidFill>
            <a:prstDash val="solid"/>
            <a:miter lim="800000"/>
            <a:headEnd type="none" w="sm" len="sm"/>
            <a:tailEnd type="triangle" w="med" len="med"/>
          </a:ln>
        </p:spPr>
      </p:cxnSp>
      <p:sp>
        <p:nvSpPr>
          <p:cNvPr id="59" name="Google Shape;526;p18">
            <a:extLst>
              <a:ext uri="{FF2B5EF4-FFF2-40B4-BE49-F238E27FC236}">
                <a16:creationId xmlns:a16="http://schemas.microsoft.com/office/drawing/2014/main" id="{3AF24703-DC50-4A71-B4D4-4F6A2AEC9516}"/>
              </a:ext>
            </a:extLst>
          </p:cNvPr>
          <p:cNvSpPr txBox="1"/>
          <p:nvPr/>
        </p:nvSpPr>
        <p:spPr>
          <a:xfrm>
            <a:off x="2977587" y="2759932"/>
            <a:ext cx="911728" cy="62321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Estos pequeños, a una </a:t>
            </a:r>
            <a:r>
              <a:rPr kumimoji="0" lang="es-ES" sz="1500" b="1" i="0" u="none" strike="noStrike" kern="0" cap="none" spc="0" normalizeH="0" baseline="0" noProof="0">
                <a:ln>
                  <a:noFill/>
                </a:ln>
                <a:solidFill>
                  <a:sysClr val="windowText" lastClr="000000"/>
                </a:solidFill>
                <a:effectLst/>
                <a:uLnTx/>
                <a:uFillTx/>
                <a:latin typeface="IBM Plex Sans" panose="020B0503050203000203" pitchFamily="34" charset="0"/>
              </a:rPr>
              <a:t>arena</a:t>
            </a:r>
            <a:endParaRPr kumimoji="0" sz="1050" b="1"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60" name="Google Shape;527;p18">
            <a:extLst>
              <a:ext uri="{FF2B5EF4-FFF2-40B4-BE49-F238E27FC236}">
                <a16:creationId xmlns:a16="http://schemas.microsoft.com/office/drawing/2014/main" id="{392078CC-ECBA-4E03-B3F3-6353A305C76A}"/>
              </a:ext>
            </a:extLst>
          </p:cNvPr>
          <p:cNvSpPr/>
          <p:nvPr/>
        </p:nvSpPr>
        <p:spPr>
          <a:xfrm>
            <a:off x="1309487" y="450273"/>
            <a:ext cx="1062756" cy="886493"/>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FFFF"/>
                </a:solidFill>
                <a:effectLst/>
                <a:uLnTx/>
                <a:uFillTx/>
                <a:latin typeface="IBM Plex Sans" panose="020B0503050203000203" pitchFamily="34" charset="0"/>
              </a:rPr>
              <a:t>I’m another java 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61" name="Google Shape;528;p18">
            <a:extLst>
              <a:ext uri="{FF2B5EF4-FFF2-40B4-BE49-F238E27FC236}">
                <a16:creationId xmlns:a16="http://schemas.microsoft.com/office/drawing/2014/main" id="{AAD024AA-3AB3-4E73-B6B9-A3D62584753D}"/>
              </a:ext>
            </a:extLst>
          </p:cNvPr>
          <p:cNvSpPr/>
          <p:nvPr/>
        </p:nvSpPr>
        <p:spPr>
          <a:xfrm>
            <a:off x="1305111" y="1522138"/>
            <a:ext cx="1119386" cy="523211"/>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2" name="Google Shape;529;p18">
            <a:extLst>
              <a:ext uri="{FF2B5EF4-FFF2-40B4-BE49-F238E27FC236}">
                <a16:creationId xmlns:a16="http://schemas.microsoft.com/office/drawing/2014/main" id="{F3A9F05B-DFB1-43DC-B138-C803E5E677EB}"/>
              </a:ext>
            </a:extLst>
          </p:cNvPr>
          <p:cNvSpPr/>
          <p:nvPr/>
        </p:nvSpPr>
        <p:spPr>
          <a:xfrm>
            <a:off x="1634859" y="1799135"/>
            <a:ext cx="324023"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3" name="Google Shape;530;p18">
            <a:extLst>
              <a:ext uri="{FF2B5EF4-FFF2-40B4-BE49-F238E27FC236}">
                <a16:creationId xmlns:a16="http://schemas.microsoft.com/office/drawing/2014/main" id="{7B52A52D-B455-491D-A2A3-57403901250F}"/>
              </a:ext>
            </a:extLst>
          </p:cNvPr>
          <p:cNvSpPr/>
          <p:nvPr/>
        </p:nvSpPr>
        <p:spPr>
          <a:xfrm>
            <a:off x="2029523" y="1548643"/>
            <a:ext cx="195700" cy="420884"/>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4" name="Google Shape;531;p18">
            <a:extLst>
              <a:ext uri="{FF2B5EF4-FFF2-40B4-BE49-F238E27FC236}">
                <a16:creationId xmlns:a16="http://schemas.microsoft.com/office/drawing/2014/main" id="{2772B7E8-A020-4CF5-9059-8BDE6F13AFB8}"/>
              </a:ext>
            </a:extLst>
          </p:cNvPr>
          <p:cNvSpPr/>
          <p:nvPr/>
        </p:nvSpPr>
        <p:spPr>
          <a:xfrm>
            <a:off x="1382333" y="1571504"/>
            <a:ext cx="505054" cy="184666"/>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5" name="Google Shape;532;p18">
            <a:extLst>
              <a:ext uri="{FF2B5EF4-FFF2-40B4-BE49-F238E27FC236}">
                <a16:creationId xmlns:a16="http://schemas.microsoft.com/office/drawing/2014/main" id="{B8DEBB7C-C8F3-43FF-B836-47BBF3E35F00}"/>
              </a:ext>
            </a:extLst>
          </p:cNvPr>
          <p:cNvSpPr/>
          <p:nvPr/>
        </p:nvSpPr>
        <p:spPr>
          <a:xfrm>
            <a:off x="1457067" y="3749430"/>
            <a:ext cx="1913672"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6" name="Google Shape;533;p18">
            <a:extLst>
              <a:ext uri="{FF2B5EF4-FFF2-40B4-BE49-F238E27FC236}">
                <a16:creationId xmlns:a16="http://schemas.microsoft.com/office/drawing/2014/main" id="{10803AA0-2991-4179-9351-CC520233EF90}"/>
              </a:ext>
            </a:extLst>
          </p:cNvPr>
          <p:cNvSpPr txBox="1"/>
          <p:nvPr/>
        </p:nvSpPr>
        <p:spPr>
          <a:xfrm>
            <a:off x="1457068" y="3723224"/>
            <a:ext cx="2023634"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malloc arena #2 (mmap)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67" name="Google Shape;534;p18">
            <a:extLst>
              <a:ext uri="{FF2B5EF4-FFF2-40B4-BE49-F238E27FC236}">
                <a16:creationId xmlns:a16="http://schemas.microsoft.com/office/drawing/2014/main" id="{07BC7EDB-EA4C-4110-B7E1-CD08E49F2711}"/>
              </a:ext>
            </a:extLst>
          </p:cNvPr>
          <p:cNvCxnSpPr>
            <a:stCxn id="61" idx="2"/>
          </p:cNvCxnSpPr>
          <p:nvPr/>
        </p:nvCxnSpPr>
        <p:spPr>
          <a:xfrm>
            <a:off x="1864804" y="2045348"/>
            <a:ext cx="22500" cy="1693800"/>
          </a:xfrm>
          <a:prstGeom prst="straightConnector1">
            <a:avLst/>
          </a:prstGeom>
          <a:noFill/>
          <a:ln w="9525" cap="flat" cmpd="sng">
            <a:solidFill>
              <a:srgbClr val="000000"/>
            </a:solidFill>
            <a:prstDash val="solid"/>
            <a:miter lim="800000"/>
            <a:headEnd type="none" w="sm" len="sm"/>
            <a:tailEnd type="triangle" w="med" len="med"/>
          </a:ln>
        </p:spPr>
      </p:cxnSp>
      <p:sp>
        <p:nvSpPr>
          <p:cNvPr id="68" name="Google Shape;535;p18">
            <a:extLst>
              <a:ext uri="{FF2B5EF4-FFF2-40B4-BE49-F238E27FC236}">
                <a16:creationId xmlns:a16="http://schemas.microsoft.com/office/drawing/2014/main" id="{781FAF65-08D4-4B65-9210-C8DD168DA35E}"/>
              </a:ext>
            </a:extLst>
          </p:cNvPr>
          <p:cNvSpPr/>
          <p:nvPr/>
        </p:nvSpPr>
        <p:spPr>
          <a:xfrm>
            <a:off x="2405751" y="4199239"/>
            <a:ext cx="324023"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9" name="Google Shape;536;p18">
            <a:extLst>
              <a:ext uri="{FF2B5EF4-FFF2-40B4-BE49-F238E27FC236}">
                <a16:creationId xmlns:a16="http://schemas.microsoft.com/office/drawing/2014/main" id="{F0474D7F-6A97-4922-B3B3-4BA1F2FF66E4}"/>
              </a:ext>
            </a:extLst>
          </p:cNvPr>
          <p:cNvSpPr/>
          <p:nvPr/>
        </p:nvSpPr>
        <p:spPr>
          <a:xfrm>
            <a:off x="2808789" y="3973317"/>
            <a:ext cx="195700" cy="420884"/>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70" name="Google Shape;537;p18">
            <a:extLst>
              <a:ext uri="{FF2B5EF4-FFF2-40B4-BE49-F238E27FC236}">
                <a16:creationId xmlns:a16="http://schemas.microsoft.com/office/drawing/2014/main" id="{F649E892-D6E7-49C3-A858-8BF53B5AB6A9}"/>
              </a:ext>
            </a:extLst>
          </p:cNvPr>
          <p:cNvSpPr/>
          <p:nvPr/>
        </p:nvSpPr>
        <p:spPr>
          <a:xfrm>
            <a:off x="2169402" y="3960749"/>
            <a:ext cx="505054" cy="184666"/>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endParaRPr>
          </a:p>
        </p:txBody>
      </p:sp>
    </p:spTree>
    <p:extLst>
      <p:ext uri="{BB962C8B-B14F-4D97-AF65-F5344CB8AC3E}">
        <p14:creationId xmlns:p14="http://schemas.microsoft.com/office/powerpoint/2010/main" val="289889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5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6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6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6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5"/>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6"/>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Java Virtual Threads en Linux</a:t>
            </a:r>
            <a:endParaRPr dirty="0"/>
          </a:p>
        </p:txBody>
      </p:sp>
      <p:sp>
        <p:nvSpPr>
          <p:cNvPr id="158" name="Google Shape;15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ES" dirty="0"/>
              <a:t>Project LOOM</a:t>
            </a:r>
            <a:endParaRPr dirty="0"/>
          </a:p>
        </p:txBody>
      </p:sp>
    </p:spTree>
    <p:extLst>
      <p:ext uri="{BB962C8B-B14F-4D97-AF65-F5344CB8AC3E}">
        <p14:creationId xmlns:p14="http://schemas.microsoft.com/office/powerpoint/2010/main" val="2813391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134035" y="1111318"/>
            <a:ext cx="7483491" cy="3398336"/>
          </a:xfrm>
          <a:prstGeom prst="rect">
            <a:avLst/>
          </a:prstGeom>
        </p:spPr>
        <p:txBody>
          <a:bodyPr spcFirstLastPara="1" wrap="square" lIns="91425" tIns="91425" rIns="91425" bIns="91425" anchor="t" anchorCtr="0">
            <a:noAutofit/>
          </a:bodyPr>
          <a:lstStyle/>
          <a:p>
            <a:pPr algn="l" fontAlgn="base">
              <a:buFont typeface="Arial" panose="020B0604020202020204" pitchFamily="34" charset="0"/>
              <a:buChar char="•"/>
            </a:pPr>
            <a:r>
              <a:rPr lang="es-ES" sz="1200" b="1" dirty="0">
                <a:latin typeface="IBM Plex Sans" panose="020B0503050203000203" pitchFamily="34" charset="0"/>
              </a:rPr>
              <a:t>Hilos pesados</a:t>
            </a:r>
            <a:r>
              <a:rPr lang="es-ES" sz="1200" dirty="0">
                <a:latin typeface="IBM Plex Sans" panose="020B0503050203000203" pitchFamily="34" charset="0"/>
              </a:rPr>
              <a:t>: Cada hilo de Java es una envoltura de un hilo nativo del sistema operativo, y su creación y gestión son costosas.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Bloqueo</a:t>
            </a:r>
            <a:r>
              <a:rPr lang="es-ES" sz="1200" dirty="0">
                <a:latin typeface="IBM Plex Sans" panose="020B0503050203000203" pitchFamily="34" charset="0"/>
              </a:rPr>
              <a:t>: Los hilos tradicionales consumen un recurso del sistema operativo (como un hilo del </a:t>
            </a:r>
            <a:r>
              <a:rPr lang="es-ES" sz="1200" dirty="0" err="1">
                <a:latin typeface="IBM Plex Sans" panose="020B0503050203000203" pitchFamily="34" charset="0"/>
              </a:rPr>
              <a:t>kernel</a:t>
            </a:r>
            <a:r>
              <a:rPr lang="es-ES" sz="1200" dirty="0">
                <a:latin typeface="IBM Plex Sans" panose="020B0503050203000203" pitchFamily="34" charset="0"/>
              </a:rPr>
              <a:t>), incluso cuando están bloqueados (por ejemplo, esperando E/S).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Escalabilidad limitada: </a:t>
            </a:r>
            <a:r>
              <a:rPr lang="es-ES" sz="1200" dirty="0">
                <a:latin typeface="IBM Plex Sans" panose="020B0503050203000203" pitchFamily="34" charset="0"/>
              </a:rPr>
              <a:t>Debido a que los hilos del sistema operativo tienen un consumo de memoria significativo y requieren recursos de CPU sustanciales, la cantidad de hilos que una aplicación puede gestionar es limitada.</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Gestionado por el planificador del sistema operativo: </a:t>
            </a:r>
            <a:r>
              <a:rPr lang="es-ES" sz="1200" dirty="0">
                <a:latin typeface="IBM Plex Sans" panose="020B0503050203000203" pitchFamily="34" charset="0"/>
              </a:rPr>
              <a:t>El planificador del sistema operativo decide qué hilos ejecutar y cuándo. Esto puede generar sobrecargas de cambio de contexto que se vuelven considerables con una gran cantidad de hilos.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Gestión de memoria</a:t>
            </a:r>
            <a:r>
              <a:rPr lang="es-ES" sz="1200" dirty="0">
                <a:latin typeface="IBM Plex Sans" panose="020B0503050203000203" pitchFamily="34" charset="0"/>
              </a:rPr>
              <a:t>: cada thread va a abrir su propia arena, consumiendo mucha memoria off-heap para buffers de memoria directa.</a:t>
            </a:r>
            <a:endParaRPr lang="en-US" sz="1200" dirty="0">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Platform threads: problemas a resolver</a:t>
            </a:r>
            <a:endParaRPr dirty="0"/>
          </a:p>
        </p:txBody>
      </p:sp>
    </p:spTree>
    <p:extLst>
      <p:ext uri="{BB962C8B-B14F-4D97-AF65-F5344CB8AC3E}">
        <p14:creationId xmlns:p14="http://schemas.microsoft.com/office/powerpoint/2010/main" val="4124852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7170" name="Picture 2" descr="LOOM: la aventura gráfica más mágica y mejor ambientada">
            <a:extLst>
              <a:ext uri="{FF2B5EF4-FFF2-40B4-BE49-F238E27FC236}">
                <a16:creationId xmlns:a16="http://schemas.microsoft.com/office/drawing/2014/main" id="{F205000E-F5A1-47C4-B69D-0240A206B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95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fontScale="77500" lnSpcReduction="20000"/>
          </a:bodyPr>
          <a:lstStyle/>
          <a:p>
            <a:pPr marL="285750" indent="-285750"/>
            <a:r>
              <a:rPr lang="es-ES" b="0" i="0" dirty="0">
                <a:solidFill>
                  <a:schemeClr val="tx1"/>
                </a:solidFill>
                <a:effectLst/>
                <a:latin typeface="IBM Plex Sans" panose="020B0503050203000203" pitchFamily="34" charset="0"/>
              </a:rPr>
              <a:t>El </a:t>
            </a:r>
            <a:r>
              <a:rPr lang="es-ES" b="1" i="0" dirty="0">
                <a:solidFill>
                  <a:schemeClr val="tx1"/>
                </a:solidFill>
                <a:effectLst/>
                <a:latin typeface="IBM Plex Sans" panose="020B0503050203000203" pitchFamily="34" charset="0"/>
              </a:rPr>
              <a:t>Proyecto </a:t>
            </a:r>
            <a:r>
              <a:rPr lang="es-ES" b="1" i="0" dirty="0" err="1">
                <a:solidFill>
                  <a:schemeClr val="tx1"/>
                </a:solidFill>
                <a:effectLst/>
                <a:latin typeface="IBM Plex Sans" panose="020B0503050203000203" pitchFamily="34" charset="0"/>
              </a:rPr>
              <a:t>Loom</a:t>
            </a:r>
            <a:r>
              <a:rPr lang="es-ES" b="0" i="0" dirty="0">
                <a:solidFill>
                  <a:schemeClr val="tx1"/>
                </a:solidFill>
                <a:effectLst/>
                <a:latin typeface="IBM Plex Sans" panose="020B0503050203000203" pitchFamily="34" charset="0"/>
              </a:rPr>
              <a:t> es una iniciativa de </a:t>
            </a:r>
            <a:r>
              <a:rPr lang="es-ES" b="1" i="0" dirty="0">
                <a:solidFill>
                  <a:schemeClr val="tx1"/>
                </a:solidFill>
                <a:effectLst/>
                <a:latin typeface="IBM Plex Sans" panose="020B0503050203000203" pitchFamily="34" charset="0"/>
              </a:rPr>
              <a:t>OpenJDK</a:t>
            </a:r>
            <a:r>
              <a:rPr lang="es-ES" b="0" i="0" dirty="0">
                <a:solidFill>
                  <a:schemeClr val="tx1"/>
                </a:solidFill>
                <a:effectLst/>
                <a:latin typeface="IBM Plex Sans" panose="020B0503050203000203" pitchFamily="34" charset="0"/>
              </a:rPr>
              <a:t> (el proyecto de código abierto de Java) liderada principalmente por </a:t>
            </a:r>
            <a:r>
              <a:rPr lang="es-ES" b="1" i="0" dirty="0">
                <a:solidFill>
                  <a:schemeClr val="tx1"/>
                </a:solidFill>
                <a:effectLst/>
                <a:latin typeface="IBM Plex Sans" panose="020B0503050203000203" pitchFamily="34" charset="0"/>
              </a:rPr>
              <a:t>Ron </a:t>
            </a:r>
            <a:r>
              <a:rPr lang="es-ES" b="1" i="0" dirty="0" err="1">
                <a:solidFill>
                  <a:schemeClr val="tx1"/>
                </a:solidFill>
                <a:effectLst/>
                <a:latin typeface="IBM Plex Sans" panose="020B0503050203000203" pitchFamily="34" charset="0"/>
              </a:rPr>
              <a:t>Pressler</a:t>
            </a:r>
            <a:endParaRPr lang="es-ES" dirty="0">
              <a:solidFill>
                <a:schemeClr val="tx1"/>
              </a:solidFill>
              <a:latin typeface="IBM Plex Sans" panose="020B0503050203000203" pitchFamily="34" charset="0"/>
            </a:endParaRPr>
          </a:p>
          <a:p>
            <a:pPr marL="285750" indent="-285750"/>
            <a:endParaRPr lang="es-ES" b="0" i="0" dirty="0">
              <a:solidFill>
                <a:schemeClr val="tx1"/>
              </a:solidFill>
              <a:effectLst/>
              <a:latin typeface="IBM Plex Sans" panose="020B0503050203000203" pitchFamily="34" charset="0"/>
            </a:endParaRPr>
          </a:p>
          <a:p>
            <a:pPr marL="285750" indent="-285750"/>
            <a:r>
              <a:rPr lang="es-ES" b="0" i="0" dirty="0">
                <a:solidFill>
                  <a:schemeClr val="tx1"/>
                </a:solidFill>
                <a:effectLst/>
                <a:latin typeface="IBM Plex Sans" panose="020B0503050203000203" pitchFamily="34" charset="0"/>
              </a:rPr>
              <a:t>Su objetivo es introducir una forma de </a:t>
            </a:r>
            <a:r>
              <a:rPr lang="es-ES" b="1" i="0" dirty="0">
                <a:solidFill>
                  <a:schemeClr val="tx1"/>
                </a:solidFill>
                <a:effectLst/>
                <a:latin typeface="IBM Plex Sans" panose="020B0503050203000203" pitchFamily="34" charset="0"/>
              </a:rPr>
              <a:t>concurrencia ligera en la plataforma Java </a:t>
            </a:r>
            <a:r>
              <a:rPr lang="es-ES" b="0" i="0" dirty="0">
                <a:solidFill>
                  <a:schemeClr val="tx1"/>
                </a:solidFill>
                <a:effectLst/>
                <a:latin typeface="IBM Plex Sans" panose="020B0503050203000203" pitchFamily="34" charset="0"/>
              </a:rPr>
              <a:t>para que las aplicaciones </a:t>
            </a:r>
            <a:r>
              <a:rPr lang="es-ES" b="1" i="0" dirty="0">
                <a:solidFill>
                  <a:schemeClr val="tx1"/>
                </a:solidFill>
                <a:effectLst/>
                <a:latin typeface="IBM Plex Sans" panose="020B0503050203000203" pitchFamily="34" charset="0"/>
              </a:rPr>
              <a:t>puedan escalar masivamente sin la complejidad de la programación asíncrona</a:t>
            </a:r>
            <a:r>
              <a:rPr lang="es-ES" b="0" i="0" dirty="0">
                <a:solidFill>
                  <a:schemeClr val="tx1"/>
                </a:solidFill>
                <a:effectLst/>
                <a:latin typeface="IBM Plex Sans" panose="020B0503050203000203" pitchFamily="34" charset="0"/>
              </a:rPr>
              <a:t>. Sus dos pilares son: </a:t>
            </a:r>
          </a:p>
          <a:p>
            <a:pPr marL="285750" indent="-285750"/>
            <a:endParaRPr lang="es-ES" b="0" i="0" dirty="0">
              <a:solidFill>
                <a:schemeClr val="tx1"/>
              </a:solidFill>
              <a:effectLst/>
              <a:latin typeface="IBM Plex Sans" panose="020B0503050203000203" pitchFamily="34" charset="0"/>
            </a:endParaRPr>
          </a:p>
          <a:p>
            <a:pPr marL="742950" lvl="1" indent="-285750"/>
            <a:r>
              <a:rPr lang="es-ES" sz="1900" b="1" i="0" dirty="0">
                <a:solidFill>
                  <a:schemeClr val="tx1"/>
                </a:solidFill>
                <a:effectLst/>
                <a:latin typeface="IBM Plex Sans" panose="020B0503050203000203" pitchFamily="34" charset="0"/>
              </a:rPr>
              <a:t>Virtual Threads </a:t>
            </a:r>
            <a:r>
              <a:rPr lang="es-ES" sz="1900" b="0" i="0" dirty="0">
                <a:solidFill>
                  <a:schemeClr val="tx1"/>
                </a:solidFill>
                <a:effectLst/>
                <a:latin typeface="IBM Plex Sans" panose="020B0503050203000203" pitchFamily="34" charset="0"/>
              </a:rPr>
              <a:t>(Hilos Virtuales): Hilos mucho más ligeros que los tradicionales del sistema operativo, permitiendo crear millones de ellos con un coste mínimo.</a:t>
            </a:r>
          </a:p>
          <a:p>
            <a:pPr marL="742950" lvl="1" indent="-285750"/>
            <a:endParaRPr lang="es-ES" sz="1900" b="0" i="0" dirty="0">
              <a:solidFill>
                <a:schemeClr val="tx1"/>
              </a:solidFill>
              <a:effectLst/>
              <a:latin typeface="IBM Plex Sans" panose="020B0503050203000203" pitchFamily="34" charset="0"/>
            </a:endParaRPr>
          </a:p>
          <a:p>
            <a:pPr marL="742950" lvl="1" indent="-285750"/>
            <a:r>
              <a:rPr lang="es-ES" sz="1900" b="1" i="0" dirty="0" err="1">
                <a:solidFill>
                  <a:schemeClr val="tx1"/>
                </a:solidFill>
                <a:effectLst/>
                <a:latin typeface="IBM Plex Sans" panose="020B0503050203000203" pitchFamily="34" charset="0"/>
              </a:rPr>
              <a:t>Continuations</a:t>
            </a:r>
            <a:r>
              <a:rPr lang="es-ES" sz="1900" b="0" i="0" dirty="0">
                <a:solidFill>
                  <a:schemeClr val="tx1"/>
                </a:solidFill>
                <a:effectLst/>
                <a:latin typeface="IBM Plex Sans" panose="020B0503050203000203" pitchFamily="34" charset="0"/>
              </a:rPr>
              <a:t>: El mecanismo interno que permite pausar y reanudar la ejecución de un hilo de forma eficiente</a:t>
            </a:r>
          </a:p>
          <a:p>
            <a:pPr marL="285750" indent="-285750"/>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Tree>
    <p:extLst>
      <p:ext uri="{BB962C8B-B14F-4D97-AF65-F5344CB8AC3E}">
        <p14:creationId xmlns:p14="http://schemas.microsoft.com/office/powerpoint/2010/main" val="1349377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fontScale="70000" lnSpcReduction="20000"/>
          </a:bodyPr>
          <a:lstStyle/>
          <a:p>
            <a:pPr marL="285750" indent="-285750"/>
            <a:r>
              <a:rPr lang="es-ES" b="1" i="0" dirty="0">
                <a:solidFill>
                  <a:schemeClr val="tx1"/>
                </a:solidFill>
                <a:effectLst/>
                <a:latin typeface="IBM Plex Sans" panose="020B0503050203000203" pitchFamily="34" charset="0"/>
              </a:rPr>
              <a:t>Ligeros</a:t>
            </a:r>
            <a:r>
              <a:rPr lang="es-ES" b="0" i="0" dirty="0">
                <a:solidFill>
                  <a:schemeClr val="tx1"/>
                </a:solidFill>
                <a:effectLst/>
                <a:latin typeface="IBM Plex Sans" panose="020B0503050203000203" pitchFamily="34" charset="0"/>
              </a:rPr>
              <a:t>: Los hilos virtuales son económicos de crear y eliminar, ya que </a:t>
            </a:r>
            <a:r>
              <a:rPr lang="es-ES" b="1" i="0" dirty="0">
                <a:solidFill>
                  <a:schemeClr val="tx1"/>
                </a:solidFill>
                <a:effectLst/>
                <a:latin typeface="IBM Plex Sans" panose="020B0503050203000203" pitchFamily="34" charset="0"/>
              </a:rPr>
              <a:t>no tienen una correspondencia uno a uno con los hilos del sistema operativo</a:t>
            </a:r>
            <a:r>
              <a:rPr lang="es-ES" b="0" i="0" dirty="0">
                <a:solidFill>
                  <a:schemeClr val="tx1"/>
                </a:solidFill>
                <a:effectLst/>
                <a:latin typeface="IBM Plex Sans" panose="020B0503050203000203" pitchFamily="34" charset="0"/>
              </a:rPr>
              <a:t>.</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Sin bloqueo por diseño</a:t>
            </a:r>
            <a:r>
              <a:rPr lang="es-ES" b="0" i="0" dirty="0">
                <a:solidFill>
                  <a:schemeClr val="tx1"/>
                </a:solidFill>
                <a:effectLst/>
                <a:latin typeface="IBM Plex Sans" panose="020B0503050203000203" pitchFamily="34" charset="0"/>
              </a:rPr>
              <a:t>: Si un hilo virtual se bloquea, </a:t>
            </a:r>
            <a:r>
              <a:rPr lang="es-ES" b="1" i="0" dirty="0">
                <a:solidFill>
                  <a:schemeClr val="tx1"/>
                </a:solidFill>
                <a:effectLst/>
                <a:latin typeface="IBM Plex Sans" panose="020B0503050203000203" pitchFamily="34" charset="0"/>
              </a:rPr>
              <a:t>cede el control a la JVM en lugar de bloquear un hilo del sistema operativo</a:t>
            </a:r>
            <a:r>
              <a:rPr lang="es-ES" b="0" i="0" dirty="0">
                <a:solidFill>
                  <a:schemeClr val="tx1"/>
                </a:solidFill>
                <a:effectLst/>
                <a:latin typeface="IBM Plex Sans" panose="020B0503050203000203" pitchFamily="34" charset="0"/>
              </a:rPr>
              <a:t>, lo que permite al sistema gestionar más tareas concurrentes sin consumir tantos recursos.</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Altamente escalables</a:t>
            </a:r>
            <a:r>
              <a:rPr lang="es-ES" b="0" i="0" dirty="0">
                <a:solidFill>
                  <a:schemeClr val="tx1"/>
                </a:solidFill>
                <a:effectLst/>
                <a:latin typeface="IBM Plex Sans" panose="020B0503050203000203" pitchFamily="34" charset="0"/>
              </a:rPr>
              <a:t>: Se pueden crear </a:t>
            </a:r>
            <a:r>
              <a:rPr lang="es-ES" b="1" i="0" dirty="0">
                <a:solidFill>
                  <a:schemeClr val="tx1"/>
                </a:solidFill>
                <a:effectLst/>
                <a:latin typeface="IBM Plex Sans" panose="020B0503050203000203" pitchFamily="34" charset="0"/>
              </a:rPr>
              <a:t>millones de hilos virtuales en Java</a:t>
            </a:r>
            <a:r>
              <a:rPr lang="es-ES" b="0" i="0" dirty="0">
                <a:solidFill>
                  <a:schemeClr val="tx1"/>
                </a:solidFill>
                <a:effectLst/>
                <a:latin typeface="IBM Plex Sans" panose="020B0503050203000203" pitchFamily="34" charset="0"/>
              </a:rPr>
              <a:t>, lo que los hace altamente escalables para aplicaciones con uso intensivo de E/S.</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Gestionados por el planificador de la JVM</a:t>
            </a:r>
            <a:r>
              <a:rPr lang="es-ES" b="0" i="0" dirty="0">
                <a:solidFill>
                  <a:schemeClr val="tx1"/>
                </a:solidFill>
                <a:effectLst/>
                <a:latin typeface="IBM Plex Sans" panose="020B0503050203000203" pitchFamily="34" charset="0"/>
              </a:rPr>
              <a:t>: Los hilos virtuales son </a:t>
            </a:r>
            <a:r>
              <a:rPr lang="es-ES" b="1" i="0" dirty="0">
                <a:solidFill>
                  <a:schemeClr val="tx1"/>
                </a:solidFill>
                <a:effectLst/>
                <a:latin typeface="IBM Plex Sans" panose="020B0503050203000203" pitchFamily="34" charset="0"/>
              </a:rPr>
              <a:t>planificados y gestionados por la JVM en lugar del sistema operativo</a:t>
            </a:r>
            <a:r>
              <a:rPr lang="es-ES" b="0" i="0" dirty="0">
                <a:solidFill>
                  <a:schemeClr val="tx1"/>
                </a:solidFill>
                <a:effectLst/>
                <a:latin typeface="IBM Plex Sans" panose="020B0503050203000203" pitchFamily="34" charset="0"/>
              </a:rPr>
              <a:t>. La JVM utiliza un número menor de hilos del sistema operativo (un pool) para ejecutar un gran número de hilos virtuales.</a:t>
            </a:r>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Virtual Threads</a:t>
            </a:r>
            <a:endParaRPr dirty="0"/>
          </a:p>
        </p:txBody>
      </p:sp>
    </p:spTree>
    <p:extLst>
      <p:ext uri="{BB962C8B-B14F-4D97-AF65-F5344CB8AC3E}">
        <p14:creationId xmlns:p14="http://schemas.microsoft.com/office/powerpoint/2010/main" val="3333124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err="1"/>
              <a:t>Continuations</a:t>
            </a:r>
            <a:endParaRPr dirty="0"/>
          </a:p>
        </p:txBody>
      </p:sp>
      <p:pic>
        <p:nvPicPr>
          <p:cNvPr id="9218" name="Picture 2" descr="Demystifying Virtual Threads in Java: Revolutionising Concurrency in Modern  Java Applications | by Rakesh Pandit | Medium">
            <a:extLst>
              <a:ext uri="{FF2B5EF4-FFF2-40B4-BE49-F238E27FC236}">
                <a16:creationId xmlns:a16="http://schemas.microsoft.com/office/drawing/2014/main" id="{056018B2-B4BB-40DA-BB8A-D3F9FD307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6727" y="422563"/>
            <a:ext cx="4298373" cy="4298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756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b="1" i="0" dirty="0">
                <a:solidFill>
                  <a:schemeClr val="tx1"/>
                </a:solidFill>
                <a:effectLst/>
                <a:latin typeface="IBM Plex Sans" panose="020B0503050203000203" pitchFamily="34" charset="0"/>
              </a:rPr>
              <a:t>Antes del proyecto </a:t>
            </a:r>
            <a:r>
              <a:rPr lang="es-ES" b="1" i="0" dirty="0" err="1">
                <a:solidFill>
                  <a:schemeClr val="tx1"/>
                </a:solidFill>
                <a:effectLst/>
                <a:latin typeface="IBM Plex Sans" panose="020B0503050203000203" pitchFamily="34" charset="0"/>
              </a:rPr>
              <a:t>loom</a:t>
            </a:r>
            <a:r>
              <a:rPr lang="es-ES" i="0" dirty="0">
                <a:solidFill>
                  <a:schemeClr val="tx1"/>
                </a:solidFill>
                <a:effectLst/>
                <a:latin typeface="IBM Plex Sans" panose="020B0503050203000203" pitchFamily="34" charset="0"/>
              </a:rPr>
              <a:t>, hemos aprendido a desarrollar </a:t>
            </a:r>
            <a:r>
              <a:rPr lang="es-ES" b="1" i="0" dirty="0">
                <a:solidFill>
                  <a:schemeClr val="tx1"/>
                </a:solidFill>
                <a:effectLst/>
                <a:latin typeface="IBM Plex Sans" panose="020B0503050203000203" pitchFamily="34" charset="0"/>
              </a:rPr>
              <a:t>código asíncrono/reactivo</a:t>
            </a:r>
            <a:r>
              <a:rPr lang="es-ES" i="0" dirty="0">
                <a:solidFill>
                  <a:schemeClr val="tx1"/>
                </a:solidFill>
                <a:effectLst/>
                <a:latin typeface="IBM Plex Sans" panose="020B0503050203000203" pitchFamily="34" charset="0"/>
              </a:rPr>
              <a:t> con Project </a:t>
            </a:r>
            <a:r>
              <a:rPr lang="es-ES" dirty="0">
                <a:solidFill>
                  <a:schemeClr val="tx1"/>
                </a:solidFill>
                <a:latin typeface="IBM Plex Sans" panose="020B0503050203000203" pitchFamily="34" charset="0"/>
              </a:rPr>
              <a:t>Reactor, APIs Future, </a:t>
            </a:r>
            <a:r>
              <a:rPr lang="es-ES" dirty="0" err="1">
                <a:solidFill>
                  <a:schemeClr val="tx1"/>
                </a:solidFill>
                <a:latin typeface="IBM Plex Sans" panose="020B0503050203000203" pitchFamily="34" charset="0"/>
              </a:rPr>
              <a:t>CompletableFuture</a:t>
            </a:r>
            <a:r>
              <a:rPr lang="es-ES" dirty="0">
                <a:solidFill>
                  <a:schemeClr val="tx1"/>
                </a:solidFill>
                <a:latin typeface="IBM Plex Sans" panose="020B0503050203000203" pitchFamily="34" charset="0"/>
              </a:rPr>
              <a:t> o </a:t>
            </a:r>
            <a:r>
              <a:rPr lang="es-ES" dirty="0" err="1">
                <a:solidFill>
                  <a:schemeClr val="tx1"/>
                </a:solidFill>
                <a:latin typeface="IBM Plex Sans" panose="020B0503050203000203" pitchFamily="34" charset="0"/>
              </a:rPr>
              <a:t>WebFlux</a:t>
            </a:r>
            <a:r>
              <a:rPr lang="es-ES" dirty="0">
                <a:solidFill>
                  <a:schemeClr val="tx1"/>
                </a:solidFill>
                <a:latin typeface="IBM Plex Sans" panose="020B0503050203000203" pitchFamily="34" charset="0"/>
              </a:rPr>
              <a:t> para evitar loa bloqueos del hilo de plataforma.</a:t>
            </a:r>
          </a:p>
          <a:p>
            <a:pPr marL="285750" indent="-285750"/>
            <a:endParaRPr lang="es-ES" dirty="0">
              <a:solidFill>
                <a:schemeClr val="tx1"/>
              </a:solidFill>
              <a:latin typeface="IBM Plex Sans" panose="020B0503050203000203" pitchFamily="34" charset="0"/>
            </a:endParaRPr>
          </a:p>
          <a:p>
            <a:pPr marL="285750" indent="-285750"/>
            <a:r>
              <a:rPr lang="es-ES" dirty="0">
                <a:solidFill>
                  <a:schemeClr val="tx1"/>
                </a:solidFill>
                <a:latin typeface="IBM Plex Sans" panose="020B0503050203000203" pitchFamily="34" charset="0"/>
              </a:rPr>
              <a:t>Con </a:t>
            </a:r>
            <a:r>
              <a:rPr lang="es-ES" b="1" dirty="0">
                <a:solidFill>
                  <a:schemeClr val="tx1"/>
                </a:solidFill>
                <a:latin typeface="IBM Plex Sans" panose="020B0503050203000203" pitchFamily="34" charset="0"/>
              </a:rPr>
              <a:t>Virtual Threads</a:t>
            </a:r>
            <a:r>
              <a:rPr lang="es-ES" dirty="0">
                <a:solidFill>
                  <a:schemeClr val="tx1"/>
                </a:solidFill>
                <a:latin typeface="IBM Plex Sans" panose="020B0503050203000203" pitchFamily="34" charset="0"/>
              </a:rPr>
              <a:t>, ya </a:t>
            </a:r>
            <a:r>
              <a:rPr lang="es-ES" b="1" dirty="0">
                <a:solidFill>
                  <a:schemeClr val="tx1"/>
                </a:solidFill>
                <a:latin typeface="IBM Plex Sans" panose="020B0503050203000203" pitchFamily="34" charset="0"/>
              </a:rPr>
              <a:t>no es necesario </a:t>
            </a:r>
            <a:r>
              <a:rPr lang="es-ES" dirty="0">
                <a:solidFill>
                  <a:schemeClr val="tx1"/>
                </a:solidFill>
                <a:latin typeface="IBM Plex Sans" panose="020B0503050203000203" pitchFamily="34" charset="0"/>
              </a:rPr>
              <a:t>este tipo de programación: lambdas + orquestación. </a:t>
            </a: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Código reactivo</a:t>
            </a:r>
            <a:endParaRPr dirty="0"/>
          </a:p>
        </p:txBody>
      </p:sp>
    </p:spTree>
    <p:extLst>
      <p:ext uri="{BB962C8B-B14F-4D97-AF65-F5344CB8AC3E}">
        <p14:creationId xmlns:p14="http://schemas.microsoft.com/office/powerpoint/2010/main" val="2441814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Jose</a:t>
            </a:r>
            <a:endParaRPr dirty="0"/>
          </a:p>
        </p:txBody>
      </p:sp>
      <p:sp>
        <p:nvSpPr>
          <p:cNvPr id="3" name="Subtítulo 2">
            <a:extLst>
              <a:ext uri="{FF2B5EF4-FFF2-40B4-BE49-F238E27FC236}">
                <a16:creationId xmlns:a16="http://schemas.microsoft.com/office/drawing/2014/main" id="{A2B599CC-FF53-4589-A793-200A70228DC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555475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8" name="Picture 7">
            <a:extLst>
              <a:ext uri="{FF2B5EF4-FFF2-40B4-BE49-F238E27FC236}">
                <a16:creationId xmlns:a16="http://schemas.microsoft.com/office/drawing/2014/main" id="{7F753069-A6D7-DC48-AAB7-A72B86737971}"/>
              </a:ext>
            </a:extLst>
          </p:cNvPr>
          <p:cNvPicPr>
            <a:picLocks noChangeAspect="1"/>
          </p:cNvPicPr>
          <p:nvPr/>
        </p:nvPicPr>
        <p:blipFill>
          <a:blip r:embed="rId3"/>
          <a:stretch>
            <a:fillRect/>
          </a:stretch>
        </p:blipFill>
        <p:spPr>
          <a:xfrm>
            <a:off x="840142" y="808074"/>
            <a:ext cx="7728313" cy="3468081"/>
          </a:xfrm>
          <a:prstGeom prst="rect">
            <a:avLst/>
          </a:prstGeom>
        </p:spPr>
      </p:pic>
    </p:spTree>
    <p:extLst>
      <p:ext uri="{BB962C8B-B14F-4D97-AF65-F5344CB8AC3E}">
        <p14:creationId xmlns:p14="http://schemas.microsoft.com/office/powerpoint/2010/main" val="2456402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F8469006-2D33-DC41-81D5-005F444B1473}"/>
              </a:ext>
            </a:extLst>
          </p:cNvPr>
          <p:cNvGraphicFramePr>
            <a:graphicFrameLocks noGrp="1"/>
          </p:cNvGraphicFramePr>
          <p:nvPr>
            <p:extLst>
              <p:ext uri="{D42A27DB-BD31-4B8C-83A1-F6EECF244321}">
                <p14:modId xmlns:p14="http://schemas.microsoft.com/office/powerpoint/2010/main" val="3774505530"/>
              </p:ext>
            </p:extLst>
          </p:nvPr>
        </p:nvGraphicFramePr>
        <p:xfrm>
          <a:off x="1068414" y="580763"/>
          <a:ext cx="7886700" cy="4396740"/>
        </p:xfrm>
        <a:graphic>
          <a:graphicData uri="http://schemas.openxmlformats.org/drawingml/2006/table">
            <a:tbl>
              <a:tblPr>
                <a:tableStyleId>{BC89EF96-8CEA-46FF-86C4-4CE0E7609802}</a:tableStyleId>
              </a:tblPr>
              <a:tblGrid>
                <a:gridCol w="1971675">
                  <a:extLst>
                    <a:ext uri="{9D8B030D-6E8A-4147-A177-3AD203B41FA5}">
                      <a16:colId xmlns:a16="http://schemas.microsoft.com/office/drawing/2014/main" val="1122333552"/>
                    </a:ext>
                  </a:extLst>
                </a:gridCol>
                <a:gridCol w="1971675">
                  <a:extLst>
                    <a:ext uri="{9D8B030D-6E8A-4147-A177-3AD203B41FA5}">
                      <a16:colId xmlns:a16="http://schemas.microsoft.com/office/drawing/2014/main" val="3563258716"/>
                    </a:ext>
                  </a:extLst>
                </a:gridCol>
                <a:gridCol w="1971675">
                  <a:extLst>
                    <a:ext uri="{9D8B030D-6E8A-4147-A177-3AD203B41FA5}">
                      <a16:colId xmlns:a16="http://schemas.microsoft.com/office/drawing/2014/main" val="788944646"/>
                    </a:ext>
                  </a:extLst>
                </a:gridCol>
                <a:gridCol w="1971675">
                  <a:extLst>
                    <a:ext uri="{9D8B030D-6E8A-4147-A177-3AD203B41FA5}">
                      <a16:colId xmlns:a16="http://schemas.microsoft.com/office/drawing/2014/main" val="1457253348"/>
                    </a:ext>
                  </a:extLst>
                </a:gridCol>
              </a:tblGrid>
              <a:tr h="228600">
                <a:tc>
                  <a:txBody>
                    <a:bodyPr/>
                    <a:lstStyle/>
                    <a:p>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Aspecto</a:t>
                      </a:r>
                    </a:p>
                  </a:txBody>
                  <a:tcPr marL="68580" marR="68580" marT="34290" marB="34290" anchor="ctr">
                    <a:solidFill>
                      <a:schemeClr val="bg2">
                        <a:lumMod val="75000"/>
                        <a:lumOff val="25000"/>
                      </a:schemeClr>
                    </a:solidFill>
                  </a:tcPr>
                </a:tc>
                <a:tc>
                  <a:txBody>
                    <a:bodyPr/>
                    <a:lstStyle/>
                    <a:p>
                      <a:r>
                        <a:rPr kumimoji="0" lang="es-ES" sz="1400" b="1" i="0" u="none" strike="noStrike" kern="0" cap="none" spc="0" normalizeH="0" baseline="0" dirty="0" err="1">
                          <a:ln>
                            <a:noFill/>
                          </a:ln>
                          <a:solidFill>
                            <a:schemeClr val="bg1"/>
                          </a:solidFill>
                          <a:effectLst/>
                          <a:uLnTx/>
                          <a:uFillTx/>
                          <a:latin typeface="IBM Plex Sans" panose="020B0503050203000203" pitchFamily="34" charset="0"/>
                          <a:cs typeface="Calibri"/>
                          <a:sym typeface="Arial"/>
                        </a:rPr>
                        <a:t>Platform</a:t>
                      </a:r>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 </a:t>
                      </a:r>
                      <a:r>
                        <a:rPr kumimoji="0" lang="es-ES" sz="1400" b="1" i="0" u="none" strike="noStrike" kern="0" cap="none" spc="0" normalizeH="0" baseline="0" dirty="0" err="1">
                          <a:ln>
                            <a:noFill/>
                          </a:ln>
                          <a:solidFill>
                            <a:schemeClr val="bg1"/>
                          </a:solidFill>
                          <a:effectLst/>
                          <a:uLnTx/>
                          <a:uFillTx/>
                          <a:latin typeface="IBM Plex Sans" panose="020B0503050203000203" pitchFamily="34" charset="0"/>
                          <a:cs typeface="Calibri"/>
                          <a:sym typeface="Arial"/>
                        </a:rPr>
                        <a:t>Threads</a:t>
                      </a:r>
                      <a:endPar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endParaRPr>
                    </a:p>
                  </a:txBody>
                  <a:tcPr marL="68580" marR="68580" marT="34290" marB="34290" anchor="ctr">
                    <a:solidFill>
                      <a:schemeClr val="bg2">
                        <a:lumMod val="75000"/>
                        <a:lumOff val="25000"/>
                      </a:schemeClr>
                    </a:solidFill>
                  </a:tcPr>
                </a:tc>
                <a:tc>
                  <a:txBody>
                    <a:bodyPr/>
                    <a:lstStyle/>
                    <a:p>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Reactive</a:t>
                      </a:r>
                    </a:p>
                  </a:txBody>
                  <a:tcPr marL="68580" marR="68580" marT="34290" marB="34290" anchor="ctr">
                    <a:solidFill>
                      <a:schemeClr val="bg2">
                        <a:lumMod val="75000"/>
                        <a:lumOff val="25000"/>
                      </a:schemeClr>
                    </a:solidFill>
                  </a:tcPr>
                </a:tc>
                <a:tc>
                  <a:txBody>
                    <a:bodyPr/>
                    <a:lstStyle/>
                    <a:p>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Virtual </a:t>
                      </a:r>
                      <a:r>
                        <a:rPr kumimoji="0" lang="es-ES" sz="1400" b="1" i="0" u="none" strike="noStrike" kern="0" cap="none" spc="0" normalizeH="0" baseline="0" dirty="0" err="1">
                          <a:ln>
                            <a:noFill/>
                          </a:ln>
                          <a:solidFill>
                            <a:schemeClr val="bg1"/>
                          </a:solidFill>
                          <a:effectLst/>
                          <a:uLnTx/>
                          <a:uFillTx/>
                          <a:latin typeface="IBM Plex Sans" panose="020B0503050203000203" pitchFamily="34" charset="0"/>
                          <a:cs typeface="Calibri"/>
                          <a:sym typeface="Arial"/>
                        </a:rPr>
                        <a:t>Threads</a:t>
                      </a:r>
                      <a:endPar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endParaRPr>
                    </a:p>
                  </a:txBody>
                  <a:tcPr marL="68580" marR="68580" marT="34290" marB="34290" anchor="ctr">
                    <a:solidFill>
                      <a:schemeClr val="bg2">
                        <a:lumMod val="75000"/>
                        <a:lumOff val="25000"/>
                      </a:schemeClr>
                    </a:solidFill>
                  </a:tcPr>
                </a:tc>
                <a:extLst>
                  <a:ext uri="{0D108BD9-81ED-4DB2-BD59-A6C34878D82A}">
                    <a16:rowId xmlns:a16="http://schemas.microsoft.com/office/drawing/2014/main" val="387169904"/>
                  </a:ext>
                </a:extLst>
              </a:tr>
              <a:tr h="342900">
                <a:tc>
                  <a:txBody>
                    <a:bodyPr/>
                    <a:lstStyle/>
                    <a:p>
                      <a:r>
                        <a:rPr kumimoji="0" lang="es-ES" sz="1050" b="1"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Executor</a:t>
                      </a:r>
                      <a:endPar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endParaRP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newFixedThreadPool</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(n)</a:t>
                      </a: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Event loop (Netty)</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newVirtualThreadPerTaskExecutor</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2536320424"/>
                  </a:ext>
                </a:extLst>
              </a:tr>
              <a:tr h="228600">
                <a:tc>
                  <a:txBody>
                    <a:bodyPr/>
                    <a:lstStyle/>
                    <a:p>
                      <a:r>
                        <a:rPr kumimoji="0" lang="es-ES" sz="1050" b="1"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HTTP Client</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RestTemplate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blocking</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WebClient (non-blocking)</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RestTemplate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blocking</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608383884"/>
                  </a:ext>
                </a:extLst>
              </a:tr>
              <a:tr h="43434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Firma del método</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LoadResponse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executeLoad</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Mono&lt;</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LoadResponse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&gt;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executeLoad</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LoadResponse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executeLoad</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1765074837"/>
                  </a:ext>
                </a:extLst>
              </a:tr>
              <a:tr h="22860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Modelo de código</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Imperativo</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Funcional/reactivo</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Imperativo (igual que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blocking</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1368803966"/>
                  </a:ext>
                </a:extLst>
              </a:tr>
              <a:tr h="38862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Cambios respecto a otro anterior</a:t>
                      </a:r>
                    </a:p>
                  </a:txBody>
                  <a:tcPr marL="68580" marR="68580" marT="34290" marB="34290" anchor="ctr"/>
                </a:tc>
                <a:tc>
                  <a:txBody>
                    <a:bodyPr/>
                    <a:lstStyle/>
                    <a:p>
                      <a:endPar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endParaRP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Todo cambia: dependencias, cliente, paradigma</a:t>
                      </a: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Solo 1 línea (el executor)</a:t>
                      </a:r>
                    </a:p>
                  </a:txBody>
                  <a:tcPr marL="68580" marR="68580" marT="34290" marB="34290" anchor="ctr"/>
                </a:tc>
                <a:extLst>
                  <a:ext uri="{0D108BD9-81ED-4DB2-BD59-A6C34878D82A}">
                    <a16:rowId xmlns:a16="http://schemas.microsoft.com/office/drawing/2014/main" val="2017879492"/>
                  </a:ext>
                </a:extLst>
              </a:tr>
              <a:tr h="22860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Complejidad del cambio</a:t>
                      </a:r>
                    </a:p>
                  </a:txBody>
                  <a:tcPr marL="68580" marR="68580" marT="34290" marB="34290" anchor="ctr"/>
                </a:tc>
                <a:tc>
                  <a:txBody>
                    <a:bodyPr/>
                    <a:lstStyle/>
                    <a:p>
                      <a:endPar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endParaRP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Alta</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Mínima</a:t>
                      </a:r>
                    </a:p>
                  </a:txBody>
                  <a:tcPr marL="68580" marR="68580" marT="34290" marB="34290" anchor="ctr"/>
                </a:tc>
                <a:extLst>
                  <a:ext uri="{0D108BD9-81ED-4DB2-BD59-A6C34878D82A}">
                    <a16:rowId xmlns:a16="http://schemas.microsoft.com/office/drawing/2014/main" val="2216882747"/>
                  </a:ext>
                </a:extLst>
              </a:tr>
              <a:tr h="548640">
                <a:tc>
                  <a:txBody>
                    <a:bodyPr/>
                    <a:lstStyle/>
                    <a:p>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Modelo</a:t>
                      </a:r>
                      <a:endPar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Plataforma</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pesados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Bucle</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de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eventos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no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bloqueantes</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pocos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hilos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Ligeros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1KB</a:t>
                      </a:r>
                    </a:p>
                  </a:txBody>
                  <a:tcPr marL="68580" marR="68580" marT="34290" marB="34290"/>
                </a:tc>
                <a:extLst>
                  <a:ext uri="{0D108BD9-81ED-4DB2-BD59-A6C34878D82A}">
                    <a16:rowId xmlns:a16="http://schemas.microsoft.com/office/drawing/2014/main" val="3608364609"/>
                  </a:ext>
                </a:extLst>
              </a:tr>
              <a:tr h="480060">
                <a:tc>
                  <a:txBody>
                    <a:bodyPr/>
                    <a:lstStyle/>
                    <a:p>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Peticiones</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concurrentes</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máx</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(by default)</a:t>
                      </a:r>
                    </a:p>
                  </a:txBody>
                  <a:tcPr marL="68580" marR="68580" marT="34290" marB="34290"/>
                </a:tc>
                <a:tc>
                  <a:txBody>
                    <a:bodyPr/>
                    <a:lstStyle/>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200 by default</a:t>
                      </a:r>
                      <a:b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b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server.tomcat.threads.max</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Concurrencia</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x10</a:t>
                      </a:r>
                    </a:p>
                  </a:txBody>
                  <a:tcPr marL="68580" marR="68580" marT="34290" marB="34290"/>
                </a:tc>
                <a:tc>
                  <a:txBody>
                    <a:bodyPr/>
                    <a:lstStyle/>
                    <a:p>
                      <a:r>
                        <a:rPr kumimoji="0" lang="en-GB"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+10.000</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extLst>
                  <a:ext uri="{0D108BD9-81ED-4DB2-BD59-A6C34878D82A}">
                    <a16:rowId xmlns:a16="http://schemas.microsoft.com/office/drawing/2014/main" val="3666212560"/>
                  </a:ext>
                </a:extLst>
              </a:tr>
              <a:tr h="411480">
                <a:tc>
                  <a:txBody>
                    <a:bodyPr/>
                    <a:lstStyle/>
                    <a:p>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Spring config</a:t>
                      </a:r>
                    </a:p>
                  </a:txBody>
                  <a:tcPr marL="68580" marR="68580" marT="34290" marB="34290"/>
                </a:tc>
                <a:tc>
                  <a:txBody>
                    <a:bodyPr/>
                    <a:lstStyle/>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default</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spring-boot-starter-</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webflux</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p>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spring.threads.virtual.enabled</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true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extLst>
                  <a:ext uri="{0D108BD9-81ED-4DB2-BD59-A6C34878D82A}">
                    <a16:rowId xmlns:a16="http://schemas.microsoft.com/office/drawing/2014/main" val="2605827817"/>
                  </a:ext>
                </a:extLst>
              </a:tr>
              <a:tr h="480060">
                <a:tc>
                  <a:txBody>
                    <a:bodyPr/>
                    <a:lstStyle/>
                    <a:p>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Estilo</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de </a:t>
                      </a:r>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codificación</a:t>
                      </a:r>
                      <a:endPar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Reactiva</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(Mono / flux) </a:t>
                      </a:r>
                    </a:p>
                  </a:txBody>
                  <a:tcPr marL="68580" marR="68580" marT="34290" marB="34290"/>
                </a:tc>
                <a:tc>
                  <a:txBody>
                    <a:bodyPr/>
                    <a:lstStyle/>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Idem to Platform Threads</a:t>
                      </a:r>
                    </a:p>
                  </a:txBody>
                  <a:tcPr marL="68580" marR="68580" marT="34290" marB="34290"/>
                </a:tc>
                <a:extLst>
                  <a:ext uri="{0D108BD9-81ED-4DB2-BD59-A6C34878D82A}">
                    <a16:rowId xmlns:a16="http://schemas.microsoft.com/office/drawing/2014/main" val="1237937234"/>
                  </a:ext>
                </a:extLst>
              </a:tr>
            </a:tbl>
          </a:graphicData>
        </a:graphic>
      </p:graphicFrame>
    </p:spTree>
    <p:extLst>
      <p:ext uri="{BB962C8B-B14F-4D97-AF65-F5344CB8AC3E}">
        <p14:creationId xmlns:p14="http://schemas.microsoft.com/office/powerpoint/2010/main" val="3083799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dirty="0" err="1">
                <a:solidFill>
                  <a:schemeClr val="tx1"/>
                </a:solidFill>
                <a:latin typeface="IBM Plex Sans" panose="020B0503050203000203" pitchFamily="34" charset="0"/>
              </a:rPr>
              <a:t>dddd</a:t>
            </a:r>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a:t>
            </a:r>
            <a:endParaRPr dirty="0"/>
          </a:p>
        </p:txBody>
      </p:sp>
    </p:spTree>
    <p:extLst>
      <p:ext uri="{BB962C8B-B14F-4D97-AF65-F5344CB8AC3E}">
        <p14:creationId xmlns:p14="http://schemas.microsoft.com/office/powerpoint/2010/main" val="582398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AFA5A4-138F-4A46-BA0C-4D57D3EE4C25}"/>
              </a:ext>
            </a:extLst>
          </p:cNvPr>
          <p:cNvPicPr>
            <a:picLocks noChangeAspect="1"/>
          </p:cNvPicPr>
          <p:nvPr/>
        </p:nvPicPr>
        <p:blipFill>
          <a:blip r:embed="rId2"/>
          <a:stretch>
            <a:fillRect/>
          </a:stretch>
        </p:blipFill>
        <p:spPr>
          <a:xfrm>
            <a:off x="546272" y="997567"/>
            <a:ext cx="7810500" cy="1514475"/>
          </a:xfrm>
          <a:prstGeom prst="rect">
            <a:avLst/>
          </a:prstGeom>
        </p:spPr>
      </p:pic>
      <p:pic>
        <p:nvPicPr>
          <p:cNvPr id="5" name="Picture 4">
            <a:extLst>
              <a:ext uri="{FF2B5EF4-FFF2-40B4-BE49-F238E27FC236}">
                <a16:creationId xmlns:a16="http://schemas.microsoft.com/office/drawing/2014/main" id="{5AB36F07-7C9B-014C-AB3F-B032DC0ADE1B}"/>
              </a:ext>
            </a:extLst>
          </p:cNvPr>
          <p:cNvPicPr>
            <a:picLocks noChangeAspect="1"/>
          </p:cNvPicPr>
          <p:nvPr/>
        </p:nvPicPr>
        <p:blipFill>
          <a:blip r:embed="rId3"/>
          <a:stretch>
            <a:fillRect/>
          </a:stretch>
        </p:blipFill>
        <p:spPr>
          <a:xfrm>
            <a:off x="546272" y="3449338"/>
            <a:ext cx="6581775" cy="1581150"/>
          </a:xfrm>
          <a:prstGeom prst="rect">
            <a:avLst/>
          </a:prstGeom>
        </p:spPr>
      </p:pic>
      <p:sp>
        <p:nvSpPr>
          <p:cNvPr id="6" name="TextBox 5">
            <a:extLst>
              <a:ext uri="{FF2B5EF4-FFF2-40B4-BE49-F238E27FC236}">
                <a16:creationId xmlns:a16="http://schemas.microsoft.com/office/drawing/2014/main" id="{E2EDDC79-8B5E-9644-88FA-3C768D3B9CBD}"/>
              </a:ext>
            </a:extLst>
          </p:cNvPr>
          <p:cNvSpPr txBox="1"/>
          <p:nvPr/>
        </p:nvSpPr>
        <p:spPr>
          <a:xfrm>
            <a:off x="546272" y="2618341"/>
            <a:ext cx="2382279" cy="369332"/>
          </a:xfrm>
          <a:prstGeom prst="rect">
            <a:avLst/>
          </a:prstGeom>
          <a:noFill/>
        </p:spPr>
        <p:txBody>
          <a:bodyPr wrap="square" rtlCol="0">
            <a:spAutoFit/>
          </a:bodyPr>
          <a:lstStyle>
            <a:defPPr>
              <a:defRPr lang="es-ES"/>
            </a:defPPr>
            <a:lvl1pPr>
              <a:defRPr sz="2400"/>
            </a:lvl1pPr>
          </a:lstStyle>
          <a:p>
            <a:r>
              <a:rPr lang="en-GB" sz="1800" dirty="0"/>
              <a:t>Reactive Style ;) ;) </a:t>
            </a:r>
          </a:p>
        </p:txBody>
      </p:sp>
      <p:sp>
        <p:nvSpPr>
          <p:cNvPr id="7" name="TextBox 6">
            <a:extLst>
              <a:ext uri="{FF2B5EF4-FFF2-40B4-BE49-F238E27FC236}">
                <a16:creationId xmlns:a16="http://schemas.microsoft.com/office/drawing/2014/main" id="{6CC465C3-2C00-024B-87BE-E8995813F92A}"/>
              </a:ext>
            </a:extLst>
          </p:cNvPr>
          <p:cNvSpPr txBox="1"/>
          <p:nvPr/>
        </p:nvSpPr>
        <p:spPr>
          <a:xfrm>
            <a:off x="546272" y="0"/>
            <a:ext cx="2505814" cy="369332"/>
          </a:xfrm>
          <a:prstGeom prst="rect">
            <a:avLst/>
          </a:prstGeom>
          <a:noFill/>
        </p:spPr>
        <p:txBody>
          <a:bodyPr wrap="none" rtlCol="0">
            <a:spAutoFit/>
          </a:bodyPr>
          <a:lstStyle/>
          <a:p>
            <a:r>
              <a:rPr lang="en-GB" sz="1800" dirty="0"/>
              <a:t>Using platform threads</a:t>
            </a:r>
          </a:p>
        </p:txBody>
      </p:sp>
      <p:pic>
        <p:nvPicPr>
          <p:cNvPr id="8" name="Picture 7">
            <a:extLst>
              <a:ext uri="{FF2B5EF4-FFF2-40B4-BE49-F238E27FC236}">
                <a16:creationId xmlns:a16="http://schemas.microsoft.com/office/drawing/2014/main" id="{946A13D5-D299-F144-BAFE-33FE869F7417}"/>
              </a:ext>
            </a:extLst>
          </p:cNvPr>
          <p:cNvPicPr>
            <a:picLocks noChangeAspect="1"/>
          </p:cNvPicPr>
          <p:nvPr/>
        </p:nvPicPr>
        <p:blipFill>
          <a:blip r:embed="rId4"/>
          <a:stretch>
            <a:fillRect/>
          </a:stretch>
        </p:blipFill>
        <p:spPr>
          <a:xfrm>
            <a:off x="546272" y="2962789"/>
            <a:ext cx="7181850" cy="419100"/>
          </a:xfrm>
          <a:prstGeom prst="rect">
            <a:avLst/>
          </a:prstGeom>
        </p:spPr>
      </p:pic>
      <p:pic>
        <p:nvPicPr>
          <p:cNvPr id="9" name="Picture 8">
            <a:extLst>
              <a:ext uri="{FF2B5EF4-FFF2-40B4-BE49-F238E27FC236}">
                <a16:creationId xmlns:a16="http://schemas.microsoft.com/office/drawing/2014/main" id="{24146B7A-2CD1-1C44-AA7A-956959DCB856}"/>
              </a:ext>
            </a:extLst>
          </p:cNvPr>
          <p:cNvPicPr>
            <a:picLocks noChangeAspect="1"/>
          </p:cNvPicPr>
          <p:nvPr/>
        </p:nvPicPr>
        <p:blipFill>
          <a:blip r:embed="rId5"/>
          <a:stretch>
            <a:fillRect/>
          </a:stretch>
        </p:blipFill>
        <p:spPr>
          <a:xfrm>
            <a:off x="8356773" y="4348132"/>
            <a:ext cx="795368" cy="795368"/>
          </a:xfrm>
          <a:prstGeom prst="rect">
            <a:avLst/>
          </a:prstGeom>
        </p:spPr>
      </p:pic>
      <p:pic>
        <p:nvPicPr>
          <p:cNvPr id="2" name="Picture 1">
            <a:extLst>
              <a:ext uri="{FF2B5EF4-FFF2-40B4-BE49-F238E27FC236}">
                <a16:creationId xmlns:a16="http://schemas.microsoft.com/office/drawing/2014/main" id="{B9D21B0A-C26B-514E-A656-27A5AA6EB820}"/>
              </a:ext>
            </a:extLst>
          </p:cNvPr>
          <p:cNvPicPr>
            <a:picLocks noChangeAspect="1"/>
          </p:cNvPicPr>
          <p:nvPr/>
        </p:nvPicPr>
        <p:blipFill>
          <a:blip r:embed="rId6"/>
          <a:stretch>
            <a:fillRect/>
          </a:stretch>
        </p:blipFill>
        <p:spPr>
          <a:xfrm>
            <a:off x="546272" y="346249"/>
            <a:ext cx="5531322" cy="613739"/>
          </a:xfrm>
          <a:prstGeom prst="rect">
            <a:avLst/>
          </a:prstGeom>
        </p:spPr>
      </p:pic>
    </p:spTree>
    <p:extLst>
      <p:ext uri="{BB962C8B-B14F-4D97-AF65-F5344CB8AC3E}">
        <p14:creationId xmlns:p14="http://schemas.microsoft.com/office/powerpoint/2010/main" val="670458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AB7093-DC35-DF4A-93E0-D7F39DBE5872}"/>
              </a:ext>
            </a:extLst>
          </p:cNvPr>
          <p:cNvSpPr txBox="1"/>
          <p:nvPr/>
        </p:nvSpPr>
        <p:spPr>
          <a:xfrm>
            <a:off x="457859" y="35789"/>
            <a:ext cx="2287806" cy="369332"/>
          </a:xfrm>
          <a:prstGeom prst="rect">
            <a:avLst/>
          </a:prstGeom>
          <a:noFill/>
        </p:spPr>
        <p:txBody>
          <a:bodyPr wrap="none" rtlCol="0">
            <a:spAutoFit/>
          </a:bodyPr>
          <a:lstStyle/>
          <a:p>
            <a:r>
              <a:rPr lang="en-GB" sz="1800" dirty="0"/>
              <a:t>Using virtual threads</a:t>
            </a:r>
          </a:p>
        </p:txBody>
      </p:sp>
      <p:pic>
        <p:nvPicPr>
          <p:cNvPr id="3" name="Picture 2">
            <a:extLst>
              <a:ext uri="{FF2B5EF4-FFF2-40B4-BE49-F238E27FC236}">
                <a16:creationId xmlns:a16="http://schemas.microsoft.com/office/drawing/2014/main" id="{23E76B4A-5FBE-1E45-AF4F-6499E91E356D}"/>
              </a:ext>
            </a:extLst>
          </p:cNvPr>
          <p:cNvPicPr>
            <a:picLocks noChangeAspect="1"/>
          </p:cNvPicPr>
          <p:nvPr/>
        </p:nvPicPr>
        <p:blipFill>
          <a:blip r:embed="rId2"/>
          <a:stretch>
            <a:fillRect/>
          </a:stretch>
        </p:blipFill>
        <p:spPr>
          <a:xfrm>
            <a:off x="457859" y="457586"/>
            <a:ext cx="5810250" cy="428625"/>
          </a:xfrm>
          <a:prstGeom prst="rect">
            <a:avLst/>
          </a:prstGeom>
        </p:spPr>
      </p:pic>
      <p:pic>
        <p:nvPicPr>
          <p:cNvPr id="4" name="Picture 3">
            <a:extLst>
              <a:ext uri="{FF2B5EF4-FFF2-40B4-BE49-F238E27FC236}">
                <a16:creationId xmlns:a16="http://schemas.microsoft.com/office/drawing/2014/main" id="{1E80925F-A862-7246-9721-69FB18B2938E}"/>
              </a:ext>
            </a:extLst>
          </p:cNvPr>
          <p:cNvPicPr>
            <a:picLocks noChangeAspect="1"/>
          </p:cNvPicPr>
          <p:nvPr/>
        </p:nvPicPr>
        <p:blipFill>
          <a:blip r:embed="rId3"/>
          <a:stretch>
            <a:fillRect/>
          </a:stretch>
        </p:blipFill>
        <p:spPr>
          <a:xfrm>
            <a:off x="457859" y="961760"/>
            <a:ext cx="6753225" cy="1247775"/>
          </a:xfrm>
          <a:prstGeom prst="rect">
            <a:avLst/>
          </a:prstGeom>
        </p:spPr>
      </p:pic>
    </p:spTree>
    <p:extLst>
      <p:ext uri="{BB962C8B-B14F-4D97-AF65-F5344CB8AC3E}">
        <p14:creationId xmlns:p14="http://schemas.microsoft.com/office/powerpoint/2010/main" val="578965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F49BF1B-102F-E941-B531-70A333F19E68}"/>
              </a:ext>
            </a:extLst>
          </p:cNvPr>
          <p:cNvGraphicFramePr>
            <a:graphicFrameLocks noGrp="1"/>
          </p:cNvGraphicFramePr>
          <p:nvPr>
            <p:extLst/>
          </p:nvPr>
        </p:nvGraphicFramePr>
        <p:xfrm>
          <a:off x="295154" y="222738"/>
          <a:ext cx="8646290" cy="4757158"/>
        </p:xfrm>
        <a:graphic>
          <a:graphicData uri="http://schemas.openxmlformats.org/drawingml/2006/table">
            <a:tbl>
              <a:tblPr/>
              <a:tblGrid>
                <a:gridCol w="1581168">
                  <a:extLst>
                    <a:ext uri="{9D8B030D-6E8A-4147-A177-3AD203B41FA5}">
                      <a16:colId xmlns:a16="http://schemas.microsoft.com/office/drawing/2014/main" val="1605800137"/>
                    </a:ext>
                  </a:extLst>
                </a:gridCol>
                <a:gridCol w="1300928">
                  <a:extLst>
                    <a:ext uri="{9D8B030D-6E8A-4147-A177-3AD203B41FA5}">
                      <a16:colId xmlns:a16="http://schemas.microsoft.com/office/drawing/2014/main" val="3187434922"/>
                    </a:ext>
                  </a:extLst>
                </a:gridCol>
                <a:gridCol w="1441049">
                  <a:extLst>
                    <a:ext uri="{9D8B030D-6E8A-4147-A177-3AD203B41FA5}">
                      <a16:colId xmlns:a16="http://schemas.microsoft.com/office/drawing/2014/main" val="3881011170"/>
                    </a:ext>
                  </a:extLst>
                </a:gridCol>
                <a:gridCol w="1441049">
                  <a:extLst>
                    <a:ext uri="{9D8B030D-6E8A-4147-A177-3AD203B41FA5}">
                      <a16:colId xmlns:a16="http://schemas.microsoft.com/office/drawing/2014/main" val="1225338171"/>
                    </a:ext>
                  </a:extLst>
                </a:gridCol>
                <a:gridCol w="1441049">
                  <a:extLst>
                    <a:ext uri="{9D8B030D-6E8A-4147-A177-3AD203B41FA5}">
                      <a16:colId xmlns:a16="http://schemas.microsoft.com/office/drawing/2014/main" val="35211570"/>
                    </a:ext>
                  </a:extLst>
                </a:gridCol>
                <a:gridCol w="1441049">
                  <a:extLst>
                    <a:ext uri="{9D8B030D-6E8A-4147-A177-3AD203B41FA5}">
                      <a16:colId xmlns:a16="http://schemas.microsoft.com/office/drawing/2014/main" val="2602136704"/>
                    </a:ext>
                  </a:extLst>
                </a:gridCol>
              </a:tblGrid>
              <a:tr h="344394">
                <a:tc>
                  <a:txBody>
                    <a:bodyPr/>
                    <a:lstStyle/>
                    <a:p>
                      <a:r>
                        <a:rPr lang="es-ES" sz="1100" b="1" dirty="0"/>
                        <a:t>Métrica</a:t>
                      </a:r>
                    </a:p>
                  </a:txBody>
                  <a:tcPr marL="24355" marR="24355" marT="12177" marB="12177" anchor="ctr">
                    <a:lnL>
                      <a:noFill/>
                    </a:lnL>
                    <a:lnR>
                      <a:noFill/>
                    </a:lnR>
                    <a:lnT>
                      <a:noFill/>
                    </a:lnT>
                    <a:lnB>
                      <a:noFill/>
                    </a:lnB>
                  </a:tcPr>
                </a:tc>
                <a:tc>
                  <a:txBody>
                    <a:bodyPr/>
                    <a:lstStyle/>
                    <a:p>
                      <a:r>
                        <a:rPr lang="es-ES" sz="1100" b="1" dirty="0"/>
                        <a:t>Significado</a:t>
                      </a:r>
                    </a:p>
                  </a:txBody>
                  <a:tcPr marL="24355" marR="24355" marT="12177" marB="12177" anchor="ctr">
                    <a:lnL>
                      <a:noFill/>
                    </a:lnL>
                    <a:lnR>
                      <a:noFill/>
                    </a:lnR>
                    <a:lnT>
                      <a:noFill/>
                    </a:lnT>
                    <a:lnB>
                      <a:noFill/>
                    </a:lnB>
                  </a:tcPr>
                </a:tc>
                <a:tc>
                  <a:txBody>
                    <a:bodyPr/>
                    <a:lstStyle/>
                    <a:p>
                      <a:r>
                        <a:rPr lang="es-ES" sz="1100" b="1" dirty="0" err="1"/>
                        <a:t>Platform</a:t>
                      </a:r>
                      <a:r>
                        <a:rPr lang="es-ES" sz="1100" b="1" dirty="0"/>
                        <a:t> </a:t>
                      </a:r>
                      <a:r>
                        <a:rPr lang="es-ES" sz="1100" b="1" dirty="0" err="1"/>
                        <a:t>Threads</a:t>
                      </a:r>
                      <a:endParaRPr lang="es-ES" sz="1100" b="1" dirty="0"/>
                    </a:p>
                  </a:txBody>
                  <a:tcPr marL="24355" marR="24355" marT="12177" marB="12177" anchor="ctr">
                    <a:lnL>
                      <a:noFill/>
                    </a:lnL>
                    <a:lnR>
                      <a:noFill/>
                    </a:lnR>
                    <a:lnT>
                      <a:noFill/>
                    </a:lnT>
                    <a:lnB>
                      <a:noFill/>
                    </a:lnB>
                  </a:tcPr>
                </a:tc>
                <a:tc>
                  <a:txBody>
                    <a:bodyPr/>
                    <a:lstStyle/>
                    <a:p>
                      <a:r>
                        <a:rPr lang="es-ES" sz="1100" b="1" dirty="0"/>
                        <a:t>Reactive</a:t>
                      </a:r>
                    </a:p>
                  </a:txBody>
                  <a:tcPr marL="24355" marR="24355" marT="12177" marB="12177" anchor="ctr">
                    <a:lnL>
                      <a:noFill/>
                    </a:lnL>
                    <a:lnR>
                      <a:noFill/>
                    </a:lnR>
                    <a:lnT>
                      <a:noFill/>
                    </a:lnT>
                    <a:lnB>
                      <a:noFill/>
                    </a:lnB>
                  </a:tcPr>
                </a:tc>
                <a:tc>
                  <a:txBody>
                    <a:bodyPr/>
                    <a:lstStyle/>
                    <a:p>
                      <a:r>
                        <a:rPr lang="es-ES" sz="1100" b="1" dirty="0"/>
                        <a:t>Virtual </a:t>
                      </a:r>
                      <a:r>
                        <a:rPr lang="es-ES" sz="1100" b="1" dirty="0" err="1"/>
                        <a:t>Threads</a:t>
                      </a:r>
                      <a:endParaRPr lang="es-ES" sz="1100" b="1" dirty="0"/>
                    </a:p>
                  </a:txBody>
                  <a:tcPr marL="24355" marR="24355" marT="12177" marB="12177" anchor="ctr">
                    <a:lnL>
                      <a:noFill/>
                    </a:lnL>
                    <a:lnR>
                      <a:noFill/>
                    </a:lnR>
                    <a:lnT>
                      <a:noFill/>
                    </a:lnT>
                    <a:lnB>
                      <a:noFill/>
                    </a:lnB>
                  </a:tcPr>
                </a:tc>
                <a:tc>
                  <a:txBody>
                    <a:bodyPr/>
                    <a:lstStyle/>
                    <a:p>
                      <a:r>
                        <a:rPr lang="es-ES" sz="1100" b="1" dirty="0"/>
                        <a:t>¿Por qué es clave mostrarlo?</a:t>
                      </a:r>
                    </a:p>
                  </a:txBody>
                  <a:tcPr marL="24355" marR="24355" marT="12177" marB="12177" anchor="ctr">
                    <a:lnL>
                      <a:noFill/>
                    </a:lnL>
                    <a:lnR>
                      <a:noFill/>
                    </a:lnR>
                    <a:lnT>
                      <a:noFill/>
                    </a:lnT>
                    <a:lnB>
                      <a:noFill/>
                    </a:lnB>
                  </a:tcPr>
                </a:tc>
                <a:extLst>
                  <a:ext uri="{0D108BD9-81ED-4DB2-BD59-A6C34878D82A}">
                    <a16:rowId xmlns:a16="http://schemas.microsoft.com/office/drawing/2014/main" val="3588695786"/>
                  </a:ext>
                </a:extLst>
              </a:tr>
              <a:tr h="451700">
                <a:tc>
                  <a:txBody>
                    <a:bodyPr/>
                    <a:lstStyle/>
                    <a:p>
                      <a:r>
                        <a:rPr lang="es-ES" sz="800" dirty="0" err="1"/>
                        <a:t>jvm_threads_live_threads</a:t>
                      </a:r>
                      <a:endParaRPr lang="es-ES" sz="800" dirty="0"/>
                    </a:p>
                  </a:txBody>
                  <a:tcPr marL="24355" marR="24355" marT="12177" marB="12177" anchor="ctr">
                    <a:lnL>
                      <a:noFill/>
                    </a:lnL>
                    <a:lnR>
                      <a:noFill/>
                    </a:lnR>
                    <a:lnT>
                      <a:noFill/>
                    </a:lnT>
                    <a:lnB>
                      <a:noFill/>
                    </a:lnB>
                  </a:tcPr>
                </a:tc>
                <a:tc>
                  <a:txBody>
                    <a:bodyPr/>
                    <a:lstStyle/>
                    <a:p>
                      <a:r>
                        <a:rPr lang="es-ES" sz="800"/>
                        <a:t>Hilos OS vivos</a:t>
                      </a:r>
                    </a:p>
                  </a:txBody>
                  <a:tcPr marL="24355" marR="24355" marT="12177" marB="12177" anchor="ctr">
                    <a:lnL>
                      <a:noFill/>
                    </a:lnL>
                    <a:lnR>
                      <a:noFill/>
                    </a:lnR>
                    <a:lnT>
                      <a:noFill/>
                    </a:lnT>
                    <a:lnB>
                      <a:noFill/>
                    </a:lnB>
                  </a:tcPr>
                </a:tc>
                <a:tc>
                  <a:txBody>
                    <a:bodyPr/>
                    <a:lstStyle/>
                    <a:p>
                      <a:r>
                        <a:rPr lang="es-ES" sz="800" dirty="0"/>
                        <a:t>200 (pool fijo)</a:t>
                      </a:r>
                    </a:p>
                  </a:txBody>
                  <a:tcPr marL="24355" marR="24355" marT="12177" marB="12177" anchor="ctr">
                    <a:lnL>
                      <a:noFill/>
                    </a:lnL>
                    <a:lnR>
                      <a:noFill/>
                    </a:lnR>
                    <a:lnT>
                      <a:noFill/>
                    </a:lnT>
                    <a:lnB>
                      <a:noFill/>
                    </a:lnB>
                  </a:tcPr>
                </a:tc>
                <a:tc>
                  <a:txBody>
                    <a:bodyPr/>
                    <a:lstStyle/>
                    <a:p>
                      <a:r>
                        <a:rPr lang="es-ES" sz="800"/>
                        <a:t>4-8 (event loop)</a:t>
                      </a:r>
                    </a:p>
                  </a:txBody>
                  <a:tcPr marL="24355" marR="24355" marT="12177" marB="12177" anchor="ctr">
                    <a:lnL>
                      <a:noFill/>
                    </a:lnL>
                    <a:lnR>
                      <a:noFill/>
                    </a:lnR>
                    <a:lnT>
                      <a:noFill/>
                    </a:lnT>
                    <a:lnB>
                      <a:noFill/>
                    </a:lnB>
                  </a:tcPr>
                </a:tc>
                <a:tc>
                  <a:txBody>
                    <a:bodyPr/>
                    <a:lstStyle/>
                    <a:p>
                      <a:r>
                        <a:rPr lang="es-ES" sz="800"/>
                        <a:t>Miles (1 por tarea)</a:t>
                      </a:r>
                    </a:p>
                  </a:txBody>
                  <a:tcPr marL="24355" marR="24355" marT="12177" marB="12177" anchor="ctr">
                    <a:lnL>
                      <a:noFill/>
                    </a:lnL>
                    <a:lnR>
                      <a:noFill/>
                    </a:lnR>
                    <a:lnT>
                      <a:noFill/>
                    </a:lnT>
                    <a:lnB>
                      <a:noFill/>
                    </a:lnB>
                  </a:tcPr>
                </a:tc>
                <a:tc>
                  <a:txBody>
                    <a:bodyPr/>
                    <a:lstStyle/>
                    <a:p>
                      <a:r>
                        <a:rPr lang="es-ES" sz="800"/>
                        <a:t>Los VT son baratos: crear miles no paraliza el OS</a:t>
                      </a:r>
                    </a:p>
                  </a:txBody>
                  <a:tcPr marL="24355" marR="24355" marT="12177" marB="12177" anchor="ctr">
                    <a:lnL>
                      <a:noFill/>
                    </a:lnL>
                    <a:lnR>
                      <a:noFill/>
                    </a:lnR>
                    <a:lnT>
                      <a:noFill/>
                    </a:lnT>
                    <a:lnB>
                      <a:noFill/>
                    </a:lnB>
                  </a:tcPr>
                </a:tc>
                <a:extLst>
                  <a:ext uri="{0D108BD9-81ED-4DB2-BD59-A6C34878D82A}">
                    <a16:rowId xmlns:a16="http://schemas.microsoft.com/office/drawing/2014/main" val="2538288124"/>
                  </a:ext>
                </a:extLst>
              </a:tr>
              <a:tr h="451700">
                <a:tc>
                  <a:txBody>
                    <a:bodyPr/>
                    <a:lstStyle/>
                    <a:p>
                      <a:r>
                        <a:rPr lang="es-ES" sz="800"/>
                        <a:t>jvm_threads_states_threads{state="blocked"}</a:t>
                      </a:r>
                    </a:p>
                  </a:txBody>
                  <a:tcPr marL="24355" marR="24355" marT="12177" marB="12177" anchor="ctr">
                    <a:lnL>
                      <a:noFill/>
                    </a:lnL>
                    <a:lnR>
                      <a:noFill/>
                    </a:lnR>
                    <a:lnT>
                      <a:noFill/>
                    </a:lnT>
                    <a:lnB>
                      <a:noFill/>
                    </a:lnB>
                  </a:tcPr>
                </a:tc>
                <a:tc>
                  <a:txBody>
                    <a:bodyPr/>
                    <a:lstStyle/>
                    <a:p>
                      <a:r>
                        <a:rPr lang="es-ES" sz="800"/>
                        <a:t>Hilos bloqueados en I/O</a:t>
                      </a:r>
                    </a:p>
                  </a:txBody>
                  <a:tcPr marL="24355" marR="24355" marT="12177" marB="12177" anchor="ctr">
                    <a:lnL>
                      <a:noFill/>
                    </a:lnL>
                    <a:lnR>
                      <a:noFill/>
                    </a:lnR>
                    <a:lnT>
                      <a:noFill/>
                    </a:lnT>
                    <a:lnB>
                      <a:noFill/>
                    </a:lnB>
                  </a:tcPr>
                </a:tc>
                <a:tc>
                  <a:txBody>
                    <a:bodyPr/>
                    <a:lstStyle/>
                    <a:p>
                      <a:r>
                        <a:rPr lang="es-ES" sz="800"/>
                        <a:t>MUCHOS</a:t>
                      </a:r>
                    </a:p>
                  </a:txBody>
                  <a:tcPr marL="24355" marR="24355" marT="12177" marB="12177" anchor="ctr">
                    <a:lnL>
                      <a:noFill/>
                    </a:lnL>
                    <a:lnR>
                      <a:noFill/>
                    </a:lnR>
                    <a:lnT>
                      <a:noFill/>
                    </a:lnT>
                    <a:lnB>
                      <a:noFill/>
                    </a:lnB>
                  </a:tcPr>
                </a:tc>
                <a:tc>
                  <a:txBody>
                    <a:bodyPr/>
                    <a:lstStyle/>
                    <a:p>
                      <a:r>
                        <a:rPr lang="es-ES" sz="800"/>
                        <a:t>~0</a:t>
                      </a:r>
                    </a:p>
                  </a:txBody>
                  <a:tcPr marL="24355" marR="24355" marT="12177" marB="12177" anchor="ctr">
                    <a:lnL>
                      <a:noFill/>
                    </a:lnL>
                    <a:lnR>
                      <a:noFill/>
                    </a:lnR>
                    <a:lnT>
                      <a:noFill/>
                    </a:lnT>
                    <a:lnB>
                      <a:noFill/>
                    </a:lnB>
                  </a:tcPr>
                </a:tc>
                <a:tc>
                  <a:txBody>
                    <a:bodyPr/>
                    <a:lstStyle/>
                    <a:p>
                      <a:r>
                        <a:rPr lang="es-ES" sz="800"/>
                        <a:t>~0 (se desmontan del carrier)</a:t>
                      </a:r>
                    </a:p>
                  </a:txBody>
                  <a:tcPr marL="24355" marR="24355" marT="12177" marB="12177" anchor="ctr">
                    <a:lnL>
                      <a:noFill/>
                    </a:lnL>
                    <a:lnR>
                      <a:noFill/>
                    </a:lnR>
                    <a:lnT>
                      <a:noFill/>
                    </a:lnT>
                    <a:lnB>
                      <a:noFill/>
                    </a:lnB>
                  </a:tcPr>
                </a:tc>
                <a:tc>
                  <a:txBody>
                    <a:bodyPr/>
                    <a:lstStyle/>
                    <a:p>
                      <a:r>
                        <a:rPr lang="es-ES" sz="800"/>
                        <a:t>VT liberan el hilo OS al bloquearse (park), platform threads no</a:t>
                      </a:r>
                    </a:p>
                  </a:txBody>
                  <a:tcPr marL="24355" marR="24355" marT="12177" marB="12177" anchor="ctr">
                    <a:lnL>
                      <a:noFill/>
                    </a:lnL>
                    <a:lnR>
                      <a:noFill/>
                    </a:lnR>
                    <a:lnT>
                      <a:noFill/>
                    </a:lnT>
                    <a:lnB>
                      <a:noFill/>
                    </a:lnB>
                  </a:tcPr>
                </a:tc>
                <a:extLst>
                  <a:ext uri="{0D108BD9-81ED-4DB2-BD59-A6C34878D82A}">
                    <a16:rowId xmlns:a16="http://schemas.microsoft.com/office/drawing/2014/main" val="1872458917"/>
                  </a:ext>
                </a:extLst>
              </a:tr>
              <a:tr h="451700">
                <a:tc>
                  <a:txBody>
                    <a:bodyPr/>
                    <a:lstStyle/>
                    <a:p>
                      <a:r>
                        <a:rPr lang="es-ES" sz="800"/>
                        <a:t>jvm_threads_states_threads{state="waiting"}</a:t>
                      </a:r>
                    </a:p>
                  </a:txBody>
                  <a:tcPr marL="24355" marR="24355" marT="12177" marB="12177" anchor="ctr">
                    <a:lnL>
                      <a:noFill/>
                    </a:lnL>
                    <a:lnR>
                      <a:noFill/>
                    </a:lnR>
                    <a:lnT>
                      <a:noFill/>
                    </a:lnT>
                    <a:lnB>
                      <a:noFill/>
                    </a:lnB>
                  </a:tcPr>
                </a:tc>
                <a:tc>
                  <a:txBody>
                    <a:bodyPr/>
                    <a:lstStyle/>
                    <a:p>
                      <a:r>
                        <a:rPr lang="es-ES" sz="800"/>
                        <a:t>Hilos esperando</a:t>
                      </a:r>
                    </a:p>
                  </a:txBody>
                  <a:tcPr marL="24355" marR="24355" marT="12177" marB="12177" anchor="ctr">
                    <a:lnL>
                      <a:noFill/>
                    </a:lnL>
                    <a:lnR>
                      <a:noFill/>
                    </a:lnR>
                    <a:lnT>
                      <a:noFill/>
                    </a:lnT>
                    <a:lnB>
                      <a:noFill/>
                    </a:lnB>
                  </a:tcPr>
                </a:tc>
                <a:tc>
                  <a:txBody>
                    <a:bodyPr/>
                    <a:lstStyle/>
                    <a:p>
                      <a:r>
                        <a:rPr lang="es-ES" sz="800"/>
                        <a:t>Altos en saturación</a:t>
                      </a:r>
                    </a:p>
                  </a:txBody>
                  <a:tcPr marL="24355" marR="24355" marT="12177" marB="12177" anchor="ctr">
                    <a:lnL>
                      <a:noFill/>
                    </a:lnL>
                    <a:lnR>
                      <a:noFill/>
                    </a:lnR>
                    <a:lnT>
                      <a:noFill/>
                    </a:lnT>
                    <a:lnB>
                      <a:noFill/>
                    </a:lnB>
                  </a:tcPr>
                </a:tc>
                <a:tc>
                  <a:txBody>
                    <a:bodyPr/>
                    <a:lstStyle/>
                    <a:p>
                      <a:r>
                        <a:rPr lang="es-ES" sz="800"/>
                        <a:t>Bajos</a:t>
                      </a:r>
                    </a:p>
                  </a:txBody>
                  <a:tcPr marL="24355" marR="24355" marT="12177" marB="12177" anchor="ctr">
                    <a:lnL>
                      <a:noFill/>
                    </a:lnL>
                    <a:lnR>
                      <a:noFill/>
                    </a:lnR>
                    <a:lnT>
                      <a:noFill/>
                    </a:lnT>
                    <a:lnB>
                      <a:noFill/>
                    </a:lnB>
                  </a:tcPr>
                </a:tc>
                <a:tc>
                  <a:txBody>
                    <a:bodyPr/>
                    <a:lstStyle/>
                    <a:p>
                      <a:r>
                        <a:rPr lang="es-ES" sz="800"/>
                        <a:t>Bajos</a:t>
                      </a:r>
                    </a:p>
                  </a:txBody>
                  <a:tcPr marL="24355" marR="24355" marT="12177" marB="12177" anchor="ctr">
                    <a:lnL>
                      <a:noFill/>
                    </a:lnL>
                    <a:lnR>
                      <a:noFill/>
                    </a:lnR>
                    <a:lnT>
                      <a:noFill/>
                    </a:lnT>
                    <a:lnB>
                      <a:noFill/>
                    </a:lnB>
                  </a:tcPr>
                </a:tc>
                <a:tc>
                  <a:txBody>
                    <a:bodyPr/>
                    <a:lstStyle/>
                    <a:p>
                      <a:r>
                        <a:rPr lang="es-ES" sz="800"/>
                        <a:t>Muestra el "thread starvation" de platform</a:t>
                      </a:r>
                    </a:p>
                  </a:txBody>
                  <a:tcPr marL="24355" marR="24355" marT="12177" marB="12177" anchor="ctr">
                    <a:lnL>
                      <a:noFill/>
                    </a:lnL>
                    <a:lnR>
                      <a:noFill/>
                    </a:lnR>
                    <a:lnT>
                      <a:noFill/>
                    </a:lnT>
                    <a:lnB>
                      <a:noFill/>
                    </a:lnB>
                  </a:tcPr>
                </a:tc>
                <a:extLst>
                  <a:ext uri="{0D108BD9-81ED-4DB2-BD59-A6C34878D82A}">
                    <a16:rowId xmlns:a16="http://schemas.microsoft.com/office/drawing/2014/main" val="2812012445"/>
                  </a:ext>
                </a:extLst>
              </a:tr>
              <a:tr h="451700">
                <a:tc>
                  <a:txBody>
                    <a:bodyPr/>
                    <a:lstStyle/>
                    <a:p>
                      <a:r>
                        <a:rPr lang="es-ES" sz="800" dirty="0" err="1"/>
                        <a:t>rate</a:t>
                      </a:r>
                      <a:r>
                        <a:rPr lang="es-ES" sz="800" dirty="0"/>
                        <a:t>(</a:t>
                      </a:r>
                      <a:r>
                        <a:rPr lang="es-ES" sz="800" dirty="0" err="1"/>
                        <a:t>http_server_requests_seconds_count</a:t>
                      </a:r>
                      <a:r>
                        <a:rPr lang="es-ES" sz="800" dirty="0"/>
                        <a:t>[5m])</a:t>
                      </a:r>
                    </a:p>
                  </a:txBody>
                  <a:tcPr marL="24355" marR="24355" marT="12177" marB="12177" anchor="ctr">
                    <a:lnL>
                      <a:noFill/>
                    </a:lnL>
                    <a:lnR>
                      <a:noFill/>
                    </a:lnR>
                    <a:lnT>
                      <a:noFill/>
                    </a:lnT>
                    <a:lnB>
                      <a:noFill/>
                    </a:lnB>
                  </a:tcPr>
                </a:tc>
                <a:tc>
                  <a:txBody>
                    <a:bodyPr/>
                    <a:lstStyle/>
                    <a:p>
                      <a:r>
                        <a:rPr lang="es-ES" sz="800"/>
                        <a:t>Throughput (reqs/s)</a:t>
                      </a:r>
                    </a:p>
                  </a:txBody>
                  <a:tcPr marL="24355" marR="24355" marT="12177" marB="12177" anchor="ctr">
                    <a:lnL>
                      <a:noFill/>
                    </a:lnL>
                    <a:lnR>
                      <a:noFill/>
                    </a:lnR>
                    <a:lnT>
                      <a:noFill/>
                    </a:lnT>
                    <a:lnB>
                      <a:noFill/>
                    </a:lnB>
                  </a:tcPr>
                </a:tc>
                <a:tc>
                  <a:txBody>
                    <a:bodyPr/>
                    <a:lstStyle/>
                    <a:p>
                      <a:r>
                        <a:rPr lang="es-ES" sz="800"/>
                        <a:t>Limitado por pool</a:t>
                      </a:r>
                    </a:p>
                  </a:txBody>
                  <a:tcPr marL="24355" marR="24355" marT="12177" marB="12177" anchor="ctr">
                    <a:lnL>
                      <a:noFill/>
                    </a:lnL>
                    <a:lnR>
                      <a:noFill/>
                    </a:lnR>
                    <a:lnT>
                      <a:noFill/>
                    </a:lnT>
                    <a:lnB>
                      <a:noFill/>
                    </a:lnB>
                  </a:tcPr>
                </a:tc>
                <a:tc>
                  <a:txBody>
                    <a:bodyPr/>
                    <a:lstStyle/>
                    <a:p>
                      <a:r>
                        <a:rPr lang="es-ES" sz="800"/>
                        <a:t>Alto</a:t>
                      </a:r>
                    </a:p>
                  </a:txBody>
                  <a:tcPr marL="24355" marR="24355" marT="12177" marB="12177" anchor="ctr">
                    <a:lnL>
                      <a:noFill/>
                    </a:lnL>
                    <a:lnR>
                      <a:noFill/>
                    </a:lnR>
                    <a:lnT>
                      <a:noFill/>
                    </a:lnT>
                    <a:lnB>
                      <a:noFill/>
                    </a:lnB>
                  </a:tcPr>
                </a:tc>
                <a:tc>
                  <a:txBody>
                    <a:bodyPr/>
                    <a:lstStyle/>
                    <a:p>
                      <a:r>
                        <a:rPr lang="es-ES" sz="800"/>
                        <a:t>Alto (comparable)</a:t>
                      </a:r>
                    </a:p>
                  </a:txBody>
                  <a:tcPr marL="24355" marR="24355" marT="12177" marB="12177" anchor="ctr">
                    <a:lnL>
                      <a:noFill/>
                    </a:lnL>
                    <a:lnR>
                      <a:noFill/>
                    </a:lnR>
                    <a:lnT>
                      <a:noFill/>
                    </a:lnT>
                    <a:lnB>
                      <a:noFill/>
                    </a:lnB>
                  </a:tcPr>
                </a:tc>
                <a:tc>
                  <a:txBody>
                    <a:bodyPr/>
                    <a:lstStyle/>
                    <a:p>
                      <a:r>
                        <a:rPr lang="es-ES" sz="800"/>
                        <a:t>VT iguala a reactive en rendimiento con código simple</a:t>
                      </a:r>
                    </a:p>
                  </a:txBody>
                  <a:tcPr marL="24355" marR="24355" marT="12177" marB="12177" anchor="ctr">
                    <a:lnL>
                      <a:noFill/>
                    </a:lnL>
                    <a:lnR>
                      <a:noFill/>
                    </a:lnR>
                    <a:lnT>
                      <a:noFill/>
                    </a:lnT>
                    <a:lnB>
                      <a:noFill/>
                    </a:lnB>
                  </a:tcPr>
                </a:tc>
                <a:extLst>
                  <a:ext uri="{0D108BD9-81ED-4DB2-BD59-A6C34878D82A}">
                    <a16:rowId xmlns:a16="http://schemas.microsoft.com/office/drawing/2014/main" val="2503108651"/>
                  </a:ext>
                </a:extLst>
              </a:tr>
              <a:tr h="451700">
                <a:tc>
                  <a:txBody>
                    <a:bodyPr/>
                    <a:lstStyle/>
                    <a:p>
                      <a:r>
                        <a:rPr lang="es-ES" sz="800"/>
                        <a:t>Latencia P95 / P99 (histogram_quantile)</a:t>
                      </a:r>
                    </a:p>
                  </a:txBody>
                  <a:tcPr marL="24355" marR="24355" marT="12177" marB="12177" anchor="ctr">
                    <a:lnL>
                      <a:noFill/>
                    </a:lnL>
                    <a:lnR>
                      <a:noFill/>
                    </a:lnR>
                    <a:lnT>
                      <a:noFill/>
                    </a:lnT>
                    <a:lnB>
                      <a:noFill/>
                    </a:lnB>
                  </a:tcPr>
                </a:tc>
                <a:tc>
                  <a:txBody>
                    <a:bodyPr/>
                    <a:lstStyle/>
                    <a:p>
                      <a:r>
                        <a:rPr lang="es-ES" sz="800"/>
                        <a:t>Colas de espera bajo carga</a:t>
                      </a:r>
                    </a:p>
                  </a:txBody>
                  <a:tcPr marL="24355" marR="24355" marT="12177" marB="12177" anchor="ctr">
                    <a:lnL>
                      <a:noFill/>
                    </a:lnL>
                    <a:lnR>
                      <a:noFill/>
                    </a:lnR>
                    <a:lnT>
                      <a:noFill/>
                    </a:lnT>
                    <a:lnB>
                      <a:noFill/>
                    </a:lnB>
                  </a:tcPr>
                </a:tc>
                <a:tc>
                  <a:txBody>
                    <a:bodyPr/>
                    <a:lstStyle/>
                    <a:p>
                      <a:r>
                        <a:rPr lang="es-ES" sz="800"/>
                        <a:t>Alta cuando pool lleno</a:t>
                      </a:r>
                    </a:p>
                  </a:txBody>
                  <a:tcPr marL="24355" marR="24355" marT="12177" marB="12177" anchor="ctr">
                    <a:lnL>
                      <a:noFill/>
                    </a:lnL>
                    <a:lnR>
                      <a:noFill/>
                    </a:lnR>
                    <a:lnT>
                      <a:noFill/>
                    </a:lnT>
                    <a:lnB>
                      <a:noFill/>
                    </a:lnB>
                  </a:tcPr>
                </a:tc>
                <a:tc>
                  <a:txBody>
                    <a:bodyPr/>
                    <a:lstStyle/>
                    <a:p>
                      <a:r>
                        <a:rPr lang="es-ES" sz="800"/>
                        <a:t>Baja</a:t>
                      </a:r>
                    </a:p>
                  </a:txBody>
                  <a:tcPr marL="24355" marR="24355" marT="12177" marB="12177" anchor="ctr">
                    <a:lnL>
                      <a:noFill/>
                    </a:lnL>
                    <a:lnR>
                      <a:noFill/>
                    </a:lnR>
                    <a:lnT>
                      <a:noFill/>
                    </a:lnT>
                    <a:lnB>
                      <a:noFill/>
                    </a:lnB>
                  </a:tcPr>
                </a:tc>
                <a:tc>
                  <a:txBody>
                    <a:bodyPr/>
                    <a:lstStyle/>
                    <a:p>
                      <a:r>
                        <a:rPr lang="es-ES" sz="800"/>
                        <a:t>Baja</a:t>
                      </a:r>
                    </a:p>
                  </a:txBody>
                  <a:tcPr marL="24355" marR="24355" marT="12177" marB="12177" anchor="ctr">
                    <a:lnL>
                      <a:noFill/>
                    </a:lnL>
                    <a:lnR>
                      <a:noFill/>
                    </a:lnR>
                    <a:lnT>
                      <a:noFill/>
                    </a:lnT>
                    <a:lnB>
                      <a:noFill/>
                    </a:lnB>
                  </a:tcPr>
                </a:tc>
                <a:tc>
                  <a:txBody>
                    <a:bodyPr/>
                    <a:lstStyle/>
                    <a:p>
                      <a:r>
                        <a:rPr lang="es-ES" sz="800"/>
                        <a:t>VT no sufre queue buildup del thread pool</a:t>
                      </a:r>
                    </a:p>
                  </a:txBody>
                  <a:tcPr marL="24355" marR="24355" marT="12177" marB="12177" anchor="ctr">
                    <a:lnL>
                      <a:noFill/>
                    </a:lnL>
                    <a:lnR>
                      <a:noFill/>
                    </a:lnR>
                    <a:lnT>
                      <a:noFill/>
                    </a:lnT>
                    <a:lnB>
                      <a:noFill/>
                    </a:lnB>
                  </a:tcPr>
                </a:tc>
                <a:extLst>
                  <a:ext uri="{0D108BD9-81ED-4DB2-BD59-A6C34878D82A}">
                    <a16:rowId xmlns:a16="http://schemas.microsoft.com/office/drawing/2014/main" val="712546720"/>
                  </a:ext>
                </a:extLst>
              </a:tr>
              <a:tr h="347462">
                <a:tc>
                  <a:txBody>
                    <a:bodyPr/>
                    <a:lstStyle/>
                    <a:p>
                      <a:r>
                        <a:rPr lang="es-ES" sz="800"/>
                        <a:t>load.requests.failure rate</a:t>
                      </a:r>
                    </a:p>
                  </a:txBody>
                  <a:tcPr marL="24355" marR="24355" marT="12177" marB="12177" anchor="ctr">
                    <a:lnL>
                      <a:noFill/>
                    </a:lnL>
                    <a:lnR>
                      <a:noFill/>
                    </a:lnR>
                    <a:lnT>
                      <a:noFill/>
                    </a:lnT>
                    <a:lnB>
                      <a:noFill/>
                    </a:lnB>
                  </a:tcPr>
                </a:tc>
                <a:tc>
                  <a:txBody>
                    <a:bodyPr/>
                    <a:lstStyle/>
                    <a:p>
                      <a:r>
                        <a:rPr lang="es-ES" sz="800"/>
                        <a:t>Tasa de errores/rechazos</a:t>
                      </a:r>
                    </a:p>
                  </a:txBody>
                  <a:tcPr marL="24355" marR="24355" marT="12177" marB="12177" anchor="ctr">
                    <a:lnL>
                      <a:noFill/>
                    </a:lnL>
                    <a:lnR>
                      <a:noFill/>
                    </a:lnR>
                    <a:lnT>
                      <a:noFill/>
                    </a:lnT>
                    <a:lnB>
                      <a:noFill/>
                    </a:lnB>
                  </a:tcPr>
                </a:tc>
                <a:tc>
                  <a:txBody>
                    <a:bodyPr/>
                    <a:lstStyle/>
                    <a:p>
                      <a:r>
                        <a:rPr lang="es-ES" sz="800" dirty="0"/>
                        <a:t>Sube al saturar</a:t>
                      </a:r>
                    </a:p>
                  </a:txBody>
                  <a:tcPr marL="24355" marR="24355" marT="12177" marB="12177" anchor="ctr">
                    <a:lnL>
                      <a:noFill/>
                    </a:lnL>
                    <a:lnR>
                      <a:noFill/>
                    </a:lnR>
                    <a:lnT>
                      <a:noFill/>
                    </a:lnT>
                    <a:lnB>
                      <a:noFill/>
                    </a:lnB>
                  </a:tcPr>
                </a:tc>
                <a:tc>
                  <a:txBody>
                    <a:bodyPr/>
                    <a:lstStyle/>
                    <a:p>
                      <a:r>
                        <a:rPr lang="es-ES" sz="800" dirty="0"/>
                        <a:t>Muy baja</a:t>
                      </a:r>
                    </a:p>
                  </a:txBody>
                  <a:tcPr marL="24355" marR="24355" marT="12177" marB="12177" anchor="ctr">
                    <a:lnL>
                      <a:noFill/>
                    </a:lnL>
                    <a:lnR>
                      <a:noFill/>
                    </a:lnR>
                    <a:lnT>
                      <a:noFill/>
                    </a:lnT>
                    <a:lnB>
                      <a:noFill/>
                    </a:lnB>
                  </a:tcPr>
                </a:tc>
                <a:tc>
                  <a:txBody>
                    <a:bodyPr/>
                    <a:lstStyle/>
                    <a:p>
                      <a:r>
                        <a:rPr lang="es-ES" sz="800"/>
                        <a:t>Muy baja</a:t>
                      </a:r>
                    </a:p>
                  </a:txBody>
                  <a:tcPr marL="24355" marR="24355" marT="12177" marB="12177" anchor="ctr">
                    <a:lnL>
                      <a:noFill/>
                    </a:lnL>
                    <a:lnR>
                      <a:noFill/>
                    </a:lnR>
                    <a:lnT>
                      <a:noFill/>
                    </a:lnT>
                    <a:lnB>
                      <a:noFill/>
                    </a:lnB>
                  </a:tcPr>
                </a:tc>
                <a:tc>
                  <a:txBody>
                    <a:bodyPr/>
                    <a:lstStyle/>
                    <a:p>
                      <a:r>
                        <a:rPr lang="es-ES" sz="800"/>
                        <a:t>Platform falla cuando el pool está lleno</a:t>
                      </a:r>
                    </a:p>
                  </a:txBody>
                  <a:tcPr marL="24355" marR="24355" marT="12177" marB="12177" anchor="ctr">
                    <a:lnL>
                      <a:noFill/>
                    </a:lnL>
                    <a:lnR>
                      <a:noFill/>
                    </a:lnR>
                    <a:lnT>
                      <a:noFill/>
                    </a:lnT>
                    <a:lnB>
                      <a:noFill/>
                    </a:lnB>
                  </a:tcPr>
                </a:tc>
                <a:extLst>
                  <a:ext uri="{0D108BD9-81ED-4DB2-BD59-A6C34878D82A}">
                    <a16:rowId xmlns:a16="http://schemas.microsoft.com/office/drawing/2014/main" val="3273360243"/>
                  </a:ext>
                </a:extLst>
              </a:tr>
              <a:tr h="451700">
                <a:tc>
                  <a:txBody>
                    <a:bodyPr/>
                    <a:lstStyle/>
                    <a:p>
                      <a:r>
                        <a:rPr lang="es-ES" sz="800"/>
                        <a:t>process_resident_memory_bytes</a:t>
                      </a:r>
                    </a:p>
                  </a:txBody>
                  <a:tcPr marL="24355" marR="24355" marT="12177" marB="12177" anchor="ctr">
                    <a:lnL>
                      <a:noFill/>
                    </a:lnL>
                    <a:lnR>
                      <a:noFill/>
                    </a:lnR>
                    <a:lnT>
                      <a:noFill/>
                    </a:lnT>
                    <a:lnB>
                      <a:noFill/>
                    </a:lnB>
                  </a:tcPr>
                </a:tc>
                <a:tc>
                  <a:txBody>
                    <a:bodyPr/>
                    <a:lstStyle/>
                    <a:p>
                      <a:r>
                        <a:rPr lang="es-ES" sz="800"/>
                        <a:t>Memoria OS real consumida</a:t>
                      </a:r>
                    </a:p>
                  </a:txBody>
                  <a:tcPr marL="24355" marR="24355" marT="12177" marB="12177" anchor="ctr">
                    <a:lnL>
                      <a:noFill/>
                    </a:lnL>
                    <a:lnR>
                      <a:noFill/>
                    </a:lnR>
                    <a:lnT>
                      <a:noFill/>
                    </a:lnT>
                    <a:lnB>
                      <a:noFill/>
                    </a:lnB>
                  </a:tcPr>
                </a:tc>
                <a:tc>
                  <a:txBody>
                    <a:bodyPr/>
                    <a:lstStyle/>
                    <a:p>
                      <a:r>
                        <a:rPr lang="es-ES" sz="800"/>
                        <a:t>Alta (~1MB/hilo OS)</a:t>
                      </a:r>
                    </a:p>
                  </a:txBody>
                  <a:tcPr marL="24355" marR="24355" marT="12177" marB="12177" anchor="ctr">
                    <a:lnL>
                      <a:noFill/>
                    </a:lnL>
                    <a:lnR>
                      <a:noFill/>
                    </a:lnR>
                    <a:lnT>
                      <a:noFill/>
                    </a:lnT>
                    <a:lnB>
                      <a:noFill/>
                    </a:lnB>
                  </a:tcPr>
                </a:tc>
                <a:tc>
                  <a:txBody>
                    <a:bodyPr/>
                    <a:lstStyle/>
                    <a:p>
                      <a:r>
                        <a:rPr lang="es-ES" sz="800"/>
                        <a:t>Media</a:t>
                      </a:r>
                    </a:p>
                  </a:txBody>
                  <a:tcPr marL="24355" marR="24355" marT="12177" marB="12177" anchor="ctr">
                    <a:lnL>
                      <a:noFill/>
                    </a:lnL>
                    <a:lnR>
                      <a:noFill/>
                    </a:lnR>
                    <a:lnT>
                      <a:noFill/>
                    </a:lnT>
                    <a:lnB>
                      <a:noFill/>
                    </a:lnB>
                  </a:tcPr>
                </a:tc>
                <a:tc>
                  <a:txBody>
                    <a:bodyPr/>
                    <a:lstStyle/>
                    <a:p>
                      <a:r>
                        <a:rPr lang="es-ES" sz="800"/>
                        <a:t>Media-alta (VT tienen stack pequeño ~KB)</a:t>
                      </a:r>
                    </a:p>
                  </a:txBody>
                  <a:tcPr marL="24355" marR="24355" marT="12177" marB="12177" anchor="ctr">
                    <a:lnL>
                      <a:noFill/>
                    </a:lnL>
                    <a:lnR>
                      <a:noFill/>
                    </a:lnR>
                    <a:lnT>
                      <a:noFill/>
                    </a:lnT>
                    <a:lnB>
                      <a:noFill/>
                    </a:lnB>
                  </a:tcPr>
                </a:tc>
                <a:tc>
                  <a:txBody>
                    <a:bodyPr/>
                    <a:lstStyle/>
                    <a:p>
                      <a:r>
                        <a:rPr lang="es-ES" sz="800"/>
                        <a:t>VT son más ligeros en memoria que platform</a:t>
                      </a:r>
                    </a:p>
                  </a:txBody>
                  <a:tcPr marL="24355" marR="24355" marT="12177" marB="12177" anchor="ctr">
                    <a:lnL>
                      <a:noFill/>
                    </a:lnL>
                    <a:lnR>
                      <a:noFill/>
                    </a:lnR>
                    <a:lnT>
                      <a:noFill/>
                    </a:lnT>
                    <a:lnB>
                      <a:noFill/>
                    </a:lnB>
                  </a:tcPr>
                </a:tc>
                <a:extLst>
                  <a:ext uri="{0D108BD9-81ED-4DB2-BD59-A6C34878D82A}">
                    <a16:rowId xmlns:a16="http://schemas.microsoft.com/office/drawing/2014/main" val="2221991945"/>
                  </a:ext>
                </a:extLst>
              </a:tr>
              <a:tr h="451700">
                <a:tc>
                  <a:txBody>
                    <a:bodyPr/>
                    <a:lstStyle/>
                    <a:p>
                      <a:r>
                        <a:rPr lang="es-ES" sz="800"/>
                        <a:t>process_cpu_usage</a:t>
                      </a:r>
                    </a:p>
                  </a:txBody>
                  <a:tcPr marL="24355" marR="24355" marT="12177" marB="12177" anchor="ctr">
                    <a:lnL>
                      <a:noFill/>
                    </a:lnL>
                    <a:lnR>
                      <a:noFill/>
                    </a:lnR>
                    <a:lnT>
                      <a:noFill/>
                    </a:lnT>
                    <a:lnB>
                      <a:noFill/>
                    </a:lnB>
                  </a:tcPr>
                </a:tc>
                <a:tc>
                  <a:txBody>
                    <a:bodyPr/>
                    <a:lstStyle/>
                    <a:p>
                      <a:r>
                        <a:rPr lang="es-ES" sz="800"/>
                        <a:t>CPU consumida</a:t>
                      </a:r>
                    </a:p>
                  </a:txBody>
                  <a:tcPr marL="24355" marR="24355" marT="12177" marB="12177" anchor="ctr">
                    <a:lnL>
                      <a:noFill/>
                    </a:lnL>
                    <a:lnR>
                      <a:noFill/>
                    </a:lnR>
                    <a:lnT>
                      <a:noFill/>
                    </a:lnT>
                    <a:lnB>
                      <a:noFill/>
                    </a:lnB>
                  </a:tcPr>
                </a:tc>
                <a:tc>
                  <a:txBody>
                    <a:bodyPr/>
                    <a:lstStyle/>
                    <a:p>
                      <a:r>
                        <a:rPr lang="es-ES" sz="800"/>
                        <a:t>Media-Alta (context switch)</a:t>
                      </a:r>
                    </a:p>
                  </a:txBody>
                  <a:tcPr marL="24355" marR="24355" marT="12177" marB="12177" anchor="ctr">
                    <a:lnL>
                      <a:noFill/>
                    </a:lnL>
                    <a:lnR>
                      <a:noFill/>
                    </a:lnR>
                    <a:lnT>
                      <a:noFill/>
                    </a:lnT>
                    <a:lnB>
                      <a:noFill/>
                    </a:lnB>
                  </a:tcPr>
                </a:tc>
                <a:tc>
                  <a:txBody>
                    <a:bodyPr/>
                    <a:lstStyle/>
                    <a:p>
                      <a:r>
                        <a:rPr lang="es-ES" sz="800"/>
                        <a:t>Eficiente</a:t>
                      </a:r>
                    </a:p>
                  </a:txBody>
                  <a:tcPr marL="24355" marR="24355" marT="12177" marB="12177" anchor="ctr">
                    <a:lnL>
                      <a:noFill/>
                    </a:lnL>
                    <a:lnR>
                      <a:noFill/>
                    </a:lnR>
                    <a:lnT>
                      <a:noFill/>
                    </a:lnT>
                    <a:lnB>
                      <a:noFill/>
                    </a:lnB>
                  </a:tcPr>
                </a:tc>
                <a:tc>
                  <a:txBody>
                    <a:bodyPr/>
                    <a:lstStyle/>
                    <a:p>
                      <a:r>
                        <a:rPr lang="es-ES" sz="800"/>
                        <a:t>Eficiente</a:t>
                      </a:r>
                    </a:p>
                  </a:txBody>
                  <a:tcPr marL="24355" marR="24355" marT="12177" marB="12177" anchor="ctr">
                    <a:lnL>
                      <a:noFill/>
                    </a:lnL>
                    <a:lnR>
                      <a:noFill/>
                    </a:lnR>
                    <a:lnT>
                      <a:noFill/>
                    </a:lnT>
                    <a:lnB>
                      <a:noFill/>
                    </a:lnB>
                  </a:tcPr>
                </a:tc>
                <a:tc>
                  <a:txBody>
                    <a:bodyPr/>
                    <a:lstStyle/>
                    <a:p>
                      <a:r>
                        <a:rPr lang="es-ES" sz="800"/>
                        <a:t>Platform sufre context switching en saturación</a:t>
                      </a:r>
                    </a:p>
                  </a:txBody>
                  <a:tcPr marL="24355" marR="24355" marT="12177" marB="12177" anchor="ctr">
                    <a:lnL>
                      <a:noFill/>
                    </a:lnL>
                    <a:lnR>
                      <a:noFill/>
                    </a:lnR>
                    <a:lnT>
                      <a:noFill/>
                    </a:lnT>
                    <a:lnB>
                      <a:noFill/>
                    </a:lnB>
                  </a:tcPr>
                </a:tc>
                <a:extLst>
                  <a:ext uri="{0D108BD9-81ED-4DB2-BD59-A6C34878D82A}">
                    <a16:rowId xmlns:a16="http://schemas.microsoft.com/office/drawing/2014/main" val="2379444920"/>
                  </a:ext>
                </a:extLst>
              </a:tr>
              <a:tr h="555939">
                <a:tc>
                  <a:txBody>
                    <a:bodyPr/>
                    <a:lstStyle/>
                    <a:p>
                      <a:r>
                        <a:rPr lang="es-ES" sz="800"/>
                        <a:t>rate(jvm_gc_pause_seconds_sum[1m])</a:t>
                      </a:r>
                    </a:p>
                  </a:txBody>
                  <a:tcPr marL="24355" marR="24355" marT="12177" marB="12177" anchor="ctr">
                    <a:lnL>
                      <a:noFill/>
                    </a:lnL>
                    <a:lnR>
                      <a:noFill/>
                    </a:lnR>
                    <a:lnT>
                      <a:noFill/>
                    </a:lnT>
                    <a:lnB>
                      <a:noFill/>
                    </a:lnB>
                  </a:tcPr>
                </a:tc>
                <a:tc>
                  <a:txBody>
                    <a:bodyPr/>
                    <a:lstStyle/>
                    <a:p>
                      <a:r>
                        <a:rPr lang="es-ES" sz="800"/>
                        <a:t>Tiempo perdido en GC</a:t>
                      </a:r>
                    </a:p>
                  </a:txBody>
                  <a:tcPr marL="24355" marR="24355" marT="12177" marB="12177" anchor="ctr">
                    <a:lnL>
                      <a:noFill/>
                    </a:lnL>
                    <a:lnR>
                      <a:noFill/>
                    </a:lnR>
                    <a:lnT>
                      <a:noFill/>
                    </a:lnT>
                    <a:lnB>
                      <a:noFill/>
                    </a:lnB>
                  </a:tcPr>
                </a:tc>
                <a:tc>
                  <a:txBody>
                    <a:bodyPr/>
                    <a:lstStyle/>
                    <a:p>
                      <a:r>
                        <a:rPr lang="es-ES" sz="800"/>
                        <a:t>Moderado</a:t>
                      </a:r>
                    </a:p>
                  </a:txBody>
                  <a:tcPr marL="24355" marR="24355" marT="12177" marB="12177" anchor="ctr">
                    <a:lnL>
                      <a:noFill/>
                    </a:lnL>
                    <a:lnR>
                      <a:noFill/>
                    </a:lnR>
                    <a:lnT>
                      <a:noFill/>
                    </a:lnT>
                    <a:lnB>
                      <a:noFill/>
                    </a:lnB>
                  </a:tcPr>
                </a:tc>
                <a:tc>
                  <a:txBody>
                    <a:bodyPr/>
                    <a:lstStyle/>
                    <a:p>
                      <a:r>
                        <a:rPr lang="es-ES" sz="800"/>
                        <a:t>ALTO (muchos objetos reactivos)</a:t>
                      </a:r>
                    </a:p>
                  </a:txBody>
                  <a:tcPr marL="24355" marR="24355" marT="12177" marB="12177" anchor="ctr">
                    <a:lnL>
                      <a:noFill/>
                    </a:lnL>
                    <a:lnR>
                      <a:noFill/>
                    </a:lnR>
                    <a:lnT>
                      <a:noFill/>
                    </a:lnT>
                    <a:lnB>
                      <a:noFill/>
                    </a:lnB>
                  </a:tcPr>
                </a:tc>
                <a:tc>
                  <a:txBody>
                    <a:bodyPr/>
                    <a:lstStyle/>
                    <a:p>
                      <a:r>
                        <a:rPr lang="es-ES" sz="800"/>
                        <a:t>Moderado</a:t>
                      </a:r>
                    </a:p>
                  </a:txBody>
                  <a:tcPr marL="24355" marR="24355" marT="12177" marB="12177" anchor="ctr">
                    <a:lnL>
                      <a:noFill/>
                    </a:lnL>
                    <a:lnR>
                      <a:noFill/>
                    </a:lnR>
                    <a:lnT>
                      <a:noFill/>
                    </a:lnT>
                    <a:lnB>
                      <a:noFill/>
                    </a:lnB>
                  </a:tcPr>
                </a:tc>
                <a:tc>
                  <a:txBody>
                    <a:bodyPr/>
                    <a:lstStyle/>
                    <a:p>
                      <a:r>
                        <a:rPr lang="es-ES" sz="800"/>
                        <a:t>Reactive genera más garbage por la lambda/MonoFlux</a:t>
                      </a:r>
                    </a:p>
                  </a:txBody>
                  <a:tcPr marL="24355" marR="24355" marT="12177" marB="12177" anchor="ctr">
                    <a:lnL>
                      <a:noFill/>
                    </a:lnL>
                    <a:lnR>
                      <a:noFill/>
                    </a:lnR>
                    <a:lnT>
                      <a:noFill/>
                    </a:lnT>
                    <a:lnB>
                      <a:noFill/>
                    </a:lnB>
                  </a:tcPr>
                </a:tc>
                <a:extLst>
                  <a:ext uri="{0D108BD9-81ED-4DB2-BD59-A6C34878D82A}">
                    <a16:rowId xmlns:a16="http://schemas.microsoft.com/office/drawing/2014/main" val="3151790826"/>
                  </a:ext>
                </a:extLst>
              </a:tr>
              <a:tr h="347462">
                <a:tc>
                  <a:txBody>
                    <a:bodyPr/>
                    <a:lstStyle/>
                    <a:p>
                      <a:r>
                        <a:rPr lang="es-ES" sz="800"/>
                        <a:t>jvm_memory_used_bytes{area="heap"}</a:t>
                      </a:r>
                    </a:p>
                  </a:txBody>
                  <a:tcPr marL="24355" marR="24355" marT="12177" marB="12177" anchor="ctr">
                    <a:lnL>
                      <a:noFill/>
                    </a:lnL>
                    <a:lnR>
                      <a:noFill/>
                    </a:lnR>
                    <a:lnT>
                      <a:noFill/>
                    </a:lnT>
                    <a:lnB>
                      <a:noFill/>
                    </a:lnB>
                  </a:tcPr>
                </a:tc>
                <a:tc>
                  <a:txBody>
                    <a:bodyPr/>
                    <a:lstStyle/>
                    <a:p>
                      <a:r>
                        <a:rPr lang="es-ES" sz="800"/>
                        <a:t>Heap JVM usado</a:t>
                      </a:r>
                    </a:p>
                  </a:txBody>
                  <a:tcPr marL="24355" marR="24355" marT="12177" marB="12177" anchor="ctr">
                    <a:lnL>
                      <a:noFill/>
                    </a:lnL>
                    <a:lnR>
                      <a:noFill/>
                    </a:lnR>
                    <a:lnT>
                      <a:noFill/>
                    </a:lnT>
                    <a:lnB>
                      <a:noFill/>
                    </a:lnB>
                  </a:tcPr>
                </a:tc>
                <a:tc>
                  <a:txBody>
                    <a:bodyPr/>
                    <a:lstStyle/>
                    <a:p>
                      <a:r>
                        <a:rPr lang="es-ES" sz="800"/>
                        <a:t>Medio</a:t>
                      </a:r>
                    </a:p>
                  </a:txBody>
                  <a:tcPr marL="24355" marR="24355" marT="12177" marB="12177" anchor="ctr">
                    <a:lnL>
                      <a:noFill/>
                    </a:lnL>
                    <a:lnR>
                      <a:noFill/>
                    </a:lnR>
                    <a:lnT>
                      <a:noFill/>
                    </a:lnT>
                    <a:lnB>
                      <a:noFill/>
                    </a:lnB>
                  </a:tcPr>
                </a:tc>
                <a:tc>
                  <a:txBody>
                    <a:bodyPr/>
                    <a:lstStyle/>
                    <a:p>
                      <a:r>
                        <a:rPr lang="es-ES" sz="800"/>
                        <a:t>Medio-alto</a:t>
                      </a:r>
                    </a:p>
                  </a:txBody>
                  <a:tcPr marL="24355" marR="24355" marT="12177" marB="12177" anchor="ctr">
                    <a:lnL>
                      <a:noFill/>
                    </a:lnL>
                    <a:lnR>
                      <a:noFill/>
                    </a:lnR>
                    <a:lnT>
                      <a:noFill/>
                    </a:lnT>
                    <a:lnB>
                      <a:noFill/>
                    </a:lnB>
                  </a:tcPr>
                </a:tc>
                <a:tc>
                  <a:txBody>
                    <a:bodyPr/>
                    <a:lstStyle/>
                    <a:p>
                      <a:r>
                        <a:rPr lang="es-ES" sz="800"/>
                        <a:t>Medio</a:t>
                      </a:r>
                    </a:p>
                  </a:txBody>
                  <a:tcPr marL="24355" marR="24355" marT="12177" marB="12177" anchor="ctr">
                    <a:lnL>
                      <a:noFill/>
                    </a:lnL>
                    <a:lnR>
                      <a:noFill/>
                    </a:lnR>
                    <a:lnT>
                      <a:noFill/>
                    </a:lnT>
                    <a:lnB>
                      <a:noFill/>
                    </a:lnB>
                  </a:tcPr>
                </a:tc>
                <a:tc>
                  <a:txBody>
                    <a:bodyPr/>
                    <a:lstStyle/>
                    <a:p>
                      <a:r>
                        <a:rPr lang="es-ES" sz="800" dirty="0"/>
                        <a:t>GC </a:t>
                      </a:r>
                      <a:r>
                        <a:rPr lang="es-ES" sz="800" dirty="0" err="1"/>
                        <a:t>pressure</a:t>
                      </a:r>
                      <a:r>
                        <a:rPr lang="es-ES" sz="800" dirty="0"/>
                        <a:t> visible en </a:t>
                      </a:r>
                      <a:r>
                        <a:rPr lang="es-ES" sz="800" dirty="0" err="1"/>
                        <a:t>Heap</a:t>
                      </a:r>
                      <a:endParaRPr lang="es-ES" sz="800" dirty="0"/>
                    </a:p>
                  </a:txBody>
                  <a:tcPr marL="24355" marR="24355" marT="12177" marB="12177" anchor="ctr">
                    <a:lnL>
                      <a:noFill/>
                    </a:lnL>
                    <a:lnR>
                      <a:noFill/>
                    </a:lnR>
                    <a:lnT>
                      <a:noFill/>
                    </a:lnT>
                    <a:lnB>
                      <a:noFill/>
                    </a:lnB>
                  </a:tcPr>
                </a:tc>
                <a:extLst>
                  <a:ext uri="{0D108BD9-81ED-4DB2-BD59-A6C34878D82A}">
                    <a16:rowId xmlns:a16="http://schemas.microsoft.com/office/drawing/2014/main" val="1396838262"/>
                  </a:ext>
                </a:extLst>
              </a:tr>
            </a:tbl>
          </a:graphicData>
        </a:graphic>
      </p:graphicFrame>
    </p:spTree>
    <p:extLst>
      <p:ext uri="{BB962C8B-B14F-4D97-AF65-F5344CB8AC3E}">
        <p14:creationId xmlns:p14="http://schemas.microsoft.com/office/powerpoint/2010/main" val="925799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1813BA5-1943-7242-A19E-AA0B2A884048}"/>
              </a:ext>
            </a:extLst>
          </p:cNvPr>
          <p:cNvPicPr>
            <a:picLocks noChangeAspect="1"/>
          </p:cNvPicPr>
          <p:nvPr/>
        </p:nvPicPr>
        <p:blipFill>
          <a:blip r:embed="rId2"/>
          <a:stretch>
            <a:fillRect/>
          </a:stretch>
        </p:blipFill>
        <p:spPr>
          <a:xfrm>
            <a:off x="38421" y="516118"/>
            <a:ext cx="2756865" cy="2805515"/>
          </a:xfrm>
          <a:prstGeom prst="rect">
            <a:avLst/>
          </a:prstGeom>
        </p:spPr>
      </p:pic>
      <p:grpSp>
        <p:nvGrpSpPr>
          <p:cNvPr id="4" name="Group 3">
            <a:extLst>
              <a:ext uri="{FF2B5EF4-FFF2-40B4-BE49-F238E27FC236}">
                <a16:creationId xmlns:a16="http://schemas.microsoft.com/office/drawing/2014/main" id="{CE496FDB-825E-0C4C-B31C-82A9C997CB3E}"/>
              </a:ext>
            </a:extLst>
          </p:cNvPr>
          <p:cNvGrpSpPr/>
          <p:nvPr/>
        </p:nvGrpSpPr>
        <p:grpSpPr>
          <a:xfrm>
            <a:off x="2895096" y="2081868"/>
            <a:ext cx="3671345" cy="1298569"/>
            <a:chOff x="3860127" y="2775824"/>
            <a:chExt cx="4895127" cy="1731425"/>
          </a:xfrm>
        </p:grpSpPr>
        <p:pic>
          <p:nvPicPr>
            <p:cNvPr id="17" name="Picture 16">
              <a:extLst>
                <a:ext uri="{FF2B5EF4-FFF2-40B4-BE49-F238E27FC236}">
                  <a16:creationId xmlns:a16="http://schemas.microsoft.com/office/drawing/2014/main" id="{5B3FACD0-F622-0447-9289-B9E794F4FEAD}"/>
                </a:ext>
              </a:extLst>
            </p:cNvPr>
            <p:cNvPicPr>
              <a:picLocks noChangeAspect="1"/>
            </p:cNvPicPr>
            <p:nvPr/>
          </p:nvPicPr>
          <p:blipFill>
            <a:blip r:embed="rId3"/>
            <a:stretch>
              <a:fillRect/>
            </a:stretch>
          </p:blipFill>
          <p:spPr>
            <a:xfrm>
              <a:off x="3860127" y="2775824"/>
              <a:ext cx="4895127" cy="1731425"/>
            </a:xfrm>
            <a:prstGeom prst="rect">
              <a:avLst/>
            </a:prstGeom>
          </p:spPr>
        </p:pic>
        <p:pic>
          <p:nvPicPr>
            <p:cNvPr id="18" name="Picture 17">
              <a:extLst>
                <a:ext uri="{FF2B5EF4-FFF2-40B4-BE49-F238E27FC236}">
                  <a16:creationId xmlns:a16="http://schemas.microsoft.com/office/drawing/2014/main" id="{C3F349AA-9D7E-8C44-BA1B-3F46DAC0EA10}"/>
                </a:ext>
              </a:extLst>
            </p:cNvPr>
            <p:cNvPicPr>
              <a:picLocks noChangeAspect="1"/>
            </p:cNvPicPr>
            <p:nvPr/>
          </p:nvPicPr>
          <p:blipFill>
            <a:blip r:embed="rId4"/>
            <a:stretch>
              <a:fillRect/>
            </a:stretch>
          </p:blipFill>
          <p:spPr>
            <a:xfrm>
              <a:off x="5648445" y="3555260"/>
              <a:ext cx="2702287" cy="360759"/>
            </a:xfrm>
            <a:prstGeom prst="rect">
              <a:avLst/>
            </a:prstGeom>
          </p:spPr>
        </p:pic>
      </p:grpSp>
      <p:grpSp>
        <p:nvGrpSpPr>
          <p:cNvPr id="5" name="Group 4">
            <a:extLst>
              <a:ext uri="{FF2B5EF4-FFF2-40B4-BE49-F238E27FC236}">
                <a16:creationId xmlns:a16="http://schemas.microsoft.com/office/drawing/2014/main" id="{AFDD90E4-9365-344F-8FF6-BFA068758FAF}"/>
              </a:ext>
            </a:extLst>
          </p:cNvPr>
          <p:cNvGrpSpPr/>
          <p:nvPr/>
        </p:nvGrpSpPr>
        <p:grpSpPr>
          <a:xfrm>
            <a:off x="104172" y="3432718"/>
            <a:ext cx="6241220" cy="1573130"/>
            <a:chOff x="138896" y="4576957"/>
            <a:chExt cx="8321626" cy="2097506"/>
          </a:xfrm>
        </p:grpSpPr>
        <p:pic>
          <p:nvPicPr>
            <p:cNvPr id="19" name="Picture 18">
              <a:extLst>
                <a:ext uri="{FF2B5EF4-FFF2-40B4-BE49-F238E27FC236}">
                  <a16:creationId xmlns:a16="http://schemas.microsoft.com/office/drawing/2014/main" id="{F96DFE44-D4BA-374E-86C2-9DFF4A51A482}"/>
                </a:ext>
              </a:extLst>
            </p:cNvPr>
            <p:cNvPicPr>
              <a:picLocks noChangeAspect="1"/>
            </p:cNvPicPr>
            <p:nvPr/>
          </p:nvPicPr>
          <p:blipFill>
            <a:blip r:embed="rId5"/>
            <a:stretch>
              <a:fillRect/>
            </a:stretch>
          </p:blipFill>
          <p:spPr>
            <a:xfrm>
              <a:off x="138896" y="4576957"/>
              <a:ext cx="8321626" cy="2097506"/>
            </a:xfrm>
            <a:prstGeom prst="rect">
              <a:avLst/>
            </a:prstGeom>
          </p:spPr>
        </p:pic>
        <p:pic>
          <p:nvPicPr>
            <p:cNvPr id="20" name="Picture 19">
              <a:extLst>
                <a:ext uri="{FF2B5EF4-FFF2-40B4-BE49-F238E27FC236}">
                  <a16:creationId xmlns:a16="http://schemas.microsoft.com/office/drawing/2014/main" id="{D6DEF4C7-BCDD-0043-9E96-139ADB4EEC37}"/>
                </a:ext>
              </a:extLst>
            </p:cNvPr>
            <p:cNvPicPr>
              <a:picLocks noChangeAspect="1"/>
            </p:cNvPicPr>
            <p:nvPr/>
          </p:nvPicPr>
          <p:blipFill>
            <a:blip r:embed="rId6"/>
            <a:stretch>
              <a:fillRect/>
            </a:stretch>
          </p:blipFill>
          <p:spPr>
            <a:xfrm>
              <a:off x="5938536" y="5390935"/>
              <a:ext cx="2412196" cy="469550"/>
            </a:xfrm>
            <a:prstGeom prst="rect">
              <a:avLst/>
            </a:prstGeom>
          </p:spPr>
        </p:pic>
      </p:grpSp>
      <p:sp>
        <p:nvSpPr>
          <p:cNvPr id="3" name="Rectangle 2">
            <a:extLst>
              <a:ext uri="{FF2B5EF4-FFF2-40B4-BE49-F238E27FC236}">
                <a16:creationId xmlns:a16="http://schemas.microsoft.com/office/drawing/2014/main" id="{360FBF26-4E27-B843-8FE4-CA977264ADE8}"/>
              </a:ext>
            </a:extLst>
          </p:cNvPr>
          <p:cNvSpPr/>
          <p:nvPr/>
        </p:nvSpPr>
        <p:spPr>
          <a:xfrm>
            <a:off x="-105742" y="5230"/>
            <a:ext cx="9119287" cy="900246"/>
          </a:xfrm>
          <a:prstGeom prst="rect">
            <a:avLst/>
          </a:prstGeom>
          <a:noFill/>
        </p:spPr>
        <p:txBody>
          <a:bodyPr wrap="square" lIns="68580" tIns="34290" rIns="68580" bIns="34290">
            <a:spAutoFit/>
          </a:bodyPr>
          <a:lstStyle/>
          <a:p>
            <a:pPr algn="ct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Monitoreo</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JVM y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Comparación</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de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Hilos</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 Platform Threads</a:t>
            </a:r>
          </a:p>
        </p:txBody>
      </p:sp>
      <p:grpSp>
        <p:nvGrpSpPr>
          <p:cNvPr id="6" name="Group 5">
            <a:extLst>
              <a:ext uri="{FF2B5EF4-FFF2-40B4-BE49-F238E27FC236}">
                <a16:creationId xmlns:a16="http://schemas.microsoft.com/office/drawing/2014/main" id="{07AD2752-BD9A-5742-BADC-9255861BBF77}"/>
              </a:ext>
            </a:extLst>
          </p:cNvPr>
          <p:cNvGrpSpPr/>
          <p:nvPr/>
        </p:nvGrpSpPr>
        <p:grpSpPr>
          <a:xfrm>
            <a:off x="2895096" y="516118"/>
            <a:ext cx="6112981" cy="1513470"/>
            <a:chOff x="3860127" y="688157"/>
            <a:chExt cx="8150641" cy="2017960"/>
          </a:xfrm>
        </p:grpSpPr>
        <p:pic>
          <p:nvPicPr>
            <p:cNvPr id="16" name="Picture 15">
              <a:extLst>
                <a:ext uri="{FF2B5EF4-FFF2-40B4-BE49-F238E27FC236}">
                  <a16:creationId xmlns:a16="http://schemas.microsoft.com/office/drawing/2014/main" id="{1A7A88E6-ECD2-5D4E-9301-9F7BB4CC6526}"/>
                </a:ext>
              </a:extLst>
            </p:cNvPr>
            <p:cNvPicPr>
              <a:picLocks noChangeAspect="1"/>
            </p:cNvPicPr>
            <p:nvPr/>
          </p:nvPicPr>
          <p:blipFill>
            <a:blip r:embed="rId7"/>
            <a:stretch>
              <a:fillRect/>
            </a:stretch>
          </p:blipFill>
          <p:spPr>
            <a:xfrm>
              <a:off x="3860127" y="688157"/>
              <a:ext cx="8150641" cy="2017960"/>
            </a:xfrm>
            <a:prstGeom prst="rect">
              <a:avLst/>
            </a:prstGeom>
          </p:spPr>
        </p:pic>
        <p:pic>
          <p:nvPicPr>
            <p:cNvPr id="2" name="Picture 1">
              <a:extLst>
                <a:ext uri="{FF2B5EF4-FFF2-40B4-BE49-F238E27FC236}">
                  <a16:creationId xmlns:a16="http://schemas.microsoft.com/office/drawing/2014/main" id="{62C226F1-11A4-2C4D-9425-0F9E4085B094}"/>
                </a:ext>
              </a:extLst>
            </p:cNvPr>
            <p:cNvPicPr>
              <a:picLocks noChangeAspect="1"/>
            </p:cNvPicPr>
            <p:nvPr/>
          </p:nvPicPr>
          <p:blipFill>
            <a:blip r:embed="rId8"/>
            <a:stretch>
              <a:fillRect/>
            </a:stretch>
          </p:blipFill>
          <p:spPr>
            <a:xfrm>
              <a:off x="8460522" y="1334403"/>
              <a:ext cx="2341864" cy="326772"/>
            </a:xfrm>
            <a:prstGeom prst="rect">
              <a:avLst/>
            </a:prstGeom>
          </p:spPr>
        </p:pic>
      </p:grpSp>
    </p:spTree>
    <p:extLst>
      <p:ext uri="{BB962C8B-B14F-4D97-AF65-F5344CB8AC3E}">
        <p14:creationId xmlns:p14="http://schemas.microsoft.com/office/powerpoint/2010/main" val="2414237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01B270-FEBA-1543-AC96-828F37F472DF}"/>
              </a:ext>
            </a:extLst>
          </p:cNvPr>
          <p:cNvSpPr/>
          <p:nvPr/>
        </p:nvSpPr>
        <p:spPr>
          <a:xfrm>
            <a:off x="-150941" y="1"/>
            <a:ext cx="9119287" cy="900246"/>
          </a:xfrm>
          <a:prstGeom prst="rect">
            <a:avLst/>
          </a:prstGeom>
          <a:noFill/>
        </p:spPr>
        <p:txBody>
          <a:bodyPr wrap="square" lIns="68580" tIns="34290" rIns="68580" bIns="34290">
            <a:spAutoFit/>
          </a:bodyPr>
          <a:lstStyle/>
          <a:p>
            <a:pPr algn="ct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Monitoreo</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JVM y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Comparación</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de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Hilos</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Versión</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Reactiva</a:t>
            </a:r>
            <a:endPar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2" name="Picture 1">
            <a:extLst>
              <a:ext uri="{FF2B5EF4-FFF2-40B4-BE49-F238E27FC236}">
                <a16:creationId xmlns:a16="http://schemas.microsoft.com/office/drawing/2014/main" id="{0B5BF49A-CF89-A949-BDD0-57190880F656}"/>
              </a:ext>
            </a:extLst>
          </p:cNvPr>
          <p:cNvPicPr>
            <a:picLocks noChangeAspect="1"/>
          </p:cNvPicPr>
          <p:nvPr/>
        </p:nvPicPr>
        <p:blipFill>
          <a:blip r:embed="rId2"/>
          <a:stretch>
            <a:fillRect/>
          </a:stretch>
        </p:blipFill>
        <p:spPr>
          <a:xfrm>
            <a:off x="37071" y="557726"/>
            <a:ext cx="2576383" cy="2921586"/>
          </a:xfrm>
          <a:prstGeom prst="rect">
            <a:avLst/>
          </a:prstGeom>
        </p:spPr>
      </p:pic>
      <p:pic>
        <p:nvPicPr>
          <p:cNvPr id="6" name="Picture 5">
            <a:extLst>
              <a:ext uri="{FF2B5EF4-FFF2-40B4-BE49-F238E27FC236}">
                <a16:creationId xmlns:a16="http://schemas.microsoft.com/office/drawing/2014/main" id="{5F3F8AA2-CED8-314C-9586-224870364044}"/>
              </a:ext>
            </a:extLst>
          </p:cNvPr>
          <p:cNvPicPr>
            <a:picLocks noChangeAspect="1"/>
          </p:cNvPicPr>
          <p:nvPr/>
        </p:nvPicPr>
        <p:blipFill>
          <a:blip r:embed="rId3"/>
          <a:stretch>
            <a:fillRect/>
          </a:stretch>
        </p:blipFill>
        <p:spPr>
          <a:xfrm>
            <a:off x="2687594" y="749041"/>
            <a:ext cx="6280751" cy="1417724"/>
          </a:xfrm>
          <a:prstGeom prst="rect">
            <a:avLst/>
          </a:prstGeom>
        </p:spPr>
      </p:pic>
      <p:pic>
        <p:nvPicPr>
          <p:cNvPr id="7" name="Picture 6">
            <a:extLst>
              <a:ext uri="{FF2B5EF4-FFF2-40B4-BE49-F238E27FC236}">
                <a16:creationId xmlns:a16="http://schemas.microsoft.com/office/drawing/2014/main" id="{E8A397A6-9C84-A047-AA29-AFC6A4FDADDC}"/>
              </a:ext>
            </a:extLst>
          </p:cNvPr>
          <p:cNvPicPr>
            <a:picLocks noChangeAspect="1"/>
          </p:cNvPicPr>
          <p:nvPr/>
        </p:nvPicPr>
        <p:blipFill>
          <a:blip r:embed="rId4"/>
          <a:stretch>
            <a:fillRect/>
          </a:stretch>
        </p:blipFill>
        <p:spPr>
          <a:xfrm>
            <a:off x="2687594" y="2243064"/>
            <a:ext cx="3013633" cy="1156460"/>
          </a:xfrm>
          <a:prstGeom prst="rect">
            <a:avLst/>
          </a:prstGeom>
        </p:spPr>
      </p:pic>
      <p:pic>
        <p:nvPicPr>
          <p:cNvPr id="8" name="Picture 7">
            <a:extLst>
              <a:ext uri="{FF2B5EF4-FFF2-40B4-BE49-F238E27FC236}">
                <a16:creationId xmlns:a16="http://schemas.microsoft.com/office/drawing/2014/main" id="{EB61F267-2819-544E-BBB5-3E036A95EC73}"/>
              </a:ext>
            </a:extLst>
          </p:cNvPr>
          <p:cNvPicPr>
            <a:picLocks noChangeAspect="1"/>
          </p:cNvPicPr>
          <p:nvPr/>
        </p:nvPicPr>
        <p:blipFill>
          <a:blip r:embed="rId5"/>
          <a:stretch>
            <a:fillRect/>
          </a:stretch>
        </p:blipFill>
        <p:spPr>
          <a:xfrm>
            <a:off x="3300262" y="2904392"/>
            <a:ext cx="2216879" cy="280691"/>
          </a:xfrm>
          <a:prstGeom prst="rect">
            <a:avLst/>
          </a:prstGeom>
        </p:spPr>
      </p:pic>
      <p:pic>
        <p:nvPicPr>
          <p:cNvPr id="4" name="Picture 3">
            <a:extLst>
              <a:ext uri="{FF2B5EF4-FFF2-40B4-BE49-F238E27FC236}">
                <a16:creationId xmlns:a16="http://schemas.microsoft.com/office/drawing/2014/main" id="{B6CACC89-DF50-6C4D-B9CC-371D1AED31D0}"/>
              </a:ext>
            </a:extLst>
          </p:cNvPr>
          <p:cNvPicPr>
            <a:picLocks noChangeAspect="1"/>
          </p:cNvPicPr>
          <p:nvPr/>
        </p:nvPicPr>
        <p:blipFill>
          <a:blip r:embed="rId6"/>
          <a:stretch>
            <a:fillRect/>
          </a:stretch>
        </p:blipFill>
        <p:spPr>
          <a:xfrm>
            <a:off x="129745" y="3475823"/>
            <a:ext cx="6591077" cy="1605758"/>
          </a:xfrm>
          <a:prstGeom prst="rect">
            <a:avLst/>
          </a:prstGeom>
        </p:spPr>
      </p:pic>
    </p:spTree>
    <p:extLst>
      <p:ext uri="{BB962C8B-B14F-4D97-AF65-F5344CB8AC3E}">
        <p14:creationId xmlns:p14="http://schemas.microsoft.com/office/powerpoint/2010/main" val="3668946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266C9B-5F58-4441-8078-54B560307665}"/>
              </a:ext>
            </a:extLst>
          </p:cNvPr>
          <p:cNvPicPr>
            <a:picLocks noChangeAspect="1"/>
          </p:cNvPicPr>
          <p:nvPr/>
        </p:nvPicPr>
        <p:blipFill>
          <a:blip r:embed="rId2"/>
          <a:stretch>
            <a:fillRect/>
          </a:stretch>
        </p:blipFill>
        <p:spPr>
          <a:xfrm>
            <a:off x="104171" y="619368"/>
            <a:ext cx="2352555" cy="2612253"/>
          </a:xfrm>
          <a:prstGeom prst="rect">
            <a:avLst/>
          </a:prstGeom>
        </p:spPr>
      </p:pic>
      <p:sp>
        <p:nvSpPr>
          <p:cNvPr id="6" name="Rectangle 5">
            <a:extLst>
              <a:ext uri="{FF2B5EF4-FFF2-40B4-BE49-F238E27FC236}">
                <a16:creationId xmlns:a16="http://schemas.microsoft.com/office/drawing/2014/main" id="{5D6900BC-8962-0742-B83D-C2CBF0054EFC}"/>
              </a:ext>
            </a:extLst>
          </p:cNvPr>
          <p:cNvSpPr/>
          <p:nvPr/>
        </p:nvSpPr>
        <p:spPr>
          <a:xfrm>
            <a:off x="0" y="1"/>
            <a:ext cx="9119287" cy="900246"/>
          </a:xfrm>
          <a:prstGeom prst="rect">
            <a:avLst/>
          </a:prstGeom>
          <a:noFill/>
        </p:spPr>
        <p:txBody>
          <a:bodyPr wrap="square" lIns="68580" tIns="34290" rIns="68580" bIns="34290">
            <a:spAutoFit/>
          </a:bodyPr>
          <a:lstStyle/>
          <a:p>
            <a:pPr algn="ct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Monitoreo</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JVM y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Comparación</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de </a:t>
            </a:r>
            <a:r>
              <a:rPr lang="en-US" sz="27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Hilos</a:t>
            </a:r>
            <a:r>
              <a:rPr lang="en-US" sz="27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 Virtual Threads</a:t>
            </a:r>
          </a:p>
        </p:txBody>
      </p:sp>
      <p:grpSp>
        <p:nvGrpSpPr>
          <p:cNvPr id="7" name="Group 6">
            <a:extLst>
              <a:ext uri="{FF2B5EF4-FFF2-40B4-BE49-F238E27FC236}">
                <a16:creationId xmlns:a16="http://schemas.microsoft.com/office/drawing/2014/main" id="{22F13F22-C4DC-F742-B1AD-7221499C4C5B}"/>
              </a:ext>
            </a:extLst>
          </p:cNvPr>
          <p:cNvGrpSpPr/>
          <p:nvPr/>
        </p:nvGrpSpPr>
        <p:grpSpPr>
          <a:xfrm>
            <a:off x="2503064" y="786047"/>
            <a:ext cx="6467942" cy="1407906"/>
            <a:chOff x="3337419" y="1048062"/>
            <a:chExt cx="8623922" cy="1877208"/>
          </a:xfrm>
        </p:grpSpPr>
        <p:pic>
          <p:nvPicPr>
            <p:cNvPr id="2" name="Picture 1">
              <a:extLst>
                <a:ext uri="{FF2B5EF4-FFF2-40B4-BE49-F238E27FC236}">
                  <a16:creationId xmlns:a16="http://schemas.microsoft.com/office/drawing/2014/main" id="{7C89453E-6FFD-B64E-A591-33CA57086B48}"/>
                </a:ext>
              </a:extLst>
            </p:cNvPr>
            <p:cNvPicPr>
              <a:picLocks noChangeAspect="1"/>
            </p:cNvPicPr>
            <p:nvPr/>
          </p:nvPicPr>
          <p:blipFill>
            <a:blip r:embed="rId3"/>
            <a:stretch>
              <a:fillRect/>
            </a:stretch>
          </p:blipFill>
          <p:spPr>
            <a:xfrm>
              <a:off x="3337419" y="1048062"/>
              <a:ext cx="8623922" cy="1877208"/>
            </a:xfrm>
            <a:prstGeom prst="rect">
              <a:avLst/>
            </a:prstGeom>
          </p:spPr>
        </p:pic>
        <p:pic>
          <p:nvPicPr>
            <p:cNvPr id="3" name="Picture 2">
              <a:extLst>
                <a:ext uri="{FF2B5EF4-FFF2-40B4-BE49-F238E27FC236}">
                  <a16:creationId xmlns:a16="http://schemas.microsoft.com/office/drawing/2014/main" id="{A9B67EF0-BD18-224F-BB4C-7634311068FB}"/>
                </a:ext>
              </a:extLst>
            </p:cNvPr>
            <p:cNvPicPr>
              <a:picLocks noChangeAspect="1"/>
            </p:cNvPicPr>
            <p:nvPr/>
          </p:nvPicPr>
          <p:blipFill>
            <a:blip r:embed="rId4"/>
            <a:stretch>
              <a:fillRect/>
            </a:stretch>
          </p:blipFill>
          <p:spPr>
            <a:xfrm>
              <a:off x="7537620" y="1793977"/>
              <a:ext cx="2057915" cy="385377"/>
            </a:xfrm>
            <a:prstGeom prst="rect">
              <a:avLst/>
            </a:prstGeom>
          </p:spPr>
        </p:pic>
      </p:grpSp>
      <p:grpSp>
        <p:nvGrpSpPr>
          <p:cNvPr id="10" name="Group 9">
            <a:extLst>
              <a:ext uri="{FF2B5EF4-FFF2-40B4-BE49-F238E27FC236}">
                <a16:creationId xmlns:a16="http://schemas.microsoft.com/office/drawing/2014/main" id="{B2435F63-839D-C44B-8399-37D33AA2FCE8}"/>
              </a:ext>
            </a:extLst>
          </p:cNvPr>
          <p:cNvGrpSpPr/>
          <p:nvPr/>
        </p:nvGrpSpPr>
        <p:grpSpPr>
          <a:xfrm>
            <a:off x="2503065" y="2213409"/>
            <a:ext cx="2874877" cy="1120715"/>
            <a:chOff x="3337419" y="2951212"/>
            <a:chExt cx="3833169" cy="1494286"/>
          </a:xfrm>
        </p:grpSpPr>
        <p:pic>
          <p:nvPicPr>
            <p:cNvPr id="8" name="Picture 7">
              <a:extLst>
                <a:ext uri="{FF2B5EF4-FFF2-40B4-BE49-F238E27FC236}">
                  <a16:creationId xmlns:a16="http://schemas.microsoft.com/office/drawing/2014/main" id="{14D49BA7-EF9A-8441-82E4-0D2EA41748C0}"/>
                </a:ext>
              </a:extLst>
            </p:cNvPr>
            <p:cNvPicPr>
              <a:picLocks noChangeAspect="1"/>
            </p:cNvPicPr>
            <p:nvPr/>
          </p:nvPicPr>
          <p:blipFill>
            <a:blip r:embed="rId5"/>
            <a:stretch>
              <a:fillRect/>
            </a:stretch>
          </p:blipFill>
          <p:spPr>
            <a:xfrm>
              <a:off x="3337419" y="2951212"/>
              <a:ext cx="3833169" cy="1494286"/>
            </a:xfrm>
            <a:prstGeom prst="rect">
              <a:avLst/>
            </a:prstGeom>
          </p:spPr>
        </p:pic>
        <p:pic>
          <p:nvPicPr>
            <p:cNvPr id="9" name="Picture 8">
              <a:extLst>
                <a:ext uri="{FF2B5EF4-FFF2-40B4-BE49-F238E27FC236}">
                  <a16:creationId xmlns:a16="http://schemas.microsoft.com/office/drawing/2014/main" id="{3C20CEEC-D1BF-8C4B-B77A-250B7AF8AC7A}"/>
                </a:ext>
              </a:extLst>
            </p:cNvPr>
            <p:cNvPicPr>
              <a:picLocks noChangeAspect="1"/>
            </p:cNvPicPr>
            <p:nvPr/>
          </p:nvPicPr>
          <p:blipFill>
            <a:blip r:embed="rId6"/>
            <a:stretch>
              <a:fillRect/>
            </a:stretch>
          </p:blipFill>
          <p:spPr>
            <a:xfrm>
              <a:off x="4473146" y="3525192"/>
              <a:ext cx="2473754" cy="346326"/>
            </a:xfrm>
            <a:prstGeom prst="rect">
              <a:avLst/>
            </a:prstGeom>
          </p:spPr>
        </p:pic>
      </p:grpSp>
      <p:pic>
        <p:nvPicPr>
          <p:cNvPr id="11" name="Picture 10">
            <a:extLst>
              <a:ext uri="{FF2B5EF4-FFF2-40B4-BE49-F238E27FC236}">
                <a16:creationId xmlns:a16="http://schemas.microsoft.com/office/drawing/2014/main" id="{63305E37-5A83-7C4F-B31D-8D1F182E15E2}"/>
              </a:ext>
            </a:extLst>
          </p:cNvPr>
          <p:cNvPicPr>
            <a:picLocks noChangeAspect="1"/>
          </p:cNvPicPr>
          <p:nvPr/>
        </p:nvPicPr>
        <p:blipFill>
          <a:blip r:embed="rId7"/>
          <a:stretch>
            <a:fillRect/>
          </a:stretch>
        </p:blipFill>
        <p:spPr>
          <a:xfrm>
            <a:off x="104171" y="3366242"/>
            <a:ext cx="7357871" cy="1716381"/>
          </a:xfrm>
          <a:prstGeom prst="rect">
            <a:avLst/>
          </a:prstGeom>
        </p:spPr>
      </p:pic>
      <p:pic>
        <p:nvPicPr>
          <p:cNvPr id="12" name="Picture 11">
            <a:extLst>
              <a:ext uri="{FF2B5EF4-FFF2-40B4-BE49-F238E27FC236}">
                <a16:creationId xmlns:a16="http://schemas.microsoft.com/office/drawing/2014/main" id="{46E71878-354C-694D-86EC-E9E977AC48EF}"/>
              </a:ext>
            </a:extLst>
          </p:cNvPr>
          <p:cNvPicPr>
            <a:picLocks noChangeAspect="1"/>
          </p:cNvPicPr>
          <p:nvPr/>
        </p:nvPicPr>
        <p:blipFill>
          <a:blip r:embed="rId8"/>
          <a:stretch>
            <a:fillRect/>
          </a:stretch>
        </p:blipFill>
        <p:spPr>
          <a:xfrm>
            <a:off x="5458597" y="3657179"/>
            <a:ext cx="1542020" cy="343450"/>
          </a:xfrm>
          <a:prstGeom prst="rect">
            <a:avLst/>
          </a:prstGeom>
        </p:spPr>
      </p:pic>
      <p:pic>
        <p:nvPicPr>
          <p:cNvPr id="4" name="Picture 3">
            <a:extLst>
              <a:ext uri="{FF2B5EF4-FFF2-40B4-BE49-F238E27FC236}">
                <a16:creationId xmlns:a16="http://schemas.microsoft.com/office/drawing/2014/main" id="{8D6A1889-9C25-3C4A-9DB4-A57997657751}"/>
              </a:ext>
            </a:extLst>
          </p:cNvPr>
          <p:cNvPicPr>
            <a:picLocks noChangeAspect="1"/>
          </p:cNvPicPr>
          <p:nvPr/>
        </p:nvPicPr>
        <p:blipFill>
          <a:blip r:embed="rId9"/>
          <a:stretch>
            <a:fillRect/>
          </a:stretch>
        </p:blipFill>
        <p:spPr>
          <a:xfrm>
            <a:off x="376598" y="3532919"/>
            <a:ext cx="2126466" cy="395802"/>
          </a:xfrm>
          <a:prstGeom prst="rect">
            <a:avLst/>
          </a:prstGeom>
        </p:spPr>
      </p:pic>
    </p:spTree>
    <p:extLst>
      <p:ext uri="{BB962C8B-B14F-4D97-AF65-F5344CB8AC3E}">
        <p14:creationId xmlns:p14="http://schemas.microsoft.com/office/powerpoint/2010/main" val="4254562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039B50-FC3E-1B49-A3EB-FE6A2DD22EED}"/>
              </a:ext>
            </a:extLst>
          </p:cNvPr>
          <p:cNvSpPr txBox="1"/>
          <p:nvPr/>
        </p:nvSpPr>
        <p:spPr>
          <a:xfrm>
            <a:off x="479879" y="476617"/>
            <a:ext cx="7962876" cy="3947234"/>
          </a:xfrm>
          <a:prstGeom prst="rect">
            <a:avLst/>
          </a:prstGeom>
          <a:noFill/>
        </p:spPr>
        <p:txBody>
          <a:bodyPr wrap="square" rtlCol="0">
            <a:spAutoFit/>
          </a:bodyPr>
          <a:lstStyle/>
          <a:p>
            <a:r>
              <a:rPr lang="es-ES" sz="2400" b="1" u="sng" dirty="0"/>
              <a:t>Ventajas de Virtual </a:t>
            </a:r>
            <a:r>
              <a:rPr lang="es-ES" sz="2400" b="1" u="sng" dirty="0" err="1"/>
              <a:t>Threads</a:t>
            </a:r>
            <a:endParaRPr lang="es-ES" sz="2400" b="1" u="sng" dirty="0"/>
          </a:p>
          <a:p>
            <a:endParaRPr lang="es-ES" sz="1800" u="sng" dirty="0"/>
          </a:p>
          <a:p>
            <a:pPr marL="239316" indent="-98822">
              <a:buFont typeface="Arial" panose="020B0604020202020204" pitchFamily="34" charset="0"/>
              <a:buChar char="•"/>
            </a:pPr>
            <a:r>
              <a:rPr lang="es-ES" sz="1800" dirty="0"/>
              <a:t>Escalabilidad: Los servidores pueden manejar miles de </a:t>
            </a:r>
            <a:r>
              <a:rPr lang="es-ES" sz="1800" dirty="0" err="1"/>
              <a:t>requests</a:t>
            </a:r>
            <a:r>
              <a:rPr lang="es-ES" sz="1800" dirty="0"/>
              <a:t> concurrentes (vs ~200 con </a:t>
            </a:r>
            <a:r>
              <a:rPr lang="es-ES" sz="1800" dirty="0" err="1"/>
              <a:t>platform</a:t>
            </a:r>
            <a:r>
              <a:rPr lang="es-ES" sz="1800" dirty="0"/>
              <a:t> </a:t>
            </a:r>
            <a:r>
              <a:rPr lang="es-ES" sz="1800" dirty="0" err="1"/>
              <a:t>threads</a:t>
            </a:r>
            <a:r>
              <a:rPr lang="es-ES" sz="1800" dirty="0"/>
              <a:t>)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Memoria eficiente: Cada virtual </a:t>
            </a:r>
            <a:r>
              <a:rPr lang="es-ES" sz="1800" dirty="0" err="1"/>
              <a:t>thread</a:t>
            </a:r>
            <a:r>
              <a:rPr lang="es-ES" sz="1800" dirty="0"/>
              <a:t> consume ~1KB (vs ~1MB de </a:t>
            </a:r>
            <a:r>
              <a:rPr lang="es-ES" sz="1800" dirty="0" err="1"/>
              <a:t>platform</a:t>
            </a:r>
            <a:r>
              <a:rPr lang="es-ES" sz="1800" dirty="0"/>
              <a:t> </a:t>
            </a:r>
            <a:r>
              <a:rPr lang="es-ES" sz="1800" dirty="0" err="1"/>
              <a:t>threads</a:t>
            </a:r>
            <a:r>
              <a:rPr lang="es-ES" sz="1800" dirty="0"/>
              <a:t>)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No hay pool </a:t>
            </a:r>
            <a:r>
              <a:rPr lang="es-ES" sz="1800" dirty="0" err="1"/>
              <a:t>size</a:t>
            </a:r>
            <a:r>
              <a:rPr lang="es-ES" sz="1800" dirty="0"/>
              <a:t> que configurar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CPU eficiente: Mejor utilización en escenarios I/O-</a:t>
            </a:r>
            <a:r>
              <a:rPr lang="es-ES" sz="1800" dirty="0" err="1"/>
              <a:t>bound</a:t>
            </a:r>
            <a:r>
              <a:rPr lang="es-ES" sz="1800" dirty="0"/>
              <a:t>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Código simple: Sin cambios en el código del servicio</a:t>
            </a:r>
          </a:p>
          <a:p>
            <a:endParaRPr lang="en-GB" sz="1050" dirty="0"/>
          </a:p>
        </p:txBody>
      </p:sp>
    </p:spTree>
    <p:extLst>
      <p:ext uri="{BB962C8B-B14F-4D97-AF65-F5344CB8AC3E}">
        <p14:creationId xmlns:p14="http://schemas.microsoft.com/office/powerpoint/2010/main" val="1691030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D026DE-7B75-6446-B342-A1052F86CA87}"/>
              </a:ext>
            </a:extLst>
          </p:cNvPr>
          <p:cNvPicPr>
            <a:picLocks noChangeAspect="1"/>
          </p:cNvPicPr>
          <p:nvPr/>
        </p:nvPicPr>
        <p:blipFill>
          <a:blip r:embed="rId2"/>
          <a:stretch>
            <a:fillRect/>
          </a:stretch>
        </p:blipFill>
        <p:spPr>
          <a:xfrm>
            <a:off x="352168" y="103004"/>
            <a:ext cx="8578679" cy="2170509"/>
          </a:xfrm>
          <a:prstGeom prst="rect">
            <a:avLst/>
          </a:prstGeom>
        </p:spPr>
      </p:pic>
      <p:pic>
        <p:nvPicPr>
          <p:cNvPr id="5" name="Picture 4">
            <a:extLst>
              <a:ext uri="{FF2B5EF4-FFF2-40B4-BE49-F238E27FC236}">
                <a16:creationId xmlns:a16="http://schemas.microsoft.com/office/drawing/2014/main" id="{5932C01C-78DC-824D-9F78-4B58D1F95A9F}"/>
              </a:ext>
            </a:extLst>
          </p:cNvPr>
          <p:cNvPicPr>
            <a:picLocks noChangeAspect="1"/>
          </p:cNvPicPr>
          <p:nvPr/>
        </p:nvPicPr>
        <p:blipFill>
          <a:blip r:embed="rId3"/>
          <a:stretch>
            <a:fillRect/>
          </a:stretch>
        </p:blipFill>
        <p:spPr>
          <a:xfrm>
            <a:off x="841032" y="2365160"/>
            <a:ext cx="7600950" cy="2600325"/>
          </a:xfrm>
          <a:prstGeom prst="rect">
            <a:avLst/>
          </a:prstGeom>
        </p:spPr>
      </p:pic>
    </p:spTree>
    <p:extLst>
      <p:ext uri="{BB962C8B-B14F-4D97-AF65-F5344CB8AC3E}">
        <p14:creationId xmlns:p14="http://schemas.microsoft.com/office/powerpoint/2010/main" val="3643783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Conclusiones y Recomendaciones</a:t>
            </a:r>
            <a:endParaRPr dirty="0"/>
          </a:p>
        </p:txBody>
      </p:sp>
      <p:sp>
        <p:nvSpPr>
          <p:cNvPr id="3" name="Subtítulo 2">
            <a:extLst>
              <a:ext uri="{FF2B5EF4-FFF2-40B4-BE49-F238E27FC236}">
                <a16:creationId xmlns:a16="http://schemas.microsoft.com/office/drawing/2014/main" id="{A2B599CC-FF53-4589-A793-200A70228DC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111994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Virtual Threads ganan </a:t>
            </a:r>
            <a:endParaRPr dirty="0"/>
          </a:p>
        </p:txBody>
      </p:sp>
      <p:graphicFrame>
        <p:nvGraphicFramePr>
          <p:cNvPr id="4" name="Tabla 3">
            <a:extLst>
              <a:ext uri="{FF2B5EF4-FFF2-40B4-BE49-F238E27FC236}">
                <a16:creationId xmlns:a16="http://schemas.microsoft.com/office/drawing/2014/main" id="{B3D1A579-70DD-4E90-A63B-885B265A0230}"/>
              </a:ext>
            </a:extLst>
          </p:cNvPr>
          <p:cNvGraphicFramePr>
            <a:graphicFrameLocks noGrp="1"/>
          </p:cNvGraphicFramePr>
          <p:nvPr>
            <p:extLst>
              <p:ext uri="{D42A27DB-BD31-4B8C-83A1-F6EECF244321}">
                <p14:modId xmlns:p14="http://schemas.microsoft.com/office/powerpoint/2010/main" val="2268472148"/>
              </p:ext>
            </p:extLst>
          </p:nvPr>
        </p:nvGraphicFramePr>
        <p:xfrm>
          <a:off x="2549238" y="1530927"/>
          <a:ext cx="5334000" cy="2937164"/>
        </p:xfrm>
        <a:graphic>
          <a:graphicData uri="http://schemas.openxmlformats.org/drawingml/2006/table">
            <a:tbl>
              <a:tblPr>
                <a:tableStyleId>{5C22544A-7EE6-4342-B048-85BDC9FD1C3A}</a:tableStyleId>
              </a:tblPr>
              <a:tblGrid>
                <a:gridCol w="1778000">
                  <a:extLst>
                    <a:ext uri="{9D8B030D-6E8A-4147-A177-3AD203B41FA5}">
                      <a16:colId xmlns:a16="http://schemas.microsoft.com/office/drawing/2014/main" val="482425441"/>
                    </a:ext>
                  </a:extLst>
                </a:gridCol>
                <a:gridCol w="1778000">
                  <a:extLst>
                    <a:ext uri="{9D8B030D-6E8A-4147-A177-3AD203B41FA5}">
                      <a16:colId xmlns:a16="http://schemas.microsoft.com/office/drawing/2014/main" val="1718901608"/>
                    </a:ext>
                  </a:extLst>
                </a:gridCol>
                <a:gridCol w="1778000">
                  <a:extLst>
                    <a:ext uri="{9D8B030D-6E8A-4147-A177-3AD203B41FA5}">
                      <a16:colId xmlns:a16="http://schemas.microsoft.com/office/drawing/2014/main" val="2639572291"/>
                    </a:ext>
                  </a:extLst>
                </a:gridCol>
              </a:tblGrid>
              <a:tr h="611202">
                <a:tc>
                  <a:txBody>
                    <a:bodyPr/>
                    <a:lstStyle/>
                    <a:p>
                      <a:pPr algn="l" fontAlgn="t"/>
                      <a:r>
                        <a:rPr lang="es-ES" sz="1600" b="1" u="none" strike="noStrike" dirty="0">
                          <a:solidFill>
                            <a:schemeClr val="bg1"/>
                          </a:solidFill>
                          <a:effectLst/>
                          <a:latin typeface="IBM Plex Sans" panose="020B0503050203000203" pitchFamily="34" charset="0"/>
                        </a:rPr>
                        <a:t> </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Virtual Threads</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Platform Threads</a:t>
                      </a:r>
                      <a:endParaRPr lang="es-ES" sz="1600" b="1" i="0" u="none" strike="noStrike" dirty="0">
                        <a:solidFill>
                          <a:schemeClr val="bg1"/>
                        </a:solidFill>
                        <a:effectLst/>
                        <a:latin typeface="IBM Plex Sans" panose="020B0503050203000203" pitchFamily="34" charset="0"/>
                      </a:endParaRPr>
                    </a:p>
                  </a:txBody>
                  <a:tcPr marL="9525" marR="9525" marT="9525" marB="0">
                    <a:solidFill>
                      <a:schemeClr val="tx2">
                        <a:lumMod val="75000"/>
                      </a:schemeClr>
                    </a:solidFill>
                  </a:tcPr>
                </a:tc>
                <a:extLst>
                  <a:ext uri="{0D108BD9-81ED-4DB2-BD59-A6C34878D82A}">
                    <a16:rowId xmlns:a16="http://schemas.microsoft.com/office/drawing/2014/main" val="195553143"/>
                  </a:ext>
                </a:extLst>
              </a:tr>
              <a:tr h="611202">
                <a:tc>
                  <a:txBody>
                    <a:bodyPr/>
                    <a:lstStyle/>
                    <a:p>
                      <a:pPr algn="l" fontAlgn="t"/>
                      <a:r>
                        <a:rPr lang="es-ES" sz="1600" u="none" strike="noStrike">
                          <a:effectLst/>
                          <a:latin typeface="IBM Plex Sans" panose="020B0503050203000203" pitchFamily="34" charset="0"/>
                        </a:rPr>
                        <a:t>Manejado por</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JVM</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Sistema Operativo (SO)</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983829991"/>
                  </a:ext>
                </a:extLst>
              </a:tr>
              <a:tr h="611202">
                <a:tc>
                  <a:txBody>
                    <a:bodyPr/>
                    <a:lstStyle/>
                    <a:p>
                      <a:pPr algn="l" fontAlgn="t"/>
                      <a:r>
                        <a:rPr lang="es-ES" sz="1600" u="none" strike="noStrike" dirty="0">
                          <a:effectLst/>
                          <a:latin typeface="IBM Plex Sans" panose="020B0503050203000203" pitchFamily="34" charset="0"/>
                        </a:rPr>
                        <a:t>Consumo RAM</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Muy Bajo (KB)</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Alto (MB)</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3017755835"/>
                  </a:ext>
                </a:extLst>
              </a:tr>
              <a:tr h="492356">
                <a:tc>
                  <a:txBody>
                    <a:bodyPr/>
                    <a:lstStyle/>
                    <a:p>
                      <a:pPr algn="l" fontAlgn="t"/>
                      <a:r>
                        <a:rPr lang="es-ES" sz="1600" u="none" strike="noStrike">
                          <a:effectLst/>
                          <a:latin typeface="IBM Plex Sans" panose="020B0503050203000203" pitchFamily="34" charset="0"/>
                        </a:rPr>
                        <a:t>Escalabilidad</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Millones</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Miles</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2241917467"/>
                  </a:ext>
                </a:extLst>
              </a:tr>
              <a:tr h="611202">
                <a:tc>
                  <a:txBody>
                    <a:bodyPr/>
                    <a:lstStyle/>
                    <a:p>
                      <a:pPr algn="l" fontAlgn="t"/>
                      <a:r>
                        <a:rPr lang="es-ES" sz="1600" u="none" strike="noStrike">
                          <a:effectLst/>
                          <a:latin typeface="IBM Plex Sans" panose="020B0503050203000203" pitchFamily="34" charset="0"/>
                        </a:rPr>
                        <a:t>I/O Bloqueante</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Muy eficiente (no bloquea)</a:t>
                      </a:r>
                      <a:endParaRPr lang="es-ES" sz="1600" b="0"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Ineficiente (bloquea el hilo)</a:t>
                      </a:r>
                      <a:endParaRPr lang="es-ES" sz="1600" b="0" i="0" u="none" strike="noStrike" dirty="0">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1465882914"/>
                  </a:ext>
                </a:extLst>
              </a:tr>
            </a:tbl>
          </a:graphicData>
        </a:graphic>
      </p:graphicFrame>
      <p:pic>
        <p:nvPicPr>
          <p:cNvPr id="10242" name="Picture 2" descr="Green checkmark icon - Free green check mark icons">
            <a:extLst>
              <a:ext uri="{FF2B5EF4-FFF2-40B4-BE49-F238E27FC236}">
                <a16:creationId xmlns:a16="http://schemas.microsoft.com/office/drawing/2014/main" id="{E82D4F82-56CF-481D-9138-43DB40ED2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2911" y="837845"/>
            <a:ext cx="586653" cy="58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330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Platform Threads ganan </a:t>
            </a:r>
            <a:endParaRPr dirty="0"/>
          </a:p>
        </p:txBody>
      </p:sp>
      <p:graphicFrame>
        <p:nvGraphicFramePr>
          <p:cNvPr id="2" name="Tabla 1">
            <a:extLst>
              <a:ext uri="{FF2B5EF4-FFF2-40B4-BE49-F238E27FC236}">
                <a16:creationId xmlns:a16="http://schemas.microsoft.com/office/drawing/2014/main" id="{5541494A-4890-4AAE-BE0A-8A2443ECF276}"/>
              </a:ext>
            </a:extLst>
          </p:cNvPr>
          <p:cNvGraphicFramePr>
            <a:graphicFrameLocks noGrp="1"/>
          </p:cNvGraphicFramePr>
          <p:nvPr>
            <p:extLst>
              <p:ext uri="{D42A27DB-BD31-4B8C-83A1-F6EECF244321}">
                <p14:modId xmlns:p14="http://schemas.microsoft.com/office/powerpoint/2010/main" val="162104863"/>
              </p:ext>
            </p:extLst>
          </p:nvPr>
        </p:nvGraphicFramePr>
        <p:xfrm>
          <a:off x="2313710" y="1665635"/>
          <a:ext cx="5576454" cy="2078756"/>
        </p:xfrm>
        <a:graphic>
          <a:graphicData uri="http://schemas.openxmlformats.org/drawingml/2006/table">
            <a:tbl>
              <a:tblPr>
                <a:tableStyleId>{5C22544A-7EE6-4342-B048-85BDC9FD1C3A}</a:tableStyleId>
              </a:tblPr>
              <a:tblGrid>
                <a:gridCol w="1523999">
                  <a:extLst>
                    <a:ext uri="{9D8B030D-6E8A-4147-A177-3AD203B41FA5}">
                      <a16:colId xmlns:a16="http://schemas.microsoft.com/office/drawing/2014/main" val="4072058111"/>
                    </a:ext>
                  </a:extLst>
                </a:gridCol>
                <a:gridCol w="2193637">
                  <a:extLst>
                    <a:ext uri="{9D8B030D-6E8A-4147-A177-3AD203B41FA5}">
                      <a16:colId xmlns:a16="http://schemas.microsoft.com/office/drawing/2014/main" val="169265026"/>
                    </a:ext>
                  </a:extLst>
                </a:gridCol>
                <a:gridCol w="1858818">
                  <a:extLst>
                    <a:ext uri="{9D8B030D-6E8A-4147-A177-3AD203B41FA5}">
                      <a16:colId xmlns:a16="http://schemas.microsoft.com/office/drawing/2014/main" val="2288835686"/>
                    </a:ext>
                  </a:extLst>
                </a:gridCol>
              </a:tblGrid>
              <a:tr h="458632">
                <a:tc>
                  <a:txBody>
                    <a:bodyPr/>
                    <a:lstStyle/>
                    <a:p>
                      <a:pPr algn="l" fontAlgn="t"/>
                      <a:r>
                        <a:rPr lang="es-ES" sz="1600" b="1" u="none" strike="noStrike" dirty="0">
                          <a:solidFill>
                            <a:schemeClr val="bg1"/>
                          </a:solidFill>
                          <a:effectLst/>
                          <a:latin typeface="IBM Plex Sans" panose="020B0503050203000203" pitchFamily="34" charset="0"/>
                        </a:rPr>
                        <a:t>  </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Virtual Threads</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Platform Threads</a:t>
                      </a:r>
                      <a:endParaRPr lang="es-ES" sz="1600" b="1" i="0" u="none" strike="noStrike" dirty="0">
                        <a:solidFill>
                          <a:schemeClr val="bg1"/>
                        </a:solidFill>
                        <a:effectLst/>
                        <a:latin typeface="IBM Plex Sans" panose="020B0503050203000203" pitchFamily="34" charset="0"/>
                      </a:endParaRPr>
                    </a:p>
                  </a:txBody>
                  <a:tcPr marL="9525" marR="9525" marT="9525" marB="0">
                    <a:solidFill>
                      <a:schemeClr val="tx2">
                        <a:lumMod val="75000"/>
                      </a:schemeClr>
                    </a:solidFill>
                  </a:tcPr>
                </a:tc>
                <a:extLst>
                  <a:ext uri="{0D108BD9-81ED-4DB2-BD59-A6C34878D82A}">
                    <a16:rowId xmlns:a16="http://schemas.microsoft.com/office/drawing/2014/main" val="2146605353"/>
                  </a:ext>
                </a:extLst>
              </a:tr>
              <a:tr h="706416">
                <a:tc>
                  <a:txBody>
                    <a:bodyPr/>
                    <a:lstStyle/>
                    <a:p>
                      <a:pPr algn="l" fontAlgn="t"/>
                      <a:r>
                        <a:rPr lang="es-ES" sz="1600" u="none" strike="noStrike" dirty="0">
                          <a:effectLst/>
                          <a:latin typeface="IBM Plex Sans" panose="020B0503050203000203" pitchFamily="34" charset="0"/>
                        </a:rPr>
                        <a:t>Cálculo CPU</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Lento/Medio</a:t>
                      </a:r>
                    </a:p>
                    <a:p>
                      <a:pPr algn="l" fontAlgn="t"/>
                      <a:r>
                        <a:rPr lang="es-ES" sz="1600" b="0" i="0" u="none" strike="noStrike" cap="none" dirty="0">
                          <a:solidFill>
                            <a:schemeClr val="dk1"/>
                          </a:solidFill>
                          <a:effectLst/>
                          <a:latin typeface="IBM Plex Sans" panose="020B0503050203000203" pitchFamily="34" charset="0"/>
                          <a:ea typeface="+mn-ea"/>
                          <a:cs typeface="+mn-cs"/>
                          <a:sym typeface="Arial"/>
                        </a:rPr>
                        <a:t>(Monopolización)</a:t>
                      </a:r>
                    </a:p>
                  </a:txBody>
                  <a:tcPr marL="142875" marR="9525" marT="9525" marB="0"/>
                </a:tc>
                <a:tc>
                  <a:txBody>
                    <a:bodyPr/>
                    <a:lstStyle/>
                    <a:p>
                      <a:pPr algn="l" fontAlgn="t"/>
                      <a:r>
                        <a:rPr lang="es-ES" sz="1600" u="none" strike="noStrike">
                          <a:effectLst/>
                          <a:latin typeface="IBM Plex Sans" panose="020B0503050203000203" pitchFamily="34" charset="0"/>
                        </a:rPr>
                        <a:t>Rápido/Intenso</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3882486843"/>
                  </a:ext>
                </a:extLst>
              </a:tr>
              <a:tr h="913708">
                <a:tc>
                  <a:txBody>
                    <a:bodyPr/>
                    <a:lstStyle/>
                    <a:p>
                      <a:pPr algn="l" fontAlgn="t"/>
                      <a:r>
                        <a:rPr lang="es-ES" sz="1600" u="none" strike="noStrike" dirty="0">
                          <a:effectLst/>
                          <a:latin typeface="IBM Plex Sans" panose="020B0503050203000203" pitchFamily="34" charset="0"/>
                        </a:rPr>
                        <a:t>Pinning</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Sí (puede afectar rendimiento)</a:t>
                      </a:r>
                      <a:endParaRPr lang="es-ES" sz="1600" b="0"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No</a:t>
                      </a:r>
                      <a:endParaRPr lang="es-ES" sz="1600" b="0" i="0" u="none" strike="noStrike" dirty="0">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2668292442"/>
                  </a:ext>
                </a:extLst>
              </a:tr>
            </a:tbl>
          </a:graphicData>
        </a:graphic>
      </p:graphicFrame>
      <p:pic>
        <p:nvPicPr>
          <p:cNvPr id="5" name="Picture 2" descr="Green checkmark icon - Free green check mark icons">
            <a:extLst>
              <a:ext uri="{FF2B5EF4-FFF2-40B4-BE49-F238E27FC236}">
                <a16:creationId xmlns:a16="http://schemas.microsoft.com/office/drawing/2014/main" id="{2256B735-F030-4C67-BE71-79021DCA9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328" y="948681"/>
            <a:ext cx="586653" cy="58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61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r>
              <a:rPr lang="es-ES" b="1" dirty="0">
                <a:solidFill>
                  <a:schemeClr val="tx1"/>
                </a:solidFill>
                <a:latin typeface="IBM Plex Sans" panose="020B0503050203000203" pitchFamily="34" charset="0"/>
              </a:rPr>
              <a:t>Resuelto en openjdk 24+ (JEP 491)</a:t>
            </a: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Pinning</a:t>
            </a:r>
            <a:endParaRPr dirty="0"/>
          </a:p>
        </p:txBody>
      </p:sp>
      <p:sp>
        <p:nvSpPr>
          <p:cNvPr id="2" name="Rectangle 1">
            <a:extLst>
              <a:ext uri="{FF2B5EF4-FFF2-40B4-BE49-F238E27FC236}">
                <a16:creationId xmlns:a16="http://schemas.microsoft.com/office/drawing/2014/main" id="{5C7E55E0-153B-48BE-A84E-3764E497F2E1}"/>
              </a:ext>
            </a:extLst>
          </p:cNvPr>
          <p:cNvSpPr>
            <a:spLocks noChangeArrowheads="1"/>
          </p:cNvSpPr>
          <p:nvPr/>
        </p:nvSpPr>
        <p:spPr bwMode="auto">
          <a:xfrm>
            <a:off x="1193057" y="1266750"/>
            <a:ext cx="7569280" cy="2123658"/>
          </a:xfrm>
          <a:prstGeom prst="rect">
            <a:avLst/>
          </a:prstGeom>
          <a:solidFill>
            <a:srgbClr val="1D1E2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58AF9"/>
                </a:solidFill>
                <a:effectLst/>
                <a:latin typeface="Consolas" panose="020B0609020204030204" pitchFamily="49" charset="0"/>
              </a:rPr>
              <a:t>public</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void</a:t>
            </a:r>
            <a:r>
              <a:rPr kumimoji="0" lang="es-ES" altLang="es-ES" sz="1200" b="0" i="0" u="none" strike="noStrike" cap="none" normalizeH="0" baseline="0" dirty="0">
                <a:ln>
                  <a:noFill/>
                </a:ln>
                <a:solidFill>
                  <a:srgbClr val="E6E8F0"/>
                </a:solidFill>
                <a:effectLst/>
                <a:latin typeface="Consolas" panose="020B0609020204030204" pitchFamily="49" charset="0"/>
              </a:rPr>
              <a:t> procesoConPinning() {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i="1" dirty="0">
                <a:solidFill>
                  <a:srgbClr val="9AA0A6"/>
                </a:solidFill>
                <a:latin typeface="Consolas" panose="020B0609020204030204" pitchFamily="49" charset="0"/>
              </a:rPr>
              <a:t>    </a:t>
            </a:r>
            <a:r>
              <a:rPr kumimoji="0" lang="es-ES" altLang="es-ES" sz="1200" b="0" i="1" u="none" strike="noStrike" cap="none" normalizeH="0" baseline="0" dirty="0">
                <a:ln>
                  <a:noFill/>
                </a:ln>
                <a:solidFill>
                  <a:srgbClr val="9AA0A6"/>
                </a:solidFill>
                <a:effectLst/>
                <a:latin typeface="Consolas" panose="020B0609020204030204" pitchFamily="49" charset="0"/>
              </a:rPr>
              <a:t>// Creamos un hilo virtual</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Thread.startVirtualThread(() -&gt;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synchronized</a:t>
            </a:r>
            <a:r>
              <a:rPr kumimoji="0" lang="es-ES" altLang="es-ES" sz="1200" b="0" i="0" u="none" strike="noStrike" cap="none" normalizeH="0" baseline="0" dirty="0">
                <a:ln>
                  <a:noFill/>
                </a:ln>
                <a:solidFill>
                  <a:srgbClr val="E6E8F0"/>
                </a:solidFill>
                <a:effectLst/>
                <a:latin typeface="Consolas" panose="020B0609020204030204" pitchFamily="49" charset="0"/>
              </a:rPr>
              <a:t> (LOCK) { </a:t>
            </a:r>
            <a:r>
              <a:rPr kumimoji="0" lang="es-ES" altLang="es-ES" sz="1200" b="0" i="1" u="none" strike="noStrike" cap="none" normalizeH="0" baseline="0" dirty="0">
                <a:ln>
                  <a:noFill/>
                </a:ln>
                <a:solidFill>
                  <a:srgbClr val="9AA0A6"/>
                </a:solidFill>
                <a:effectLst/>
                <a:latin typeface="Consolas" panose="020B0609020204030204" pitchFamily="49" charset="0"/>
              </a:rPr>
              <a:t>// &lt;--- AQUÍ OCURRE EL PINNING (Java 21-23)</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lang="es-ES" altLang="es-ES" sz="1200" dirty="0">
                <a:solidFill>
                  <a:srgbClr val="E6E8F0"/>
                </a:solidFill>
                <a:latin typeface="Consolas" panose="020B0609020204030204" pitchFamily="49" charset="0"/>
              </a:rPr>
              <a:t>  </a:t>
            </a:r>
            <a:endParaRPr kumimoji="0" lang="es-ES" altLang="es-ES" sz="1200" b="0" i="0" u="none" strike="noStrike" cap="none" normalizeH="0" baseline="0" dirty="0">
              <a:ln>
                <a:noFill/>
              </a:ln>
              <a:solidFill>
                <a:srgbClr val="E6E8F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err="1">
                <a:ln>
                  <a:noFill/>
                </a:ln>
                <a:solidFill>
                  <a:srgbClr val="E6E8F0"/>
                </a:solidFill>
                <a:effectLst/>
                <a:latin typeface="Consolas" panose="020B0609020204030204" pitchFamily="49" charset="0"/>
              </a:rPr>
              <a:t>System.out.println</a:t>
            </a:r>
            <a:r>
              <a:rPr kumimoji="0" lang="es-ES" altLang="es-ES" sz="1200" b="0" i="0" u="none" strike="noStrike" cap="none" normalizeH="0" baseline="0" dirty="0">
                <a:ln>
                  <a:noFill/>
                </a:ln>
                <a:solidFill>
                  <a:srgbClr val="E6E8F0"/>
                </a:solidFill>
                <a:effectLst/>
                <a:latin typeface="Consolas" panose="020B0609020204030204" pitchFamily="49" charset="0"/>
              </a:rPr>
              <a:t>(</a:t>
            </a:r>
            <a:r>
              <a:rPr kumimoji="0" lang="es-ES" altLang="es-ES" sz="1200" b="0" i="0" u="none" strike="noStrike" cap="none" normalizeH="0" baseline="0" dirty="0">
                <a:ln>
                  <a:noFill/>
                </a:ln>
                <a:solidFill>
                  <a:srgbClr val="81C995"/>
                </a:solidFill>
                <a:effectLst/>
                <a:latin typeface="Consolas" panose="020B0609020204030204" pitchFamily="49" charset="0"/>
              </a:rPr>
              <a:t>"Hilo virtual anclado al carrier thread..."</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try</a:t>
            </a:r>
            <a:r>
              <a:rPr kumimoji="0" lang="es-ES" altLang="es-ES" sz="1200" b="0" i="0" u="none" strike="noStrike" cap="none" normalizeH="0" baseline="0" dirty="0">
                <a:ln>
                  <a:noFill/>
                </a:ln>
                <a:solidFill>
                  <a:srgbClr val="E6E8F0"/>
                </a:solidFill>
                <a:effectLst/>
                <a:latin typeface="Consolas" panose="020B0609020204030204" pitchFamily="49" charset="0"/>
              </a:rPr>
              <a:t> { </a:t>
            </a:r>
            <a:r>
              <a:rPr kumimoji="0" lang="es-ES" altLang="es-ES" sz="1200" b="0" i="1" u="none" strike="noStrike" cap="none" normalizeH="0" baseline="0" dirty="0">
                <a:ln>
                  <a:noFill/>
                </a:ln>
                <a:solidFill>
                  <a:srgbClr val="9AA0A6"/>
                </a:solidFill>
                <a:effectLst/>
                <a:latin typeface="Consolas" panose="020B0609020204030204" pitchFamily="49" charset="0"/>
              </a:rPr>
              <a:t>// Una operación larga (I/O </a:t>
            </a:r>
            <a:r>
              <a:rPr kumimoji="0" lang="es-ES" altLang="es-ES" sz="1200" b="0" i="1" u="none" strike="noStrike" cap="none" normalizeH="0" baseline="0" dirty="0" err="1">
                <a:ln>
                  <a:noFill/>
                </a:ln>
                <a:solidFill>
                  <a:srgbClr val="9AA0A6"/>
                </a:solidFill>
                <a:effectLst/>
                <a:latin typeface="Consolas" panose="020B0609020204030204" pitchFamily="49" charset="0"/>
              </a:rPr>
              <a:t>o</a:t>
            </a:r>
            <a:r>
              <a:rPr kumimoji="0" lang="es-ES" altLang="es-ES" sz="1200" b="0" i="1" u="none" strike="noStrike" cap="none" normalizeH="0" baseline="0" dirty="0">
                <a:ln>
                  <a:noFill/>
                </a:ln>
                <a:solidFill>
                  <a:srgbClr val="9AA0A6"/>
                </a:solidFill>
                <a:effectLst/>
                <a:latin typeface="Consolas" panose="020B0609020204030204" pitchFamily="49" charset="0"/>
              </a:rPr>
              <a:t> </a:t>
            </a:r>
            <a:r>
              <a:rPr kumimoji="0" lang="es-ES" altLang="es-ES" sz="1200" b="0" i="1" u="none" strike="noStrike" cap="none" normalizeH="0" baseline="0" dirty="0" err="1">
                <a:ln>
                  <a:noFill/>
                </a:ln>
                <a:solidFill>
                  <a:srgbClr val="9AA0A6"/>
                </a:solidFill>
                <a:effectLst/>
                <a:latin typeface="Consolas" panose="020B0609020204030204" pitchFamily="49" charset="0"/>
              </a:rPr>
              <a:t>Sleep</a:t>
            </a:r>
            <a:r>
              <a:rPr kumimoji="0" lang="es-ES" altLang="es-ES" sz="1200" b="0" i="1" u="none" strike="noStrike" cap="none" normalizeH="0" baseline="0" dirty="0">
                <a:ln>
                  <a:noFill/>
                </a:ln>
                <a:solidFill>
                  <a:srgbClr val="9AA0A6"/>
                </a:solidFill>
                <a:effectLst/>
                <a:latin typeface="Consolas" panose="020B0609020204030204" pitchFamily="49" charset="0"/>
              </a:rPr>
              <a:t>) mientras sostenemos el monitor</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Thread.sleep(</a:t>
            </a:r>
            <a:r>
              <a:rPr kumimoji="0" lang="es-ES" altLang="es-ES" sz="1200" b="0" i="0" u="none" strike="noStrike" cap="none" normalizeH="0" baseline="0" dirty="0">
                <a:ln>
                  <a:noFill/>
                </a:ln>
                <a:solidFill>
                  <a:srgbClr val="FA903E"/>
                </a:solidFill>
                <a:effectLst/>
                <a:latin typeface="Consolas" panose="020B0609020204030204" pitchFamily="49" charset="0"/>
              </a:rPr>
              <a:t>5000</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 </a:t>
            </a:r>
            <a:r>
              <a:rPr kumimoji="0" lang="es-ES" altLang="es-ES" sz="1200" b="0" i="0" u="none" strike="noStrike" cap="none" normalizeH="0" baseline="0" dirty="0">
                <a:ln>
                  <a:noFill/>
                </a:ln>
                <a:solidFill>
                  <a:srgbClr val="C58AF9"/>
                </a:solidFill>
                <a:effectLst/>
                <a:latin typeface="Consolas" panose="020B0609020204030204" pitchFamily="49" charset="0"/>
              </a:rPr>
              <a:t>catch</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InterruptedException</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FA903E"/>
                </a:solidFill>
                <a:effectLst/>
                <a:latin typeface="Consolas" panose="020B0609020204030204" pitchFamily="49" charset="0"/>
              </a:rPr>
              <a:t>e</a:t>
            </a:r>
            <a:r>
              <a:rPr kumimoji="0" lang="es-ES" altLang="es-ES" sz="1200" b="0" i="0" u="none" strike="noStrike" cap="none" normalizeH="0" baseline="0" dirty="0">
                <a:ln>
                  <a:noFill/>
                </a:ln>
                <a:solidFill>
                  <a:srgbClr val="E6E8F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1" u="none" strike="noStrike" cap="none" normalizeH="0" baseline="0" dirty="0">
                <a:ln>
                  <a:noFill/>
                </a:ln>
                <a:solidFill>
                  <a:srgbClr val="9AA0A6"/>
                </a:solidFill>
                <a:effectLst/>
                <a:latin typeface="Consolas" panose="020B0609020204030204" pitchFamily="49" charset="0"/>
              </a:rPr>
              <a:t>// El carrier thread queda liberado recién aquí</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a:t>
            </a:r>
            <a:r>
              <a:rPr kumimoji="0" lang="es-ES" altLang="es-ES" sz="900" b="0" i="0" u="none" strike="noStrike" cap="none" normalizeH="0" baseline="0" dirty="0">
                <a:ln>
                  <a:noFill/>
                </a:ln>
                <a:solidFill>
                  <a:schemeClr val="tx1"/>
                </a:solidFill>
                <a:effectLst/>
                <a:latin typeface="Consolas" panose="020B0609020204030204" pitchFamily="49" charset="0"/>
              </a:rPr>
              <a:t> </a:t>
            </a:r>
            <a:endParaRPr kumimoji="0" lang="es-ES" altLang="es-ES" sz="28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916869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
        <p:nvSpPr>
          <p:cNvPr id="3" name="Marcador de texto 2">
            <a:extLst>
              <a:ext uri="{FF2B5EF4-FFF2-40B4-BE49-F238E27FC236}">
                <a16:creationId xmlns:a16="http://schemas.microsoft.com/office/drawing/2014/main" id="{2F1C110B-7BCE-4A94-8A36-034E85C5E8A9}"/>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42206338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b="1" i="0" dirty="0">
                <a:solidFill>
                  <a:schemeClr val="tx1"/>
                </a:solidFill>
                <a:effectLst/>
                <a:latin typeface="IBM Plex Sans" panose="020B0503050203000203" pitchFamily="34" charset="0"/>
              </a:rPr>
              <a:t>Otras tecnologías</a:t>
            </a:r>
            <a:endParaRPr lang="es-ES" b="1" dirty="0">
              <a:solidFill>
                <a:schemeClr val="tx1"/>
              </a:solidFill>
              <a:latin typeface="IBM Plex Sans" panose="020B0503050203000203" pitchFamily="34" charset="0"/>
            </a:endParaRPr>
          </a:p>
          <a:p>
            <a:pPr marL="285750" indent="-285750"/>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Tree>
    <p:extLst>
      <p:ext uri="{BB962C8B-B14F-4D97-AF65-F5344CB8AC3E}">
        <p14:creationId xmlns:p14="http://schemas.microsoft.com/office/powerpoint/2010/main" val="15109650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76" name="Google Shape;176;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77" name="Google Shape;177;p22"/>
          <p:cNvSpPr txBox="1">
            <a:spLocks noGrp="1"/>
          </p:cNvSpPr>
          <p:nvPr>
            <p:ph type="body" idx="2"/>
          </p:nvPr>
        </p:nvSpPr>
        <p:spPr>
          <a:xfrm>
            <a:off x="5181175" y="736975"/>
            <a:ext cx="36036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83" name="Google Shape;183;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84" name="Google Shape;184;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90" name="Google Shape;190;p2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91" name="Google Shape;191;p24"/>
          <p:cNvSpPr txBox="1">
            <a:spLocks noGrp="1"/>
          </p:cNvSpPr>
          <p:nvPr>
            <p:ph type="body" idx="2"/>
          </p:nvPr>
        </p:nvSpPr>
        <p:spPr>
          <a:xfrm>
            <a:off x="4843025" y="737163"/>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2" name="Imagen 1">
            <a:extLst>
              <a:ext uri="{FF2B5EF4-FFF2-40B4-BE49-F238E27FC236}">
                <a16:creationId xmlns:a16="http://schemas.microsoft.com/office/drawing/2014/main" id="{4EAE3C99-0F76-4819-8D23-40776389B34B}"/>
              </a:ext>
            </a:extLst>
          </p:cNvPr>
          <p:cNvPicPr>
            <a:picLocks noChangeAspect="1"/>
          </p:cNvPicPr>
          <p:nvPr/>
        </p:nvPicPr>
        <p:blipFill>
          <a:blip r:embed="rId3"/>
          <a:stretch>
            <a:fillRect/>
          </a:stretch>
        </p:blipFill>
        <p:spPr>
          <a:xfrm>
            <a:off x="1930978" y="0"/>
            <a:ext cx="5143500"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E1E30"/>
      </a:dk1>
      <a:lt1>
        <a:srgbClr val="FFFFFF"/>
      </a:lt1>
      <a:dk2>
        <a:srgbClr val="0E1E30"/>
      </a:dk2>
      <a:lt2>
        <a:srgbClr val="1E66FA"/>
      </a:lt2>
      <a:accent1>
        <a:srgbClr val="51E5FF"/>
      </a:accent1>
      <a:accent2>
        <a:srgbClr val="D82A76"/>
      </a:accent2>
      <a:accent3>
        <a:srgbClr val="00965C"/>
      </a:accent3>
      <a:accent4>
        <a:srgbClr val="FF5C00"/>
      </a:accent4>
      <a:accent5>
        <a:srgbClr val="54F0B2"/>
      </a:accent5>
      <a:accent6>
        <a:srgbClr val="F8DB5C"/>
      </a:accent6>
      <a:hlink>
        <a:srgbClr val="FF5C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3140</TotalTime>
  <Words>4109</Words>
  <Application>Microsoft Macintosh PowerPoint</Application>
  <PresentationFormat>On-screen Show (16:9)</PresentationFormat>
  <Paragraphs>393</Paragraphs>
  <Slides>44</Slides>
  <Notes>35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44</vt:i4>
      </vt:variant>
    </vt:vector>
  </HeadingPairs>
  <TitlesOfParts>
    <vt:vector size="52" baseType="lpstr">
      <vt:lpstr>IBM Plex Sans</vt:lpstr>
      <vt:lpstr>Calibri</vt:lpstr>
      <vt:lpstr>Arial</vt:lpstr>
      <vt:lpstr>IBM Plex Sans SemiBold</vt:lpstr>
      <vt:lpstr>Consolas</vt:lpstr>
      <vt:lpstr>Google Sans</vt:lpstr>
      <vt:lpstr>Simple Light</vt:lpstr>
      <vt:lpstr>Tema de Office</vt:lpstr>
      <vt:lpstr>PowerPoint Presentation</vt:lpstr>
      <vt:lpstr>PowerPoint Presentation</vt:lpstr>
      <vt:lpstr>Threads en Linux</vt:lpstr>
      <vt:lpstr>PowerPoint Presentation</vt:lpstr>
      <vt:lpstr>PowerPoint Presentation</vt:lpstr>
      <vt:lpstr>Qué es un thread</vt:lpstr>
      <vt:lpstr>Manejo de hilos en el kernel</vt:lpstr>
      <vt:lpstr>Manejo de hilos en el kernel</vt:lpstr>
      <vt:lpstr>PowerPoint Presentation</vt:lpstr>
      <vt:lpstr>Java Threads en Linux</vt:lpstr>
      <vt:lpstr>Y ahora Java Threads</vt:lpstr>
      <vt:lpstr>PowerPoint Presentation</vt:lpstr>
      <vt:lpstr>PowerPoint Presentation</vt:lpstr>
      <vt:lpstr>PowerPoint Presentation</vt:lpstr>
      <vt:lpstr>Java Virtual Threads en Linux</vt:lpstr>
      <vt:lpstr>Platform threads: problemas a resolver</vt:lpstr>
      <vt:lpstr>PowerPoint Presentation</vt:lpstr>
      <vt:lpstr>Project loom</vt:lpstr>
      <vt:lpstr>Virtual Threads</vt:lpstr>
      <vt:lpstr>Continuations</vt:lpstr>
      <vt:lpstr>Código reactivo</vt:lpstr>
      <vt:lpstr>Jose</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Conclusiones y Recomendaciones</vt:lpstr>
      <vt:lpstr>Virtual Threads ganan </vt:lpstr>
      <vt:lpstr>Platform Threads ganan </vt:lpstr>
      <vt:lpstr>Pinning</vt:lpstr>
      <vt:lpstr>Project loom</vt:lpstr>
      <vt:lpstr>Project loom</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JOSE ANTONIO BELTRAN MARQUEZ</cp:lastModifiedBy>
  <cp:revision>44</cp:revision>
  <dcterms:modified xsi:type="dcterms:W3CDTF">2026-04-20T15:58:59Z</dcterms:modified>
</cp:coreProperties>
</file>