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46"/>
  </p:normalViewPr>
  <p:slideViewPr>
    <p:cSldViewPr snapToGrid="0" snapToObjects="1">
      <p:cViewPr varScale="1">
        <p:scale>
          <a:sx n="104" d="100"/>
          <a:sy n="104" d="100"/>
        </p:scale>
        <p:origin x="80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3AF31-EF08-444B-8887-BCFBF668A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40A8BC-2E00-0747-A42C-83D36570DF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30330E-3D23-C44A-BF56-E651AA9ED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C5F726-A9E3-3A4B-817D-C0CCA91B7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8299-2EC2-9F49-BA57-065C7882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152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05E5B-21F7-9B43-8FC8-0E89B7B3C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26C865-7C4A-AE48-9953-CCDDC78F8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E0855-DDE9-094C-9337-17867B3A3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CA8FB-F48D-3348-86CE-F61D62DCD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4A5A2-3AA9-1449-8EED-169A55247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279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57254-244B-124C-B9E0-6A62D6691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F75BD-16B6-3C48-8331-F4E363E50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DFCE5-A5F2-8945-B4A8-8F0A3C3B9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7D6314-9C82-6840-BCB5-B32D3EC7B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CA0A21-0459-7D4F-883B-D70B8965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12005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17893-1ABA-DF45-890F-A8A416A4B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B269AC-26FB-4F47-A2CD-ADD997B67FD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E88BB4-7A12-4C45-9742-20EDDD21D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7DFC59-A4E8-3A4B-BA4F-7BA01F9CF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1EF0-9079-5B45-BD26-02FC07B9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18D73E-DC1C-6747-AAE9-DC2307A51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888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390F-364F-BA40-9CD1-FD02BC784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8656E9-84C2-1E49-B190-73332B794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F71584-DE00-314F-B577-14C977344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D9A9D6-AE7C-5C4E-B478-CD627CCD57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1C709E-B3D4-3444-A457-14968776DE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C5B6A5-5FE7-F648-ADD1-E425D4585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343DE3-33E0-7A46-B9BD-71FF4162F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88F145-CCBC-F949-8787-74F0D820F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6522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0BFC-E80E-9143-B027-450ED7EC5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B767D1-D78D-8F48-9433-96FAC8DAE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046D3-9956-7F42-AA03-5CD9F51A3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1D5EE3-BC52-584D-96D5-7A97808BE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565937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B175E1-B8BE-5F41-AF2B-7A170228C0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7178BE-23DC-5C4D-ADAA-A9B689EC2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0044A7-0F5A-7043-9820-6E9FF9C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2796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C6012-589B-5743-85F4-3F8825788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B146E-10AC-BC4A-A9DC-B43BC50485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EA9B3E-2373-D542-9D2B-AA585EDD2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412461-98DB-854F-9922-28FBFFC49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0C7769-6613-CB4B-8408-3AABBFC3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CCC1F8-4980-3842-B551-C687B800D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6835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9E45-49FD-914B-9D12-F53F00F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F97731-45D9-984F-840E-7D0D24F3DF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D43C4B-1013-8A45-9946-5F7D495BEA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A97AB8-6BF8-2F44-BB45-EE3840076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9DD2F2-5108-AA44-93CB-0576CCFDC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B081AD-381D-DE4F-B9A5-2E59ABA7A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2240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45830-1736-024C-A4B1-40187B2F3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366D30-6E92-3A43-A58C-E97FB2A0F5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A9730F-AAE4-6D4A-99E6-7C2396A59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E0992-9376-0B4B-87FB-4BAF429C72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559FE1-FDC3-2046-8974-8540B3B0C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7316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F45DBB-EBFC-C741-A2AC-804D39E463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E076F8-E6B5-4344-A440-1510D227B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F8E9D-7324-C245-921A-FB8D63E71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220E9A-0C57-E241-9FF0-7B957F143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425A3E-9A7E-D24D-8F77-67D6534EF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140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2E4A3C-D25A-AD4E-AB24-2534E2CEE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0DB75-A515-3F47-833E-F57C3268B4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BBF7F-71B1-DE46-A345-D9195F053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617E6C-B4C1-F64F-9F0E-38D55D0C6E24}" type="datetimeFigureOut">
              <a:rPr lang="en-GB" smtClean="0"/>
              <a:t>10/04/2026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16DB4-CE44-334E-8DAE-1CF1BAAFFB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A5D76B-6054-1D44-91F1-599221D914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3A41D0-2003-5440-9C4D-D6DBC081D4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6099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jdk.org/jeps/425" TargetMode="External"/><Relationship Id="rId2" Type="http://schemas.openxmlformats.org/officeDocument/2006/relationships/hyperlink" Target="https://wiki.openjdk.org/spaces/loom/pages/56525302/Getting+started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aradigmadigital.com/dev/ventajas-virtual-threads-java-21/" TargetMode="External"/><Relationship Id="rId4" Type="http://schemas.openxmlformats.org/officeDocument/2006/relationships/hyperlink" Target="https://openjdk.org/jeps/44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ED8BBA-8805-684D-8E67-0A3807E9FD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3811477"/>
            <a:ext cx="8008620" cy="26887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786BED2-0DF3-664B-A788-52B9B57560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870" y="562610"/>
            <a:ext cx="9245600" cy="189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578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4AB24B-DBD0-CB42-8E08-EAADF5B82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846899" cy="425081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7237684-87D9-6543-B5ED-A9B6B76AC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9509" y="4250810"/>
            <a:ext cx="9592491" cy="26071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1EA37B9-67E9-4D41-97DF-CBB8EC2E24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1074" y="2241520"/>
            <a:ext cx="5138057" cy="895268"/>
          </a:xfrm>
          <a:prstGeom prst="rect">
            <a:avLst/>
          </a:prstGeom>
          <a:ln w="88900" cap="sq" cmpd="thickThin">
            <a:solidFill>
              <a:schemeClr val="accent1"/>
            </a:solidFill>
            <a:prstDash val="solid"/>
            <a:miter lim="800000"/>
          </a:ln>
          <a:effectLst>
            <a:innerShdw blurRad="76200">
              <a:schemeClr val="accent5">
                <a:lumMod val="60000"/>
                <a:lumOff val="40000"/>
              </a:schemeClr>
            </a:innerShdw>
          </a:effectLst>
        </p:spPr>
      </p:pic>
    </p:spTree>
    <p:extLst>
      <p:ext uri="{BB962C8B-B14F-4D97-AF65-F5344CB8AC3E}">
        <p14:creationId xmlns:p14="http://schemas.microsoft.com/office/powerpoint/2010/main" val="2622259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4C53363-07AA-9C4E-8276-2628BFA85A65}"/>
              </a:ext>
            </a:extLst>
          </p:cNvPr>
          <p:cNvSpPr/>
          <p:nvPr/>
        </p:nvSpPr>
        <p:spPr>
          <a:xfrm>
            <a:off x="234778" y="89691"/>
            <a:ext cx="13159946" cy="53399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100" dirty="0">
                <a:latin typeface="Menlo" panose="020B0609030804020204" pitchFamily="49" charset="0"/>
              </a:rPr>
              <a:t>Los cambios clave están en dos sitios del servicio</a:t>
            </a:r>
          </a:p>
          <a:p>
            <a:r>
              <a:rPr lang="es-ES" sz="1100" dirty="0">
                <a:latin typeface="Menlo" panose="020B0609030804020204" pitchFamily="49" charset="0"/>
              </a:rPr>
              <a:t>1. El </a:t>
            </a:r>
            <a:r>
              <a:rPr lang="es-ES" sz="1100" dirty="0" err="1">
                <a:latin typeface="Menlo" panose="020B0609030804020204" pitchFamily="49" charset="0"/>
              </a:rPr>
              <a:t>Executor</a:t>
            </a:r>
            <a:r>
              <a:rPr lang="es-ES" sz="1100" dirty="0">
                <a:latin typeface="Menlo" panose="020B0609030804020204" pitchFamily="49" charset="0"/>
              </a:rPr>
              <a:t> — la línea más importante de toda la demo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Platform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Threads</a:t>
            </a:r>
            <a:r>
              <a:rPr lang="es-ES" sz="1100" dirty="0">
                <a:latin typeface="Menlo" panose="020B0609030804020204" pitchFamily="49" charset="0"/>
              </a:rPr>
              <a:t> — PlatformThreadLoadGeneratorService.java:69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= </a:t>
            </a:r>
            <a:r>
              <a:rPr lang="es-ES" sz="1100" dirty="0" err="1">
                <a:latin typeface="Menlo" panose="020B0609030804020204" pitchFamily="49" charset="0"/>
              </a:rPr>
              <a:t>Executors.newFixedThreadPool</a:t>
            </a:r>
            <a:r>
              <a:rPr lang="es-ES" sz="1100" dirty="0">
                <a:latin typeface="Menlo" panose="020B0609030804020204" pitchFamily="49" charset="0"/>
              </a:rPr>
              <a:t>(</a:t>
            </a:r>
            <a:r>
              <a:rPr lang="es-ES" sz="1100" dirty="0" err="1">
                <a:latin typeface="Menlo" panose="020B0609030804020204" pitchFamily="49" charset="0"/>
              </a:rPr>
              <a:t>request.getThreads</a:t>
            </a:r>
            <a:r>
              <a:rPr lang="es-ES" sz="1100" dirty="0">
                <a:latin typeface="Menlo" panose="020B0609030804020204" pitchFamily="49" charset="0"/>
              </a:rPr>
              <a:t>(), r -&gt; {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 = new </a:t>
            </a:r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(r);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thread.setName</a:t>
            </a:r>
            <a:r>
              <a:rPr lang="es-ES" sz="1100" dirty="0">
                <a:latin typeface="Menlo" panose="020B0609030804020204" pitchFamily="49" charset="0"/>
              </a:rPr>
              <a:t>("</a:t>
            </a:r>
            <a:r>
              <a:rPr lang="es-ES" sz="1100" dirty="0" err="1">
                <a:latin typeface="Menlo" panose="020B0609030804020204" pitchFamily="49" charset="0"/>
              </a:rPr>
              <a:t>platform-thread</a:t>
            </a:r>
            <a:r>
              <a:rPr lang="es-ES" sz="1100" dirty="0">
                <a:latin typeface="Menlo" panose="020B0609030804020204" pitchFamily="49" charset="0"/>
              </a:rPr>
              <a:t>-" + </a:t>
            </a:r>
            <a:r>
              <a:rPr lang="es-ES" sz="1100" dirty="0" err="1">
                <a:latin typeface="Menlo" panose="020B0609030804020204" pitchFamily="49" charset="0"/>
              </a:rPr>
              <a:t>System.currentTimeMillis</a:t>
            </a:r>
            <a:r>
              <a:rPr lang="es-ES" sz="1100" dirty="0">
                <a:latin typeface="Menlo" panose="020B0609030804020204" pitchFamily="49" charset="0"/>
              </a:rPr>
              <a:t>());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return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thread</a:t>
            </a:r>
            <a:r>
              <a:rPr lang="es-ES" sz="1100" dirty="0">
                <a:latin typeface="Menlo" panose="020B0609030804020204" pitchFamily="49" charset="0"/>
              </a:rPr>
              <a:t>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});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Pool fijo. Si pides 1000 peticiones con 50 hilos, las 950 restantes esperan en cola.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Virtual </a:t>
            </a:r>
            <a:r>
              <a:rPr lang="es-ES" sz="1100" dirty="0" err="1">
                <a:latin typeface="Menlo" panose="020B0609030804020204" pitchFamily="49" charset="0"/>
              </a:rPr>
              <a:t>Threads</a:t>
            </a:r>
            <a:r>
              <a:rPr lang="es-ES" sz="1100" dirty="0">
                <a:latin typeface="Menlo" panose="020B0609030804020204" pitchFamily="49" charset="0"/>
              </a:rPr>
              <a:t> — VirtualThreadLoadGeneratorService.java:69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executorService</a:t>
            </a:r>
            <a:r>
              <a:rPr lang="es-ES" sz="1100" dirty="0">
                <a:latin typeface="Menlo" panose="020B0609030804020204" pitchFamily="49" charset="0"/>
              </a:rPr>
              <a:t> = </a:t>
            </a:r>
            <a:r>
              <a:rPr lang="es-ES" sz="1100" dirty="0" err="1">
                <a:latin typeface="Menlo" panose="020B0609030804020204" pitchFamily="49" charset="0"/>
              </a:rPr>
              <a:t>Executors.newVirtualThreadPerTaskExecutor</a:t>
            </a:r>
            <a:r>
              <a:rPr lang="es-ES" sz="1100" dirty="0">
                <a:latin typeface="Menlo" panose="020B0609030804020204" pitchFamily="49" charset="0"/>
              </a:rPr>
              <a:t>();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Una sola línea distinta. Sin límite de hilos, sin pool. El resto del servicio es idéntico al </a:t>
            </a:r>
            <a:r>
              <a:rPr lang="es-ES" sz="1100" dirty="0" err="1">
                <a:latin typeface="Menlo" panose="020B0609030804020204" pitchFamily="49" charset="0"/>
              </a:rPr>
              <a:t>blocking</a:t>
            </a:r>
            <a:r>
              <a:rPr lang="es-ES" sz="1100" dirty="0">
                <a:latin typeface="Menlo" panose="020B0609030804020204" pitchFamily="49" charset="0"/>
              </a:rPr>
              <a:t>.</a:t>
            </a:r>
          </a:p>
          <a:p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2. El modelo de programación — Reactive es el que rompe el molde</a:t>
            </a:r>
          </a:p>
          <a:p>
            <a:r>
              <a:rPr lang="es-ES" sz="1100" dirty="0">
                <a:latin typeface="Menlo" panose="020B0609030804020204" pitchFamily="49" charset="0"/>
              </a:rPr>
              <a:t>Reactive — ReactiveLoadGeneratorService.java:60</a:t>
            </a:r>
            <a:br>
              <a:rPr lang="es-ES" sz="1100" dirty="0">
                <a:latin typeface="Menlo" panose="020B0609030804020204" pitchFamily="49" charset="0"/>
              </a:rPr>
            </a:br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// Firma del método: devuelve Mono, no </a:t>
            </a:r>
            <a:r>
              <a:rPr lang="es-ES" sz="1100" dirty="0" err="1">
                <a:latin typeface="Menlo" panose="020B0609030804020204" pitchFamily="49" charset="0"/>
              </a:rPr>
              <a:t>LoadResponse</a:t>
            </a:r>
            <a:endParaRPr lang="es-ES" sz="1100" dirty="0">
              <a:latin typeface="Menlo" panose="020B0609030804020204" pitchFamily="49" charset="0"/>
            </a:endParaRP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public</a:t>
            </a:r>
            <a:r>
              <a:rPr lang="es-ES" sz="1100" dirty="0">
                <a:latin typeface="Menlo" panose="020B0609030804020204" pitchFamily="49" charset="0"/>
              </a:rPr>
              <a:t> Mono&lt;</a:t>
            </a:r>
            <a:r>
              <a:rPr lang="es-ES" sz="1100" dirty="0" err="1">
                <a:latin typeface="Menlo" panose="020B0609030804020204" pitchFamily="49" charset="0"/>
              </a:rPr>
              <a:t>LoadResponse</a:t>
            </a:r>
            <a:r>
              <a:rPr lang="es-ES" sz="1100" dirty="0">
                <a:latin typeface="Menlo" panose="020B0609030804020204" pitchFamily="49" charset="0"/>
              </a:rPr>
              <a:t>&gt; </a:t>
            </a:r>
            <a:r>
              <a:rPr lang="es-ES" sz="1100" dirty="0" err="1">
                <a:latin typeface="Menlo" panose="020B0609030804020204" pitchFamily="49" charset="0"/>
              </a:rPr>
              <a:t>executeLoad</a:t>
            </a:r>
            <a:r>
              <a:rPr lang="es-ES" sz="1100" dirty="0">
                <a:latin typeface="Menlo" panose="020B0609030804020204" pitchFamily="49" charset="0"/>
              </a:rPr>
              <a:t>(</a:t>
            </a:r>
            <a:r>
              <a:rPr lang="es-ES" sz="1100" dirty="0" err="1">
                <a:latin typeface="Menlo" panose="020B0609030804020204" pitchFamily="49" charset="0"/>
              </a:rPr>
              <a:t>LoadRequest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request</a:t>
            </a:r>
            <a:r>
              <a:rPr lang="es-ES" sz="1100" dirty="0">
                <a:latin typeface="Menlo" panose="020B0609030804020204" pitchFamily="49" charset="0"/>
              </a:rPr>
              <a:t>) {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// HTTP </a:t>
            </a:r>
            <a:r>
              <a:rPr lang="es-ES" sz="1100" dirty="0" err="1">
                <a:latin typeface="Menlo" panose="020B0609030804020204" pitchFamily="49" charset="0"/>
              </a:rPr>
              <a:t>client</a:t>
            </a:r>
            <a:r>
              <a:rPr lang="es-ES" sz="1100" dirty="0">
                <a:latin typeface="Menlo" panose="020B0609030804020204" pitchFamily="49" charset="0"/>
              </a:rPr>
              <a:t>: </a:t>
            </a:r>
            <a:r>
              <a:rPr lang="es-ES" sz="1100" dirty="0" err="1">
                <a:latin typeface="Menlo" panose="020B0609030804020204" pitchFamily="49" charset="0"/>
              </a:rPr>
              <a:t>WebClient</a:t>
            </a:r>
            <a:r>
              <a:rPr lang="es-ES" sz="1100" dirty="0">
                <a:latin typeface="Menlo" panose="020B0609030804020204" pitchFamily="49" charset="0"/>
              </a:rPr>
              <a:t> en vez de </a:t>
            </a:r>
            <a:r>
              <a:rPr lang="es-ES" sz="1100" dirty="0" err="1">
                <a:latin typeface="Menlo" panose="020B0609030804020204" pitchFamily="49" charset="0"/>
              </a:rPr>
              <a:t>RestTemplate</a:t>
            </a:r>
            <a:endParaRPr lang="es-ES" sz="1100" dirty="0">
              <a:latin typeface="Menlo" panose="020B0609030804020204" pitchFamily="49" charset="0"/>
            </a:endParaRP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private</a:t>
            </a:r>
            <a:r>
              <a:rPr lang="es-ES" sz="1100" dirty="0">
                <a:latin typeface="Menlo" panose="020B0609030804020204" pitchFamily="49" charset="0"/>
              </a:rPr>
              <a:t> final </a:t>
            </a:r>
            <a:r>
              <a:rPr lang="es-ES" sz="1100" dirty="0" err="1">
                <a:latin typeface="Menlo" panose="020B0609030804020204" pitchFamily="49" charset="0"/>
              </a:rPr>
              <a:t>WebClient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webClient</a:t>
            </a:r>
            <a:r>
              <a:rPr lang="es-ES" sz="1100" dirty="0">
                <a:latin typeface="Menlo" panose="020B0609030804020204" pitchFamily="49" charset="0"/>
              </a:rPr>
              <a:t>;</a:t>
            </a:r>
          </a:p>
          <a:p>
            <a:pPr lvl="1"/>
            <a:br>
              <a:rPr lang="es-ES" sz="1100" dirty="0">
                <a:latin typeface="Menlo" panose="020B0609030804020204" pitchFamily="49" charset="0"/>
              </a:rPr>
            </a:br>
            <a:r>
              <a:rPr lang="es-ES" sz="1100" dirty="0">
                <a:latin typeface="Menlo" panose="020B0609030804020204" pitchFamily="49" charset="0"/>
              </a:rPr>
              <a:t>// En lugar de un </a:t>
            </a:r>
            <a:r>
              <a:rPr lang="es-ES" sz="1100" dirty="0" err="1">
                <a:latin typeface="Menlo" panose="020B0609030804020204" pitchFamily="49" charset="0"/>
              </a:rPr>
              <a:t>for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loop</a:t>
            </a:r>
            <a:r>
              <a:rPr lang="es-ES" sz="1100" dirty="0">
                <a:latin typeface="Menlo" panose="020B0609030804020204" pitchFamily="49" charset="0"/>
              </a:rPr>
              <a:t> bloqueante, un pipeline reactivo</a:t>
            </a:r>
          </a:p>
          <a:p>
            <a:pPr lvl="1"/>
            <a:r>
              <a:rPr lang="es-ES" sz="1100" dirty="0" err="1">
                <a:latin typeface="Menlo" panose="020B0609030804020204" pitchFamily="49" charset="0"/>
              </a:rPr>
              <a:t>return</a:t>
            </a:r>
            <a:r>
              <a:rPr lang="es-ES" sz="1100" dirty="0">
                <a:latin typeface="Menlo" panose="020B0609030804020204" pitchFamily="49" charset="0"/>
              </a:rPr>
              <a:t> </a:t>
            </a:r>
            <a:r>
              <a:rPr lang="es-ES" sz="1100" dirty="0" err="1">
                <a:latin typeface="Menlo" panose="020B0609030804020204" pitchFamily="49" charset="0"/>
              </a:rPr>
              <a:t>Flux.range</a:t>
            </a:r>
            <a:r>
              <a:rPr lang="es-ES" sz="1100" dirty="0">
                <a:latin typeface="Menlo" panose="020B0609030804020204" pitchFamily="49" charset="0"/>
              </a:rPr>
              <a:t>(0, </a:t>
            </a:r>
            <a:r>
              <a:rPr lang="es-ES" sz="1100" dirty="0" err="1">
                <a:latin typeface="Menlo" panose="020B0609030804020204" pitchFamily="49" charset="0"/>
              </a:rPr>
              <a:t>request.getRequests</a:t>
            </a:r>
            <a:r>
              <a:rPr lang="es-ES" sz="1100" dirty="0">
                <a:latin typeface="Menlo" panose="020B0609030804020204" pitchFamily="49" charset="0"/>
              </a:rPr>
              <a:t>())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.</a:t>
            </a:r>
            <a:r>
              <a:rPr lang="es-ES" sz="1100" dirty="0" err="1">
                <a:latin typeface="Menlo" panose="020B0609030804020204" pitchFamily="49" charset="0"/>
              </a:rPr>
              <a:t>flatMap</a:t>
            </a:r>
            <a:r>
              <a:rPr lang="es-ES" sz="1100" dirty="0">
                <a:latin typeface="Menlo" panose="020B0609030804020204" pitchFamily="49" charset="0"/>
              </a:rPr>
              <a:t>(i -&gt; </a:t>
            </a:r>
            <a:r>
              <a:rPr lang="es-ES" sz="1100" dirty="0" err="1">
                <a:latin typeface="Menlo" panose="020B0609030804020204" pitchFamily="49" charset="0"/>
              </a:rPr>
              <a:t>executeReactiveRequest</a:t>
            </a:r>
            <a:r>
              <a:rPr lang="es-ES" sz="1100" dirty="0">
                <a:latin typeface="Menlo" panose="020B0609030804020204" pitchFamily="49" charset="0"/>
              </a:rPr>
              <a:t>(...), </a:t>
            </a:r>
            <a:r>
              <a:rPr lang="es-ES" sz="1100" dirty="0" err="1">
                <a:latin typeface="Menlo" panose="020B0609030804020204" pitchFamily="49" charset="0"/>
              </a:rPr>
              <a:t>request.getThreads</a:t>
            </a:r>
            <a:r>
              <a:rPr lang="es-ES" sz="1100" dirty="0">
                <a:latin typeface="Menlo" panose="020B0609030804020204" pitchFamily="49" charset="0"/>
              </a:rPr>
              <a:t>()) // concurrencia controlada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.</a:t>
            </a:r>
            <a:r>
              <a:rPr lang="es-ES" sz="1100" dirty="0" err="1">
                <a:latin typeface="Menlo" panose="020B0609030804020204" pitchFamily="49" charset="0"/>
              </a:rPr>
              <a:t>collectList</a:t>
            </a:r>
            <a:r>
              <a:rPr lang="es-ES" sz="1100" dirty="0">
                <a:latin typeface="Menlo" panose="020B0609030804020204" pitchFamily="49" charset="0"/>
              </a:rPr>
              <a:t>()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.</a:t>
            </a:r>
            <a:r>
              <a:rPr lang="es-ES" sz="1100" dirty="0" err="1">
                <a:latin typeface="Menlo" panose="020B0609030804020204" pitchFamily="49" charset="0"/>
              </a:rPr>
              <a:t>map</a:t>
            </a:r>
            <a:r>
              <a:rPr lang="es-ES" sz="1100" dirty="0">
                <a:latin typeface="Menlo" panose="020B0609030804020204" pitchFamily="49" charset="0"/>
              </a:rPr>
              <a:t>(</a:t>
            </a:r>
            <a:r>
              <a:rPr lang="es-ES" sz="1100" dirty="0" err="1">
                <a:latin typeface="Menlo" panose="020B0609030804020204" pitchFamily="49" charset="0"/>
              </a:rPr>
              <a:t>responseTimes</a:t>
            </a:r>
            <a:r>
              <a:rPr lang="es-ES" sz="1100" dirty="0">
                <a:latin typeface="Menlo" panose="020B0609030804020204" pitchFamily="49" charset="0"/>
              </a:rPr>
              <a:t> -&gt; { ... });</a:t>
            </a:r>
          </a:p>
          <a:p>
            <a:pPr lvl="1"/>
            <a:r>
              <a:rPr lang="es-ES" sz="1100" dirty="0">
                <a:latin typeface="Menlo" panose="020B060903080402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819473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3E96E42-6062-4A47-9C78-96947A710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22" y="285078"/>
            <a:ext cx="10919254" cy="3984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801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9D026DE-7B75-6446-B342-A1052F86CA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557" y="137339"/>
            <a:ext cx="11438238" cy="289401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932C01C-78DC-824D-9F78-4B58D1F95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376" y="3153547"/>
            <a:ext cx="10134600" cy="346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1012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E06F4A9-5F41-B649-9DA2-D7350D0612A6}"/>
              </a:ext>
            </a:extLst>
          </p:cNvPr>
          <p:cNvSpPr/>
          <p:nvPr/>
        </p:nvSpPr>
        <p:spPr>
          <a:xfrm>
            <a:off x="514864" y="315264"/>
            <a:ext cx="848085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2" tooltip="https://wiki.openjdk.org/spaces/loom/pages/56525302/getting+started"/>
              </a:rPr>
              <a:t>https://wiki.openjdk.org/spaces/loom/pages/56525302/Getting+started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3" tooltip="https://openjdk.org/jeps/425"/>
              </a:rPr>
              <a:t>https://openjdk.org/jeps/425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4" tooltip="https://openjdk.org/jeps/444"/>
              </a:rPr>
              <a:t>https://openjdk.org/jeps/444</a:t>
            </a:r>
            <a:endParaRPr lang="es-ES" dirty="0"/>
          </a:p>
          <a:p>
            <a:pPr>
              <a:buFont typeface="Arial" panose="020B0604020202020204" pitchFamily="34" charset="0"/>
              <a:buChar char="•"/>
            </a:pPr>
            <a:r>
              <a:rPr lang="es-ES" dirty="0">
                <a:hlinkClick r:id="rId5" tooltip="https://www.paradigmadigital.com/dev/ventajas-virtual-threads-java-21/"/>
              </a:rPr>
              <a:t>https://www.paradigmadigital.com/dev/ventajas-virtual-threads-java-21/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50454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284</Words>
  <Application>Microsoft Macintosh PowerPoint</Application>
  <PresentationFormat>Widescreen</PresentationFormat>
  <Paragraphs>27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JOSE ANTONIO BELTRAN MARQUEZ</dc:creator>
  <cp:lastModifiedBy>JOSE ANTONIO BELTRAN MARQUEZ</cp:lastModifiedBy>
  <cp:revision>8</cp:revision>
  <dcterms:created xsi:type="dcterms:W3CDTF">2026-04-07T22:24:58Z</dcterms:created>
  <dcterms:modified xsi:type="dcterms:W3CDTF">2026-04-10T20:00:14Z</dcterms:modified>
</cp:coreProperties>
</file>