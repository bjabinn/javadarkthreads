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4" r:id="rId2"/>
    <p:sldId id="263" r:id="rId3"/>
    <p:sldId id="265" r:id="rId4"/>
    <p:sldId id="259" r:id="rId5"/>
    <p:sldId id="257" r:id="rId6"/>
    <p:sldId id="262" r:id="rId7"/>
    <p:sldId id="266" r:id="rId8"/>
    <p:sldId id="267" r:id="rId9"/>
    <p:sldId id="256" r:id="rId10"/>
    <p:sldId id="261" r:id="rId11"/>
    <p:sldId id="260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21"/>
  </p:normalViewPr>
  <p:slideViewPr>
    <p:cSldViewPr snapToGrid="0" snapToObjects="1">
      <p:cViewPr>
        <p:scale>
          <a:sx n="111" d="100"/>
          <a:sy n="111" d="100"/>
        </p:scale>
        <p:origin x="53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49F0EC-F0EF-9D4D-980C-F71BB2A13588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EDBA48-FC82-C141-A3E2-4707AEA1C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509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Remarcar</a:t>
            </a:r>
            <a:r>
              <a:rPr lang="en-GB" dirty="0"/>
              <a:t> que </a:t>
            </a:r>
            <a:r>
              <a:rPr lang="en-GB" dirty="0" err="1"/>
              <a:t>pasar</a:t>
            </a:r>
            <a:r>
              <a:rPr lang="en-GB" dirty="0"/>
              <a:t> de blocking a reactive </a:t>
            </a:r>
            <a:r>
              <a:rPr lang="en-GB" dirty="0" err="1"/>
              <a:t>implica</a:t>
            </a:r>
            <a:r>
              <a:rPr lang="en-GB" dirty="0"/>
              <a:t> </a:t>
            </a:r>
            <a:r>
              <a:rPr lang="en-GB" dirty="0" err="1"/>
              <a:t>reescribir</a:t>
            </a:r>
            <a:r>
              <a:rPr lang="en-GB" dirty="0"/>
              <a:t> </a:t>
            </a:r>
            <a:r>
              <a:rPr lang="en-GB" dirty="0" err="1"/>
              <a:t>toda</a:t>
            </a:r>
            <a:r>
              <a:rPr lang="en-GB" dirty="0"/>
              <a:t> la </a:t>
            </a:r>
            <a:r>
              <a:rPr lang="en-GB" dirty="0" err="1"/>
              <a:t>logica</a:t>
            </a:r>
            <a:r>
              <a:rPr lang="en-GB" dirty="0"/>
              <a:t> con Mono / Flux / </a:t>
            </a:r>
            <a:r>
              <a:rPr lang="en-GB" dirty="0" err="1"/>
              <a:t>Webclinet</a:t>
            </a:r>
            <a:r>
              <a:rPr lang="en-GB" dirty="0"/>
              <a:t> y el </a:t>
            </a:r>
            <a:r>
              <a:rPr lang="en-GB" dirty="0" err="1"/>
              <a:t>paso</a:t>
            </a:r>
            <a:r>
              <a:rPr lang="en-GB" dirty="0"/>
              <a:t> a VT son 2 </a:t>
            </a:r>
            <a:r>
              <a:rPr lang="en-GB" dirty="0" err="1"/>
              <a:t>líneas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EDBA48-FC82-C141-A3E2-4707AEA1C46D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64466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3AF31-EF08-444B-8887-BCFBF668A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40A8BC-2E00-0747-A42C-83D36570DF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0330E-3D23-C44A-BF56-E651AA9E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5F726-A9E3-3A4B-817D-C0CCA91B7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8299-2EC2-9F49-BA57-065C78821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8152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05E5B-21F7-9B43-8FC8-0E89B7B3C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6C865-7C4A-AE48-9953-CCDDC78F87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4E0855-DDE9-094C-9337-17867B3A3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ACA8FB-F48D-3348-86CE-F61D62DCD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4A5A2-3AA9-1449-8EED-169A55247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3427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57254-244B-124C-B9E0-6A62D6691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F75BD-16B6-3C48-8331-F4E363E50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DFCE5-A5F2-8945-B4A8-8F0A3C3B9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D6314-9C82-6840-BCB5-B32D3EC7B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CA0A21-0459-7D4F-883B-D70B8965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1200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17893-1ABA-DF45-890F-A8A416A4B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269AC-26FB-4F47-A2CD-ADD997B67F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E88BB4-7A12-4C45-9742-20EDDD21D6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7DFC59-A4E8-3A4B-BA4F-7BA01F9CF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91EF0-9079-5B45-BD26-02FC07B9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18D73E-DC1C-6747-AAE9-DC2307A51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888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7390F-364F-BA40-9CD1-FD02BC784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8656E9-84C2-1E49-B190-73332B79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F71584-DE00-314F-B577-14C9773449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D9A9D6-AE7C-5C4E-B478-CD627CCD5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1C709E-B3D4-3444-A457-14968776DE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C5B6A5-5FE7-F648-ADD1-E425D4585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343DE3-33E0-7A46-B9BD-71FF4162F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88F145-CCBC-F949-8787-74F0D820F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652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E0BFC-E80E-9143-B027-450ED7EC5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B767D1-D78D-8F48-9433-96FAC8DAE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046D3-9956-7F42-AA03-5CD9F51A3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1D5EE3-BC52-584D-96D5-7A97808BE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6593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B175E1-B8BE-5F41-AF2B-7A170228C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7178BE-23DC-5C4D-ADAA-A9B689EC2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0044A7-0F5A-7043-9820-6E9FF9C1A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02796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C6012-589B-5743-85F4-3F8825788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B146E-10AC-BC4A-A9DC-B43BC5048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EA9B3E-2373-D542-9D2B-AA585EDD2C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412461-98DB-854F-9922-28FBFFC49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0C7769-6613-CB4B-8408-3AABBFC3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CCC1F8-4980-3842-B551-C687B800D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6835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19E45-49FD-914B-9D12-F53F00F5E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F97731-45D9-984F-840E-7D0D24F3DF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D43C4B-1013-8A45-9946-5F7D495BEA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97AB8-6BF8-2F44-BB45-EE3840076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9DD2F2-5108-AA44-93CB-0576CCFDC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B081AD-381D-DE4F-B9A5-2E59ABA7A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2240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45830-1736-024C-A4B1-40187B2F3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366D30-6E92-3A43-A58C-E97FB2A0F5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9730F-AAE4-6D4A-99E6-7C2396A59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E0992-9376-0B4B-87FB-4BAF429C7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9FE1-FDC3-2046-8974-8540B3B0C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7316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F45DBB-EBFC-C741-A2AC-804D39E463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E076F8-E6B5-4344-A440-1510D227B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F8E9D-7324-C245-921A-FB8D63E71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220E9A-0C57-E241-9FF0-7B957F143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425A3E-9A7E-D24D-8F77-67D6534EF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140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2E4A3C-D25A-AD4E-AB24-2534E2CEE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20DB75-A515-3F47-833E-F57C3268B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BBF7F-71B1-DE46-A345-D9195F053C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16DB4-CE44-334E-8DAE-1CF1BAAFFB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A5D76B-6054-1D44-91F1-599221D91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60996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jdk.org/jeps/425" TargetMode="External"/><Relationship Id="rId2" Type="http://schemas.openxmlformats.org/officeDocument/2006/relationships/hyperlink" Target="https://wiki.openjdk.org/spaces/loom/pages/56525302/Getting+started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happycoders.eu/java/virtual-threads/" TargetMode="External"/><Relationship Id="rId5" Type="http://schemas.openxmlformats.org/officeDocument/2006/relationships/hyperlink" Target="https://www.paradigmadigital.com/dev/ventajas-virtual-threads-java-21/" TargetMode="External"/><Relationship Id="rId4" Type="http://schemas.openxmlformats.org/officeDocument/2006/relationships/hyperlink" Target="https://openjdk.org/jeps/44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6C0E4CA-52B3-DA48-A922-69037FBE2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0" y="1149350"/>
            <a:ext cx="10160000" cy="455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042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8AFA5A4-138F-4A46-BA0C-4D57D3EE4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63" y="479339"/>
            <a:ext cx="10414000" cy="2019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AB36F07-7C9B-014C-AB3F-B032DC0AD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363" y="4253128"/>
            <a:ext cx="8775700" cy="2108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EDDC79-8B5E-9644-88FA-3C768D3B9CBD}"/>
              </a:ext>
            </a:extLst>
          </p:cNvPr>
          <p:cNvSpPr txBox="1"/>
          <p:nvPr/>
        </p:nvSpPr>
        <p:spPr>
          <a:xfrm>
            <a:off x="728363" y="3064475"/>
            <a:ext cx="1909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s-ES"/>
            </a:defPPr>
            <a:lvl1pPr>
              <a:defRPr sz="2400"/>
            </a:lvl1pPr>
          </a:lstStyle>
          <a:p>
            <a:r>
              <a:rPr lang="en-GB" dirty="0"/>
              <a:t>Reactive Style ;) ;)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C465C3-2C00-024B-87BE-E8995813F92A}"/>
              </a:ext>
            </a:extLst>
          </p:cNvPr>
          <p:cNvSpPr txBox="1"/>
          <p:nvPr/>
        </p:nvSpPr>
        <p:spPr>
          <a:xfrm>
            <a:off x="610479" y="47719"/>
            <a:ext cx="30502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Using platform threads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6A13D5-D299-F144-BAFE-33FE869F7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363" y="3488899"/>
            <a:ext cx="9575800" cy="558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146B7A-2CD1-1C44-AA7A-956959DCB8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05699" y="5421228"/>
            <a:ext cx="1286301" cy="1286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579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0036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0A4976-D85D-1D42-8610-2D102F0710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4143647"/>
              </p:ext>
            </p:extLst>
          </p:nvPr>
        </p:nvGraphicFramePr>
        <p:xfrm>
          <a:off x="516925" y="232484"/>
          <a:ext cx="10515600" cy="637032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12233355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6325871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78894464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4572533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Aspecto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Platform</a:t>
                      </a:r>
                      <a:r>
                        <a:rPr lang="es-ES" dirty="0"/>
                        <a:t> </a:t>
                      </a:r>
                      <a:r>
                        <a:rPr lang="es-ES" dirty="0" err="1"/>
                        <a:t>Threads</a:t>
                      </a:r>
                      <a:endParaRPr lang="es-E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Reactive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Virtual </a:t>
                      </a:r>
                      <a:r>
                        <a:rPr lang="es-ES" dirty="0" err="1"/>
                        <a:t>Threads</a:t>
                      </a:r>
                      <a:endParaRPr lang="es-E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1699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Executor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newFixedThreadPool</a:t>
                      </a:r>
                      <a:r>
                        <a:rPr lang="es-ES" dirty="0"/>
                        <a:t>(n)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Event loop (Netty)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newVirtualThreadPerTaskExecutor()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3632042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HTTP Client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RestTemplate</a:t>
                      </a:r>
                      <a:r>
                        <a:rPr lang="es-ES" dirty="0"/>
                        <a:t> (</a:t>
                      </a:r>
                      <a:r>
                        <a:rPr lang="es-ES" dirty="0" err="1"/>
                        <a:t>blocking</a:t>
                      </a:r>
                      <a:r>
                        <a:rPr lang="es-ES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WebClient (non-blocking)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RestTemplate (blocking)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8383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Firma del método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LoadResponse</a:t>
                      </a:r>
                      <a:r>
                        <a:rPr lang="es-ES" dirty="0"/>
                        <a:t> </a:t>
                      </a:r>
                      <a:r>
                        <a:rPr lang="es-ES" dirty="0" err="1"/>
                        <a:t>executeLoad</a:t>
                      </a:r>
                      <a:r>
                        <a:rPr lang="es-ES" dirty="0"/>
                        <a:t>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Mono&lt;LoadResponse&gt; executeLoad()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LoadResponse executeLoad()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5074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Modelo de código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Imperativo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Funcional/reactivo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Imperativo (igual que blocking)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8803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Cambios respecto al anterior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Todo cambia: dependencias, cliente, paradigma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Solo 1 línea (el executor)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178794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Complejidad del cambio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Alta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Mínima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68827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Modelo</a:t>
                      </a:r>
                      <a:endParaRPr lang="en-GB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Plataforma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pesados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Bucle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de 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eventos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no 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bloqueantes</a:t>
                      </a:r>
                      <a:endParaRPr lang="en-GB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pocos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hilos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Ligeros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1KB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364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Peticiones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concurrentes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máx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(by default)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200 by default</a:t>
                      </a:r>
                      <a:b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server.tomcat.threads.max</a:t>
                      </a:r>
                      <a:endParaRPr lang="en-GB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Muy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alto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+10.000</a:t>
                      </a:r>
                      <a:endParaRPr lang="en-GB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6212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Spring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default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spring.threads.virtual.enabled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spring-boot-starter-</a:t>
                      </a:r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webflux</a:t>
                      </a:r>
                      <a:endParaRPr lang="en-GB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5827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Estilo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de </a:t>
                      </a:r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codificación</a:t>
                      </a:r>
                      <a:endParaRPr lang="en-GB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Reactiva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(Mono / flux)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Idem to Platform Threads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79372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7801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F49BF1B-102F-E941-B531-70A333F19E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0880739"/>
              </p:ext>
            </p:extLst>
          </p:nvPr>
        </p:nvGraphicFramePr>
        <p:xfrm>
          <a:off x="393538" y="296984"/>
          <a:ext cx="11528387" cy="6342877"/>
        </p:xfrm>
        <a:graphic>
          <a:graphicData uri="http://schemas.openxmlformats.org/drawingml/2006/table">
            <a:tbl>
              <a:tblPr/>
              <a:tblGrid>
                <a:gridCol w="2108224">
                  <a:extLst>
                    <a:ext uri="{9D8B030D-6E8A-4147-A177-3AD203B41FA5}">
                      <a16:colId xmlns:a16="http://schemas.microsoft.com/office/drawing/2014/main" val="1605800137"/>
                    </a:ext>
                  </a:extLst>
                </a:gridCol>
                <a:gridCol w="1734571">
                  <a:extLst>
                    <a:ext uri="{9D8B030D-6E8A-4147-A177-3AD203B41FA5}">
                      <a16:colId xmlns:a16="http://schemas.microsoft.com/office/drawing/2014/main" val="3187434922"/>
                    </a:ext>
                  </a:extLst>
                </a:gridCol>
                <a:gridCol w="1921398">
                  <a:extLst>
                    <a:ext uri="{9D8B030D-6E8A-4147-A177-3AD203B41FA5}">
                      <a16:colId xmlns:a16="http://schemas.microsoft.com/office/drawing/2014/main" val="3881011170"/>
                    </a:ext>
                  </a:extLst>
                </a:gridCol>
                <a:gridCol w="1921398">
                  <a:extLst>
                    <a:ext uri="{9D8B030D-6E8A-4147-A177-3AD203B41FA5}">
                      <a16:colId xmlns:a16="http://schemas.microsoft.com/office/drawing/2014/main" val="1225338171"/>
                    </a:ext>
                  </a:extLst>
                </a:gridCol>
                <a:gridCol w="1921398">
                  <a:extLst>
                    <a:ext uri="{9D8B030D-6E8A-4147-A177-3AD203B41FA5}">
                      <a16:colId xmlns:a16="http://schemas.microsoft.com/office/drawing/2014/main" val="35211570"/>
                    </a:ext>
                  </a:extLst>
                </a:gridCol>
                <a:gridCol w="1921398">
                  <a:extLst>
                    <a:ext uri="{9D8B030D-6E8A-4147-A177-3AD203B41FA5}">
                      <a16:colId xmlns:a16="http://schemas.microsoft.com/office/drawing/2014/main" val="2602136704"/>
                    </a:ext>
                  </a:extLst>
                </a:gridCol>
              </a:tblGrid>
              <a:tr h="324298">
                <a:tc>
                  <a:txBody>
                    <a:bodyPr/>
                    <a:lstStyle/>
                    <a:p>
                      <a:r>
                        <a:rPr lang="es-ES" sz="1400" b="1" dirty="0"/>
                        <a:t>Métrica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/>
                        <a:t>Significado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 err="1"/>
                        <a:t>Platform</a:t>
                      </a:r>
                      <a:r>
                        <a:rPr lang="es-ES" sz="1400" b="1" dirty="0"/>
                        <a:t> </a:t>
                      </a:r>
                      <a:r>
                        <a:rPr lang="es-ES" sz="1400" b="1" dirty="0" err="1"/>
                        <a:t>Threads</a:t>
                      </a:r>
                      <a:endParaRPr lang="es-ES" sz="1400" b="1" dirty="0"/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/>
                        <a:t>Reactive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/>
                        <a:t>Virtual </a:t>
                      </a:r>
                      <a:r>
                        <a:rPr lang="es-ES" sz="1400" b="1" dirty="0" err="1"/>
                        <a:t>Threads</a:t>
                      </a:r>
                      <a:endParaRPr lang="es-ES" sz="1400" b="1" dirty="0"/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/>
                        <a:t>¿Por qué es clave mostrarlo?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8695786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 dirty="0" err="1"/>
                        <a:t>jvm_threads_live_threads</a:t>
                      </a:r>
                      <a:endParaRPr lang="es-ES" sz="1100" dirty="0"/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Hilos OS vivos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 dirty="0"/>
                        <a:t>200 (pool fijo)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4-8 (event loop)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Miles (1 por tarea)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Los VT son baratos: crear miles no paraliza el 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38288124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/>
                        <a:t>jvm_threads_states_threads{state="blocked"}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Hilos bloqueados en I/O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MUCHOS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~0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~0 (se desmontan del carrier)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VT liberan el hilo OS al bloquearse (park), platform threads no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2458917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/>
                        <a:t>jvm_threads_states_threads{state="waiting"}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Hilos esperando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Altos en saturación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Bajos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Bajos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Muestra el "thread starvation" de platform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2012445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/>
                        <a:t>rate(http_server_requests_seconds_count[5m])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Throughput (reqs/s)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Limitado por pool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Alto (comparable)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VT iguala a reactive en rendimiento con código simple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3108651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/>
                        <a:t>Latencia P95 / P99 (histogram_quantile)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Colas de espera bajo carga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Alta cuando pool lleno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Baja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Baja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VT no sufre queue buildup del thread pool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2546720"/>
                  </a:ext>
                </a:extLst>
              </a:tr>
              <a:tr h="463282">
                <a:tc>
                  <a:txBody>
                    <a:bodyPr/>
                    <a:lstStyle/>
                    <a:p>
                      <a:r>
                        <a:rPr lang="es-ES" sz="1100"/>
                        <a:t>load.requests.failure rate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Tasa de errores/rechazos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Sube al saturar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Muy baja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Muy baja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Platform falla cuando el pool está lleno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3360243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/>
                        <a:t>process_resident_memory_bytes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Memoria OS real consumida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Alta (~1MB/hilo OS)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Media-alta (VT tienen stack pequeño ~KB)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VT son más ligeros en memoria que platform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1991945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/>
                        <a:t>process_cpu_usage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CPU consumida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Media-Alta (context switch)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Eficiente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Eficiente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Platform sufre context switching en saturación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9444920"/>
                  </a:ext>
                </a:extLst>
              </a:tr>
              <a:tr h="741252">
                <a:tc>
                  <a:txBody>
                    <a:bodyPr/>
                    <a:lstStyle/>
                    <a:p>
                      <a:r>
                        <a:rPr lang="es-ES" sz="1100"/>
                        <a:t>rate(jvm_gc_pause_seconds_sum[1m])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Tiempo perdido en GC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Moderado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ALTO (muchos objetos reactivos)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Moderado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Reactive genera más garbage por la lambda/MonoFlux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1790826"/>
                  </a:ext>
                </a:extLst>
              </a:tr>
              <a:tr h="463282">
                <a:tc>
                  <a:txBody>
                    <a:bodyPr/>
                    <a:lstStyle/>
                    <a:p>
                      <a:r>
                        <a:rPr lang="es-ES" sz="1100"/>
                        <a:t>jvm_memory_used_bytes{area="heap"}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Heap JVM usado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Medio-alto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 dirty="0"/>
                        <a:t>GC </a:t>
                      </a:r>
                      <a:r>
                        <a:rPr lang="es-ES" sz="1100" dirty="0" err="1"/>
                        <a:t>pressure</a:t>
                      </a:r>
                      <a:r>
                        <a:rPr lang="es-ES" sz="1100" dirty="0"/>
                        <a:t> visible en </a:t>
                      </a:r>
                      <a:r>
                        <a:rPr lang="es-ES" sz="1100" dirty="0" err="1"/>
                        <a:t>Heap</a:t>
                      </a:r>
                      <a:endParaRPr lang="es-ES" sz="1100" dirty="0"/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68382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2259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89BD7CF-E2BD-5546-B0AB-6258D9C40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033" y="164859"/>
            <a:ext cx="6413500" cy="3937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1813BA5-1943-7242-A19E-AA0B2A8840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28" y="688157"/>
            <a:ext cx="3675820" cy="374068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A7A88E6-ECD2-5D4E-9301-9F7BB4CC65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0127" y="688157"/>
            <a:ext cx="8528582" cy="20179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B3FACD0-F622-0447-9289-B9E794F4FE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0127" y="2775824"/>
            <a:ext cx="4895127" cy="17314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3F349AA-9D7E-8C44-BA1B-3F46DAC0EA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48445" y="3555260"/>
            <a:ext cx="2702287" cy="3607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96DFE44-D4BA-374E-86C2-9DFF4A51A4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896" y="4576957"/>
            <a:ext cx="8321626" cy="209750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6DEF4C7-BCDD-0043-9E96-139ADB4EEC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38536" y="5390935"/>
            <a:ext cx="2412196" cy="46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275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1A554C2-E7C6-DE40-BCF0-96A6860C19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702" y="162608"/>
            <a:ext cx="62357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459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687DC37-B79F-E443-ADCB-DA19E91E1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1756" y="158509"/>
            <a:ext cx="5905500" cy="406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1266C9B-5F58-4441-8078-54B560307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95" y="825824"/>
            <a:ext cx="3136740" cy="3483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780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039B50-FC3E-1B49-A3EB-FE6A2DD22EED}"/>
              </a:ext>
            </a:extLst>
          </p:cNvPr>
          <p:cNvSpPr txBox="1"/>
          <p:nvPr/>
        </p:nvSpPr>
        <p:spPr>
          <a:xfrm>
            <a:off x="639837" y="635489"/>
            <a:ext cx="9952020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400" u="sng" dirty="0"/>
              <a:t>Ventajas de Virtual </a:t>
            </a:r>
            <a:r>
              <a:rPr lang="es-ES" sz="2400" u="sng" dirty="0" err="1"/>
              <a:t>Threads</a:t>
            </a:r>
            <a:r>
              <a:rPr lang="es-ES" sz="2400" u="sng" dirty="0"/>
              <a:t> en el servidor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dirty="0"/>
              <a:t>Escalabilidad: </a:t>
            </a:r>
            <a:r>
              <a:rPr lang="es-ES" dirty="0" err="1"/>
              <a:t>Tomcat</a:t>
            </a:r>
            <a:r>
              <a:rPr lang="es-ES" dirty="0"/>
              <a:t> puede manejar miles de </a:t>
            </a:r>
            <a:r>
              <a:rPr lang="es-ES" dirty="0" err="1"/>
              <a:t>requests</a:t>
            </a:r>
            <a:r>
              <a:rPr lang="es-ES" dirty="0"/>
              <a:t> concurrentes (vs ~200 con </a:t>
            </a:r>
            <a:r>
              <a:rPr lang="es-ES" dirty="0" err="1"/>
              <a:t>platform</a:t>
            </a:r>
            <a:r>
              <a:rPr lang="es-ES" dirty="0"/>
              <a:t> </a:t>
            </a:r>
            <a:r>
              <a:rPr lang="es-ES" dirty="0" err="1"/>
              <a:t>threads</a:t>
            </a:r>
            <a:r>
              <a:rPr lang="es-ES" dirty="0"/>
              <a:t>) 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dirty="0"/>
              <a:t>Memoria eficiente: Cada virtual </a:t>
            </a:r>
            <a:r>
              <a:rPr lang="es-ES" dirty="0" err="1"/>
              <a:t>thread</a:t>
            </a:r>
            <a:r>
              <a:rPr lang="es-ES" dirty="0"/>
              <a:t> consume ~1KB (vs ~1MB de </a:t>
            </a:r>
            <a:r>
              <a:rPr lang="es-ES" dirty="0" err="1"/>
              <a:t>platform</a:t>
            </a:r>
            <a:r>
              <a:rPr lang="es-ES" dirty="0"/>
              <a:t> </a:t>
            </a:r>
            <a:r>
              <a:rPr lang="es-ES" dirty="0" err="1"/>
              <a:t>threads</a:t>
            </a:r>
            <a:r>
              <a:rPr lang="es-ES" dirty="0"/>
              <a:t>) 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dirty="0"/>
              <a:t>Sin límite de </a:t>
            </a:r>
            <a:r>
              <a:rPr lang="es-ES" dirty="0" err="1"/>
              <a:t>threads</a:t>
            </a:r>
            <a:r>
              <a:rPr lang="es-ES" dirty="0"/>
              <a:t>: No hay pool </a:t>
            </a:r>
            <a:r>
              <a:rPr lang="es-ES" dirty="0" err="1"/>
              <a:t>size</a:t>
            </a:r>
            <a:r>
              <a:rPr lang="es-ES" dirty="0"/>
              <a:t> que configurar 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dirty="0"/>
              <a:t>CPU eficiente: Mejor utilización en escenarios I/O-</a:t>
            </a:r>
            <a:r>
              <a:rPr lang="es-ES" dirty="0" err="1"/>
              <a:t>bound</a:t>
            </a:r>
            <a:r>
              <a:rPr lang="es-ES" dirty="0"/>
              <a:t> 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dirty="0"/>
              <a:t>Código simple: Sin cambios en el código del servicio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57578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9D026DE-7B75-6446-B342-A1052F86CA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557" y="137339"/>
            <a:ext cx="11438238" cy="289401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932C01C-78DC-824D-9F78-4B58D1F95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376" y="3153547"/>
            <a:ext cx="10134600" cy="346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1012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E06F4A9-5F41-B649-9DA2-D7350D0612A6}"/>
              </a:ext>
            </a:extLst>
          </p:cNvPr>
          <p:cNvSpPr/>
          <p:nvPr/>
        </p:nvSpPr>
        <p:spPr>
          <a:xfrm>
            <a:off x="514864" y="315264"/>
            <a:ext cx="848085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2" tooltip="https://wiki.openjdk.org/spaces/loom/pages/56525302/getting+started"/>
              </a:rPr>
              <a:t>https://wiki.openjdk.org/spaces/loom/pages/56525302/Getting+started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3" tooltip="https://openjdk.org/jeps/425"/>
              </a:rPr>
              <a:t>https://openjdk.org/jeps/425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4" tooltip="https://openjdk.org/jeps/444"/>
              </a:rPr>
              <a:t>https://openjdk.org/jeps/444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5" tooltip="https://www.paradigmadigital.com/dev/ventajas-virtual-threads-java-21/"/>
              </a:rPr>
              <a:t>https://www.paradigmadigital.com/dev/ventajas-virtual-threads-java-21/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6"/>
              </a:rPr>
              <a:t>https://www.happycoders.eu/java/virtual-threads/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504544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676</TotalTime>
  <Words>639</Words>
  <Application>Microsoft Macintosh PowerPoint</Application>
  <PresentationFormat>Widescreen</PresentationFormat>
  <Paragraphs>123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JOSE ANTONIO BELTRAN MARQUEZ</dc:creator>
  <cp:lastModifiedBy>JOSE ANTONIO BELTRAN MARQUEZ</cp:lastModifiedBy>
  <cp:revision>26</cp:revision>
  <dcterms:created xsi:type="dcterms:W3CDTF">2026-04-07T22:24:58Z</dcterms:created>
  <dcterms:modified xsi:type="dcterms:W3CDTF">2026-04-20T12:56:55Z</dcterms:modified>
</cp:coreProperties>
</file>