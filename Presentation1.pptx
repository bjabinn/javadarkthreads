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4" r:id="rId2"/>
    <p:sldId id="259" r:id="rId3"/>
    <p:sldId id="263" r:id="rId4"/>
    <p:sldId id="265" r:id="rId5"/>
    <p:sldId id="257" r:id="rId6"/>
    <p:sldId id="262" r:id="rId7"/>
    <p:sldId id="266" r:id="rId8"/>
    <p:sldId id="267" r:id="rId9"/>
    <p:sldId id="256" r:id="rId10"/>
    <p:sldId id="261" r:id="rId11"/>
    <p:sldId id="260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721"/>
  </p:normalViewPr>
  <p:slideViewPr>
    <p:cSldViewPr snapToGrid="0" snapToObjects="1">
      <p:cViewPr varScale="1">
        <p:scale>
          <a:sx n="104" d="100"/>
          <a:sy n="104" d="100"/>
        </p:scale>
        <p:origin x="8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49F0EC-F0EF-9D4D-980C-F71BB2A13588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EDBA48-FC82-C141-A3E2-4707AEA1C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50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Remarcar</a:t>
            </a:r>
            <a:r>
              <a:rPr lang="en-GB" dirty="0"/>
              <a:t> que </a:t>
            </a:r>
            <a:r>
              <a:rPr lang="en-GB" dirty="0" err="1"/>
              <a:t>pasar</a:t>
            </a:r>
            <a:r>
              <a:rPr lang="en-GB" dirty="0"/>
              <a:t> de blocking a reactive </a:t>
            </a:r>
            <a:r>
              <a:rPr lang="en-GB" dirty="0" err="1"/>
              <a:t>implica</a:t>
            </a:r>
            <a:r>
              <a:rPr lang="en-GB" dirty="0"/>
              <a:t> </a:t>
            </a:r>
            <a:r>
              <a:rPr lang="en-GB" dirty="0" err="1"/>
              <a:t>reescribir</a:t>
            </a:r>
            <a:r>
              <a:rPr lang="en-GB" dirty="0"/>
              <a:t> </a:t>
            </a:r>
            <a:r>
              <a:rPr lang="en-GB" dirty="0" err="1"/>
              <a:t>toda</a:t>
            </a:r>
            <a:r>
              <a:rPr lang="en-GB" dirty="0"/>
              <a:t> la </a:t>
            </a:r>
            <a:r>
              <a:rPr lang="en-GB" dirty="0" err="1"/>
              <a:t>logica</a:t>
            </a:r>
            <a:r>
              <a:rPr lang="en-GB" dirty="0"/>
              <a:t> con Mono / Flux / </a:t>
            </a:r>
            <a:r>
              <a:rPr lang="en-GB" dirty="0" err="1"/>
              <a:t>Webclinet</a:t>
            </a:r>
            <a:r>
              <a:rPr lang="en-GB" dirty="0"/>
              <a:t> y el </a:t>
            </a:r>
            <a:r>
              <a:rPr lang="en-GB" dirty="0" err="1"/>
              <a:t>paso</a:t>
            </a:r>
            <a:r>
              <a:rPr lang="en-GB" dirty="0"/>
              <a:t> a VT son 2 </a:t>
            </a:r>
            <a:r>
              <a:rPr lang="en-GB" dirty="0" err="1"/>
              <a:t>líneas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DBA48-FC82-C141-A3E2-4707AEA1C46D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6446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3AF31-EF08-444B-8887-BCFBF668A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40A8BC-2E00-0747-A42C-83D36570DF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0330E-3D23-C44A-BF56-E651AA9E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5F726-A9E3-3A4B-817D-C0CCA91B7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8299-2EC2-9F49-BA57-065C7882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15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05E5B-21F7-9B43-8FC8-0E89B7B3C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C865-7C4A-AE48-9953-CCDDC78F8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E0855-DDE9-094C-9337-17867B3A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A8FB-F48D-3348-86CE-F61D62DCD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4A5A2-3AA9-1449-8EED-169A5524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27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7254-244B-124C-B9E0-6A62D6691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F75BD-16B6-3C48-8331-F4E363E50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DFCE5-A5F2-8945-B4A8-8F0A3C3B9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D6314-9C82-6840-BCB5-B32D3EC7B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A0A21-0459-7D4F-883B-D70B8965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1200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17893-1ABA-DF45-890F-A8A416A4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269AC-26FB-4F47-A2CD-ADD997B67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E88BB4-7A12-4C45-9742-20EDDD21D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7DFC59-A4E8-3A4B-BA4F-7BA01F9C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1EF0-9079-5B45-BD26-02FC07B9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8D73E-DC1C-6747-AAE9-DC2307A5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88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390F-364F-BA40-9CD1-FD02BC78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656E9-84C2-1E49-B190-73332B79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F71584-DE00-314F-B577-14C977344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D9A9D6-AE7C-5C4E-B478-CD627CCD5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1C709E-B3D4-3444-A457-14968776DE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5B6A5-5FE7-F648-ADD1-E425D4585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343DE3-33E0-7A46-B9BD-71FF4162F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88F145-CCBC-F949-8787-74F0D820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652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0BFC-E80E-9143-B027-450ED7EC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767D1-D78D-8F48-9433-96FAC8DAE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046D3-9956-7F42-AA03-5CD9F51A3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1D5EE3-BC52-584D-96D5-7A97808BE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59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B175E1-B8BE-5F41-AF2B-7A170228C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7178BE-23DC-5C4D-ADAA-A9B689EC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044A7-0F5A-7043-9820-6E9FF9C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279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C6012-589B-5743-85F4-3F8825788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B146E-10AC-BC4A-A9DC-B43BC5048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EA9B3E-2373-D542-9D2B-AA585EDD2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12461-98DB-854F-9922-28FBFFC49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C7769-6613-CB4B-8408-3AABBFC3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CCC1F8-4980-3842-B551-C687B800D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83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9E45-49FD-914B-9D12-F53F00F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F97731-45D9-984F-840E-7D0D24F3DF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43C4B-1013-8A45-9946-5F7D495BE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97AB8-6BF8-2F44-BB45-EE3840076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DD2F2-5108-AA44-93CB-0576CCFDC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081AD-381D-DE4F-B9A5-2E59ABA7A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2240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5830-1736-024C-A4B1-40187B2F3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366D30-6E92-3A43-A58C-E97FB2A0F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9730F-AAE4-6D4A-99E6-7C2396A59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E0992-9376-0B4B-87FB-4BAF429C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9FE1-FDC3-2046-8974-8540B3B0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316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F45DBB-EBFC-C741-A2AC-804D39E46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E076F8-E6B5-4344-A440-1510D227B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F8E9D-7324-C245-921A-FB8D63E7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0E9A-0C57-E241-9FF0-7B957F143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25A3E-9A7E-D24D-8F77-67D6534E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140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2E4A3C-D25A-AD4E-AB24-2534E2CEE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0DB75-A515-3F47-833E-F57C3268B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BBF7F-71B1-DE46-A345-D9195F053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6DB4-CE44-334E-8DAE-1CF1BAAFFB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A5D76B-6054-1D44-91F1-599221D91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6099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jdk.org/jeps/425" TargetMode="External"/><Relationship Id="rId2" Type="http://schemas.openxmlformats.org/officeDocument/2006/relationships/hyperlink" Target="https://wiki.openjdk.org/spaces/loom/pages/56525302/Getting+starte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happycoders.eu/java/virtual-threads/" TargetMode="External"/><Relationship Id="rId5" Type="http://schemas.openxmlformats.org/officeDocument/2006/relationships/hyperlink" Target="https://www.paradigmadigital.com/dev/ventajas-virtual-threads-java-21/" TargetMode="External"/><Relationship Id="rId4" Type="http://schemas.openxmlformats.org/officeDocument/2006/relationships/hyperlink" Target="https://openjdk.org/jeps/44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C0E4CA-52B3-DA48-A922-69037FBE2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75" y="630366"/>
            <a:ext cx="11427035" cy="5127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042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0A4976-D85D-1D42-8610-2D102F071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079147"/>
              </p:ext>
            </p:extLst>
          </p:nvPr>
        </p:nvGraphicFramePr>
        <p:xfrm>
          <a:off x="516925" y="232484"/>
          <a:ext cx="10515600" cy="57302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1223335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6325871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8894464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572533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Aspecto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Platform</a:t>
                      </a:r>
                      <a:r>
                        <a:rPr lang="es-ES" dirty="0"/>
                        <a:t> </a:t>
                      </a:r>
                      <a:r>
                        <a:rPr lang="es-ES" dirty="0" err="1"/>
                        <a:t>Threads</a:t>
                      </a:r>
                      <a:endParaRPr lang="es-E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Reactive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Virtual </a:t>
                      </a:r>
                      <a:r>
                        <a:rPr lang="es-ES" dirty="0" err="1"/>
                        <a:t>Threads</a:t>
                      </a:r>
                      <a:endParaRPr lang="es-E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1699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Executor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newFixedThreadPool</a:t>
                      </a:r>
                      <a:r>
                        <a:rPr lang="es-ES" dirty="0"/>
                        <a:t>(n)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Event loop (Netty)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newVirtualThreadPerTaskExecutor()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6320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HTTP Client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RestTemplate</a:t>
                      </a:r>
                      <a:r>
                        <a:rPr lang="es-ES" dirty="0"/>
                        <a:t> (</a:t>
                      </a:r>
                      <a:r>
                        <a:rPr lang="es-ES" dirty="0" err="1"/>
                        <a:t>blocking</a:t>
                      </a:r>
                      <a:r>
                        <a:rPr lang="es-ES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WebClient (non-blocking)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RestTemplate</a:t>
                      </a:r>
                      <a:r>
                        <a:rPr lang="es-ES" dirty="0"/>
                        <a:t> (</a:t>
                      </a:r>
                      <a:r>
                        <a:rPr lang="es-ES" dirty="0" err="1"/>
                        <a:t>blocking</a:t>
                      </a:r>
                      <a:r>
                        <a:rPr lang="es-ES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838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Firma del método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600" dirty="0" err="1"/>
                        <a:t>LoadResponse</a:t>
                      </a:r>
                      <a:r>
                        <a:rPr lang="es-ES" sz="1600" dirty="0"/>
                        <a:t> </a:t>
                      </a:r>
                      <a:r>
                        <a:rPr lang="es-ES" sz="1600" dirty="0" err="1"/>
                        <a:t>executeLoad</a:t>
                      </a:r>
                      <a:r>
                        <a:rPr lang="es-ES" sz="1600" dirty="0"/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Mono&lt;</a:t>
                      </a:r>
                      <a:r>
                        <a:rPr lang="es-ES" sz="1200" dirty="0" err="1"/>
                        <a:t>LoadResponse</a:t>
                      </a:r>
                      <a:r>
                        <a:rPr lang="es-ES" sz="1200" dirty="0"/>
                        <a:t>&gt; </a:t>
                      </a:r>
                      <a:r>
                        <a:rPr lang="es-ES" sz="1200" dirty="0" err="1"/>
                        <a:t>executeLoad</a:t>
                      </a:r>
                      <a:r>
                        <a:rPr lang="es-ES" sz="1200" dirty="0"/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600" dirty="0" err="1"/>
                        <a:t>LoadResponse</a:t>
                      </a:r>
                      <a:r>
                        <a:rPr lang="es-ES" sz="1600" dirty="0"/>
                        <a:t> </a:t>
                      </a:r>
                      <a:r>
                        <a:rPr lang="es-ES" sz="1600" dirty="0" err="1"/>
                        <a:t>executeLoad</a:t>
                      </a:r>
                      <a:r>
                        <a:rPr lang="es-ES" sz="16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074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Modelo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Imperativo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Funcional/reactivo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Imperativo (igual que blocking)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8803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Cambios respecto al anterior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Todo cambia: dependencias, cliente, paradigma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Solo 1 línea (el executor)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7879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Complejidad del cambio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Mínima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6882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Modelo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Plataforma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pesados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Bucle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de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eventos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no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bloqueantes</a:t>
                      </a:r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pocos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hilos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Ligeros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1KB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364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Peticiones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concurrentes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máx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(by 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200 by default</a:t>
                      </a:r>
                      <a:b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GB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server.tomcat.threads.max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Muy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+10.000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212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endParaRPr lang="en-GB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spring-boot-starter-</a:t>
                      </a:r>
                      <a:r>
                        <a:rPr lang="en-GB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webflux</a:t>
                      </a:r>
                      <a:endParaRPr lang="en-GB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spring.threads.virtual.enabled</a:t>
                      </a: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 true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827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Estilo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de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codificación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Reactiva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(Mono / flux)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Idem to Platform Threads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7937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7801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AFA5A4-138F-4A46-BA0C-4D57D3EE4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63" y="1330089"/>
            <a:ext cx="10414000" cy="2019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B36F07-7C9B-014C-AB3F-B032DC0A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63" y="4599117"/>
            <a:ext cx="8775700" cy="210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EDDC79-8B5E-9644-88FA-3C768D3B9CBD}"/>
              </a:ext>
            </a:extLst>
          </p:cNvPr>
          <p:cNvSpPr txBox="1"/>
          <p:nvPr/>
        </p:nvSpPr>
        <p:spPr>
          <a:xfrm>
            <a:off x="728363" y="3491121"/>
            <a:ext cx="3176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>
              <a:defRPr sz="2400"/>
            </a:lvl1pPr>
          </a:lstStyle>
          <a:p>
            <a:r>
              <a:rPr lang="en-GB" dirty="0"/>
              <a:t>Reactive Style ;) ;)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C465C3-2C00-024B-87BE-E8995813F92A}"/>
              </a:ext>
            </a:extLst>
          </p:cNvPr>
          <p:cNvSpPr txBox="1"/>
          <p:nvPr/>
        </p:nvSpPr>
        <p:spPr>
          <a:xfrm>
            <a:off x="728363" y="0"/>
            <a:ext cx="30502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Using platform threads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6A13D5-D299-F144-BAFE-33FE869F7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63" y="3950385"/>
            <a:ext cx="9575800" cy="55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146B7A-2CD1-1C44-AA7A-956959DCB8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2363" y="5797509"/>
            <a:ext cx="1060491" cy="10604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D21B0A-C26B-514E-A656-27A5AA6E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63" y="461665"/>
            <a:ext cx="7375096" cy="81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579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AB7093-DC35-DF4A-93E0-D7F39DBE5872}"/>
              </a:ext>
            </a:extLst>
          </p:cNvPr>
          <p:cNvSpPr txBox="1"/>
          <p:nvPr/>
        </p:nvSpPr>
        <p:spPr>
          <a:xfrm>
            <a:off x="610479" y="47719"/>
            <a:ext cx="2767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Using virtual threads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E76B4A-5FBE-1E45-AF4F-6499E91E3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479" y="610115"/>
            <a:ext cx="7747000" cy="571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E80925F-A862-7246-9721-69FB18B29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479" y="1282346"/>
            <a:ext cx="9004300" cy="166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36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49BF1B-102F-E941-B531-70A333F1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880739"/>
              </p:ext>
            </p:extLst>
          </p:nvPr>
        </p:nvGraphicFramePr>
        <p:xfrm>
          <a:off x="393538" y="296984"/>
          <a:ext cx="11528387" cy="6342877"/>
        </p:xfrm>
        <a:graphic>
          <a:graphicData uri="http://schemas.openxmlformats.org/drawingml/2006/table">
            <a:tbl>
              <a:tblPr/>
              <a:tblGrid>
                <a:gridCol w="2108224">
                  <a:extLst>
                    <a:ext uri="{9D8B030D-6E8A-4147-A177-3AD203B41FA5}">
                      <a16:colId xmlns:a16="http://schemas.microsoft.com/office/drawing/2014/main" val="1605800137"/>
                    </a:ext>
                  </a:extLst>
                </a:gridCol>
                <a:gridCol w="1734571">
                  <a:extLst>
                    <a:ext uri="{9D8B030D-6E8A-4147-A177-3AD203B41FA5}">
                      <a16:colId xmlns:a16="http://schemas.microsoft.com/office/drawing/2014/main" val="3187434922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881011170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1225338171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5211570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2602136704"/>
                    </a:ext>
                  </a:extLst>
                </a:gridCol>
              </a:tblGrid>
              <a:tr h="324298">
                <a:tc>
                  <a:txBody>
                    <a:bodyPr/>
                    <a:lstStyle/>
                    <a:p>
                      <a:r>
                        <a:rPr lang="es-ES" sz="1400" b="1" dirty="0"/>
                        <a:t>Métrica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Significado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 err="1"/>
                        <a:t>Platform</a:t>
                      </a:r>
                      <a:r>
                        <a:rPr lang="es-ES" sz="1400" b="1" dirty="0"/>
                        <a:t> </a:t>
                      </a:r>
                      <a:r>
                        <a:rPr lang="es-ES" sz="1400" b="1" dirty="0" err="1"/>
                        <a:t>Threads</a:t>
                      </a:r>
                      <a:endParaRPr lang="es-ES" sz="1400" b="1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Reactive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Virtual </a:t>
                      </a:r>
                      <a:r>
                        <a:rPr lang="es-ES" sz="1400" b="1" dirty="0" err="1"/>
                        <a:t>Threads</a:t>
                      </a:r>
                      <a:endParaRPr lang="es-ES" sz="1400" b="1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¿Por qué es clave mostrarlo?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95786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 dirty="0" err="1"/>
                        <a:t>jvm_threads_live_threads</a:t>
                      </a:r>
                      <a:endParaRPr lang="es-ES" sz="1100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OS vivos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200 (pool fijo)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4-8 (event loop)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Miles (1 por tarea)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Los VT son baratos: crear miles no paraliza el 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8288124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jvm_threads_states_threads{state="blocked"}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bloqueados en I/O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MUCHOS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~0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~0 (se desmontan del carrier)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liberan el hilo OS al bloquearse (park), platform threads 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458917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jvm_threads_states_threads{state="waiting"}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esperando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Altos en saturación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Muestra el "thread starvation" de platform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2012445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 dirty="0" err="1"/>
                        <a:t>rate</a:t>
                      </a:r>
                      <a:r>
                        <a:rPr lang="es-ES" sz="1100" dirty="0"/>
                        <a:t>(</a:t>
                      </a:r>
                      <a:r>
                        <a:rPr lang="es-ES" sz="1100" dirty="0" err="1"/>
                        <a:t>http_server_requests_seconds_count</a:t>
                      </a:r>
                      <a:r>
                        <a:rPr lang="es-ES" sz="1100" dirty="0"/>
                        <a:t>[5m])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Throughput (reqs/s)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Limitado por pool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 (comparable)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iguala a reactive en rendimiento con código simple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3108651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Latencia P95 / P99 (histogram_quantile)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Colas de espera bajo carga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Alta cuando pool lleno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no sufre queue buildup del thread pool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2546720"/>
                  </a:ext>
                </a:extLst>
              </a:tr>
              <a:tr h="463282">
                <a:tc>
                  <a:txBody>
                    <a:bodyPr/>
                    <a:lstStyle/>
                    <a:p>
                      <a:r>
                        <a:rPr lang="es-ES" sz="1100"/>
                        <a:t>load.requests.failure rate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Tasa de errores/rechazos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Sube al saturar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Muy 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Muy 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Platform falla cuando el pool está lleno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3360243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process_resident_memory_bytes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Memoria OS real consumida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Alta (~1MB/hilo OS)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Media-alta (VT tienen stack pequeño ~KB)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son más ligeros en memoria que platform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1991945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process_cpu_usage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CPU consumida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Media-Alta (context switch)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Eficiente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Eficiente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Platform sufre context switching en saturación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44920"/>
                  </a:ext>
                </a:extLst>
              </a:tr>
              <a:tr h="741252">
                <a:tc>
                  <a:txBody>
                    <a:bodyPr/>
                    <a:lstStyle/>
                    <a:p>
                      <a:r>
                        <a:rPr lang="es-ES" sz="1100"/>
                        <a:t>rate(jvm_gc_pause_seconds_sum[1m])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Tiempo perdido en GC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Moderado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 (muchos objetos reactivos)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Moderado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Reactive genera más garbage por la lambda/MonoFlux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1790826"/>
                  </a:ext>
                </a:extLst>
              </a:tr>
              <a:tr h="463282">
                <a:tc>
                  <a:txBody>
                    <a:bodyPr/>
                    <a:lstStyle/>
                    <a:p>
                      <a:r>
                        <a:rPr lang="es-ES" sz="1100"/>
                        <a:t>jvm_memory_used_bytes{area="heap"}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Heap JVM usado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Medio-alto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GC </a:t>
                      </a:r>
                      <a:r>
                        <a:rPr lang="es-ES" sz="1100" dirty="0" err="1"/>
                        <a:t>pressure</a:t>
                      </a:r>
                      <a:r>
                        <a:rPr lang="es-ES" sz="1100" dirty="0"/>
                        <a:t> visible en </a:t>
                      </a:r>
                      <a:r>
                        <a:rPr lang="es-ES" sz="1100" dirty="0" err="1"/>
                        <a:t>Heap</a:t>
                      </a:r>
                      <a:endParaRPr lang="es-ES" sz="1100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6838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2259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1813BA5-1943-7242-A19E-AA0B2A884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8" y="688157"/>
            <a:ext cx="3675820" cy="374068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A7A88E6-ECD2-5D4E-9301-9F7BB4CC6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0127" y="688157"/>
            <a:ext cx="8150641" cy="20179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E496FDB-825E-0C4C-B31C-82A9C997CB3E}"/>
              </a:ext>
            </a:extLst>
          </p:cNvPr>
          <p:cNvGrpSpPr/>
          <p:nvPr/>
        </p:nvGrpSpPr>
        <p:grpSpPr>
          <a:xfrm>
            <a:off x="3860127" y="2775824"/>
            <a:ext cx="4895127" cy="1731425"/>
            <a:chOff x="3860127" y="2775824"/>
            <a:chExt cx="4895127" cy="1731425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B3FACD0-F622-0447-9289-B9E794F4F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60127" y="2775824"/>
              <a:ext cx="4895127" cy="173142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3F349AA-9D7E-8C44-BA1B-3F46DAC0E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48445" y="3555260"/>
              <a:ext cx="2702287" cy="36075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FDD90E4-9365-344F-8FF6-BFA068758FAF}"/>
              </a:ext>
            </a:extLst>
          </p:cNvPr>
          <p:cNvGrpSpPr/>
          <p:nvPr/>
        </p:nvGrpSpPr>
        <p:grpSpPr>
          <a:xfrm>
            <a:off x="138896" y="4576957"/>
            <a:ext cx="8321626" cy="2097506"/>
            <a:chOff x="138896" y="4576957"/>
            <a:chExt cx="8321626" cy="209750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96DFE44-D4BA-374E-86C2-9DFF4A51A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8896" y="4576957"/>
              <a:ext cx="8321626" cy="209750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6DEF4C7-BCDD-0043-9E96-139ADB4E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938536" y="5390935"/>
              <a:ext cx="2412196" cy="469550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60FBF26-4E27-B843-8FE4-CA977264ADE8}"/>
              </a:ext>
            </a:extLst>
          </p:cNvPr>
          <p:cNvSpPr/>
          <p:nvPr/>
        </p:nvSpPr>
        <p:spPr>
          <a:xfrm>
            <a:off x="-140989" y="6972"/>
            <a:ext cx="12159049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Monitoreo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JVM y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Comparación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de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Hilos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– Platform Threads</a:t>
            </a:r>
          </a:p>
        </p:txBody>
      </p:sp>
    </p:spTree>
    <p:extLst>
      <p:ext uri="{BB962C8B-B14F-4D97-AF65-F5344CB8AC3E}">
        <p14:creationId xmlns:p14="http://schemas.microsoft.com/office/powerpoint/2010/main" val="1811275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01B270-FEBA-1543-AC96-828F37F472DF}"/>
              </a:ext>
            </a:extLst>
          </p:cNvPr>
          <p:cNvSpPr/>
          <p:nvPr/>
        </p:nvSpPr>
        <p:spPr>
          <a:xfrm>
            <a:off x="-201255" y="0"/>
            <a:ext cx="12159049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Monitoreo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JVM y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Comparación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de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Hilos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–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Versión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Reactiva</a:t>
            </a:r>
            <a:endParaRPr lang="en-US" sz="3600" b="1" u="sng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B5BF49A-CF89-A949-BDD0-57190880F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8" y="743634"/>
            <a:ext cx="3435177" cy="38954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3F8AA2-CED8-314C-9586-224870364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458" y="998721"/>
            <a:ext cx="8374335" cy="18902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A397A6-9C84-A047-AA29-AFC6A4FDAD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458" y="2990751"/>
            <a:ext cx="4018177" cy="1541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61F267-2819-544E-BBB5-3E036A95EC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0349" y="3872523"/>
            <a:ext cx="2955839" cy="3742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4088DB-35AC-674A-82C0-66EBB6E89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280" y="4671995"/>
            <a:ext cx="8031894" cy="195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021FAC-2688-6049-B101-A58DB83F9A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7016" y="5436804"/>
            <a:ext cx="2269009" cy="423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459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266C9B-5F58-4441-8078-54B560307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95" y="825824"/>
            <a:ext cx="3136740" cy="348300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6900BC-8962-0742-B83D-C2CBF0054EFC}"/>
              </a:ext>
            </a:extLst>
          </p:cNvPr>
          <p:cNvSpPr/>
          <p:nvPr/>
        </p:nvSpPr>
        <p:spPr>
          <a:xfrm>
            <a:off x="0" y="0"/>
            <a:ext cx="12159049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Monitoreo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JVM y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Comparación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de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Hilos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– Virtual Threads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2F13F22-C4DC-F742-B1AD-7221499C4C5B}"/>
              </a:ext>
            </a:extLst>
          </p:cNvPr>
          <p:cNvGrpSpPr/>
          <p:nvPr/>
        </p:nvGrpSpPr>
        <p:grpSpPr>
          <a:xfrm>
            <a:off x="3337419" y="1048062"/>
            <a:ext cx="8623922" cy="1877208"/>
            <a:chOff x="3337419" y="1048062"/>
            <a:chExt cx="8623922" cy="187720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C89453E-6FFD-B64E-A591-33CA57086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37419" y="1048062"/>
              <a:ext cx="8623922" cy="1877208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9B67EF0-BD18-224F-BB4C-7634311068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37620" y="1793977"/>
              <a:ext cx="2057915" cy="385377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435F63-839D-C44B-8399-37D33AA2FCE8}"/>
              </a:ext>
            </a:extLst>
          </p:cNvPr>
          <p:cNvGrpSpPr/>
          <p:nvPr/>
        </p:nvGrpSpPr>
        <p:grpSpPr>
          <a:xfrm>
            <a:off x="3337419" y="2951212"/>
            <a:ext cx="3833169" cy="1494286"/>
            <a:chOff x="3337419" y="2951212"/>
            <a:chExt cx="3833169" cy="14942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4D49BA7-EF9A-8441-82E4-0D2EA4174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37419" y="2951212"/>
              <a:ext cx="3833169" cy="14942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C20CEEC-D1BF-8C4B-B77A-250B7AF8A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73146" y="3525192"/>
              <a:ext cx="2473754" cy="346326"/>
            </a:xfrm>
            <a:prstGeom prst="rect">
              <a:avLst/>
            </a:prstGeom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63305E37-5A83-7C4F-B31D-8D1F182E1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895" y="4488322"/>
            <a:ext cx="9810494" cy="22885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E71878-354C-694D-86EC-E9E977AC4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8129" y="4876238"/>
            <a:ext cx="2056027" cy="45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780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039B50-FC3E-1B49-A3EB-FE6A2DD22EED}"/>
              </a:ext>
            </a:extLst>
          </p:cNvPr>
          <p:cNvSpPr txBox="1"/>
          <p:nvPr/>
        </p:nvSpPr>
        <p:spPr>
          <a:xfrm>
            <a:off x="639838" y="635489"/>
            <a:ext cx="10617168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u="sng" dirty="0"/>
              <a:t>Ventajas de Virtual </a:t>
            </a:r>
            <a:r>
              <a:rPr lang="es-ES" sz="3200" b="1" u="sng" dirty="0" err="1"/>
              <a:t>Threads</a:t>
            </a:r>
            <a:endParaRPr lang="es-ES" sz="3200" b="1" u="sng" dirty="0"/>
          </a:p>
          <a:p>
            <a:endParaRPr lang="es-ES" sz="2400" u="sng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Escalabilidad: </a:t>
            </a:r>
            <a:r>
              <a:rPr lang="es-ES" sz="2400" dirty="0" err="1"/>
              <a:t>Tomcat</a:t>
            </a:r>
            <a:r>
              <a:rPr lang="es-ES" sz="2400" dirty="0"/>
              <a:t> puede manejar miles de </a:t>
            </a:r>
            <a:r>
              <a:rPr lang="es-ES" sz="2400" dirty="0" err="1"/>
              <a:t>requests</a:t>
            </a:r>
            <a:r>
              <a:rPr lang="es-ES" sz="2400" dirty="0"/>
              <a:t> concurrentes (vs ~200 con </a:t>
            </a:r>
            <a:r>
              <a:rPr lang="es-ES" sz="2400" dirty="0" err="1"/>
              <a:t>platform</a:t>
            </a:r>
            <a:r>
              <a:rPr lang="es-ES" sz="2400" dirty="0"/>
              <a:t> </a:t>
            </a:r>
            <a:r>
              <a:rPr lang="es-ES" sz="2400" dirty="0" err="1"/>
              <a:t>threads</a:t>
            </a:r>
            <a:r>
              <a:rPr lang="es-ES" sz="2400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Memoria eficiente: Cada virtual </a:t>
            </a:r>
            <a:r>
              <a:rPr lang="es-ES" sz="2400" dirty="0" err="1"/>
              <a:t>thread</a:t>
            </a:r>
            <a:r>
              <a:rPr lang="es-ES" sz="2400" dirty="0"/>
              <a:t> consume ~1KB (vs ~1MB de </a:t>
            </a:r>
            <a:r>
              <a:rPr lang="es-ES" sz="2400" dirty="0" err="1"/>
              <a:t>platform</a:t>
            </a:r>
            <a:r>
              <a:rPr lang="es-ES" sz="2400" dirty="0"/>
              <a:t> </a:t>
            </a:r>
            <a:r>
              <a:rPr lang="es-ES" sz="2400" dirty="0" err="1"/>
              <a:t>threads</a:t>
            </a:r>
            <a:r>
              <a:rPr lang="es-ES" sz="2400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No hay pool </a:t>
            </a:r>
            <a:r>
              <a:rPr lang="es-ES" sz="2400" dirty="0" err="1"/>
              <a:t>size</a:t>
            </a:r>
            <a:r>
              <a:rPr lang="es-ES" sz="2400" dirty="0"/>
              <a:t> que configurar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CPU eficiente: Mejor utilización en escenarios I/O-</a:t>
            </a:r>
            <a:r>
              <a:rPr lang="es-ES" sz="2400" dirty="0" err="1"/>
              <a:t>bound</a:t>
            </a:r>
            <a:r>
              <a:rPr lang="es-ES" sz="2400" dirty="0"/>
              <a:t>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Código simple: Sin cambios en el código del servicio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7578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D026DE-7B75-6446-B342-A1052F86C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57" y="137339"/>
            <a:ext cx="11438238" cy="28940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32C01C-78DC-824D-9F78-4B58D1F95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376" y="3153547"/>
            <a:ext cx="101346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101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06F4A9-5F41-B649-9DA2-D7350D0612A6}"/>
              </a:ext>
            </a:extLst>
          </p:cNvPr>
          <p:cNvSpPr/>
          <p:nvPr/>
        </p:nvSpPr>
        <p:spPr>
          <a:xfrm>
            <a:off x="514864" y="315264"/>
            <a:ext cx="848085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2" tooltip="https://wiki.openjdk.org/spaces/loom/pages/56525302/getting+started"/>
              </a:rPr>
              <a:t>https://wiki.openjdk.org/spaces/loom/pages/56525302/Getting+started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3" tooltip="https://openjdk.org/jeps/425"/>
              </a:rPr>
              <a:t>https://openjdk.org/jeps/425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4" tooltip="https://openjdk.org/jeps/444"/>
              </a:rPr>
              <a:t>https://openjdk.org/jeps/444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5" tooltip="https://www.paradigmadigital.com/dev/ventajas-virtual-threads-java-21/"/>
              </a:rPr>
              <a:t>https://www.paradigmadigital.com/dev/ventajas-virtual-threads-java-21/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6"/>
              </a:rPr>
              <a:t>https://www.happycoders.eu/java/virtual-threads/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50454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661</Words>
  <Application>Microsoft Macintosh PowerPoint</Application>
  <PresentationFormat>Widescreen</PresentationFormat>
  <Paragraphs>132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 ANTONIO BELTRAN MARQUEZ</dc:creator>
  <cp:lastModifiedBy>JOSE ANTONIO BELTRAN MARQUEZ</cp:lastModifiedBy>
  <cp:revision>35</cp:revision>
  <dcterms:created xsi:type="dcterms:W3CDTF">2026-04-07T22:24:58Z</dcterms:created>
  <dcterms:modified xsi:type="dcterms:W3CDTF">2026-04-20T14:54:31Z</dcterms:modified>
</cp:coreProperties>
</file>