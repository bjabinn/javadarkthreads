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2" r:id="rId2"/>
    <p:sldId id="256" r:id="rId3"/>
    <p:sldId id="257" r:id="rId4"/>
    <p:sldId id="258" r:id="rId5"/>
    <p:sldId id="259" r:id="rId6"/>
    <p:sldId id="261" r:id="rId7"/>
    <p:sldId id="260" r:id="rId8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97"/>
  </p:normalViewPr>
  <p:slideViewPr>
    <p:cSldViewPr snapToGrid="0" snapToObjects="1">
      <p:cViewPr varScale="1">
        <p:scale>
          <a:sx n="115" d="100"/>
          <a:sy n="115" d="100"/>
        </p:scale>
        <p:origin x="37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3AF31-EF08-444B-8887-BCFBF668AF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40A8BC-2E00-0747-A42C-83D36570DF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30330E-3D23-C44A-BF56-E651AA9ED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19/04/2026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C5F726-A9E3-3A4B-817D-C0CCA91B7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8299-2EC2-9F49-BA57-065C78821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81527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05E5B-21F7-9B43-8FC8-0E89B7B3C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26C865-7C4A-AE48-9953-CCDDC78F87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4E0855-DDE9-094C-9337-17867B3A3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19/04/2026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ACA8FB-F48D-3348-86CE-F61D62DCDB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C4A5A2-3AA9-1449-8EED-169A55247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34279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57254-244B-124C-B9E0-6A62D6691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CF75BD-16B6-3C48-8331-F4E363E505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DFCE5-A5F2-8945-B4A8-8F0A3C3B9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19/04/2026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7D6314-9C82-6840-BCB5-B32D3EC7B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CA0A21-0459-7D4F-883B-D70B8965A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12005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17893-1ABA-DF45-890F-A8A416A4B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B269AC-26FB-4F47-A2CD-ADD997B67F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E88BB4-7A12-4C45-9742-20EDDD21D6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7DFC59-A4E8-3A4B-BA4F-7BA01F9CF7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19/04/2026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191EF0-9079-5B45-BD26-02FC07B94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18D73E-DC1C-6747-AAE9-DC2307A51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8889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7390F-364F-BA40-9CD1-FD02BC784E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8656E9-84C2-1E49-B190-73332B79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F71584-DE00-314F-B577-14C9773449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D9A9D6-AE7C-5C4E-B478-CD627CCD57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1C709E-B3D4-3444-A457-14968776DE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C5B6A5-5FE7-F648-ADD1-E425D4585A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19/04/2026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9343DE3-33E0-7A46-B9BD-71FF4162F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88F145-CCBC-F949-8787-74F0D820F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6522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E0BFC-E80E-9143-B027-450ED7EC5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B767D1-D78D-8F48-9433-96FAC8DAE7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19/04/2026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7046D3-9956-7F42-AA03-5CD9F51A3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1D5EE3-BC52-584D-96D5-7A97808BE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65937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B175E1-B8BE-5F41-AF2B-7A170228C0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19/04/2026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7178BE-23DC-5C4D-ADAA-A9B689EC2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0044A7-0F5A-7043-9820-6E9FF9C1A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02796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C6012-589B-5743-85F4-3F8825788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1B146E-10AC-BC4A-A9DC-B43BC50485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EA9B3E-2373-D542-9D2B-AA585EDD2C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412461-98DB-854F-9922-28FBFFC495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19/04/2026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0C7769-6613-CB4B-8408-3AABBFC35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CCC1F8-4980-3842-B551-C687B800D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68351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19E45-49FD-914B-9D12-F53F00F5E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F97731-45D9-984F-840E-7D0D24F3DF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D43C4B-1013-8A45-9946-5F7D495BEA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A97AB8-6BF8-2F44-BB45-EE3840076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19/04/2026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9DD2F2-5108-AA44-93CB-0576CCFDCB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B081AD-381D-DE4F-B9A5-2E59ABA7A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22407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45830-1736-024C-A4B1-40187B2F3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366D30-6E92-3A43-A58C-E97FB2A0F5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A9730F-AAE4-6D4A-99E6-7C2396A59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19/04/2026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3E0992-9376-0B4B-87FB-4BAF429C7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559FE1-FDC3-2046-8974-8540B3B0C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73169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F45DBB-EBFC-C741-A2AC-804D39E4639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E076F8-E6B5-4344-A440-1510D227B2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AF8E9D-7324-C245-921A-FB8D63E71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19/04/2026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220E9A-0C57-E241-9FF0-7B957F143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425A3E-9A7E-D24D-8F77-67D6534EF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6140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92E4A3C-D25A-AD4E-AB24-2534E2CEE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20DB75-A515-3F47-833E-F57C3268B4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9BBF7F-71B1-DE46-A345-D9195F053C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617E6C-B4C1-F64F-9F0E-38D55D0C6E24}" type="datetimeFigureOut">
              <a:rPr lang="en-GB" smtClean="0"/>
              <a:t>19/04/2026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16DB4-CE44-334E-8DAE-1CF1BAAFFB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A5D76B-6054-1D44-91F1-599221D914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60996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jdk.org/jeps/425" TargetMode="External"/><Relationship Id="rId2" Type="http://schemas.openxmlformats.org/officeDocument/2006/relationships/hyperlink" Target="https://wiki.openjdk.org/spaces/loom/pages/56525302/Getting+started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paradigmadigital.com/dev/ventajas-virtual-threads-java-21/" TargetMode="External"/><Relationship Id="rId4" Type="http://schemas.openxmlformats.org/officeDocument/2006/relationships/hyperlink" Target="https://openjdk.org/jeps/444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86DCC4-F23A-7843-9246-2250D43740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317" y="544087"/>
            <a:ext cx="4838700" cy="18669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B87CC40-CC2C-E44F-9AF7-B2380D9ED9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7857" y="544087"/>
            <a:ext cx="4813300" cy="1828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A1B7D0A-9E9A-2948-9075-4729B109BD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317" y="2541859"/>
            <a:ext cx="4851400" cy="1930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34323C9-7ACE-2B49-A614-0A041EF6B9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6317" y="4603131"/>
            <a:ext cx="9715500" cy="1930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F391477-4510-0641-A5E0-118C80E655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7857" y="2541859"/>
            <a:ext cx="6705600" cy="18542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92ADCC5-C28B-514B-AD28-744FED987AA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03858" y="0"/>
            <a:ext cx="4203700" cy="41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12752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7039B50-FC3E-1B49-A3EB-FE6A2DD22EED}"/>
              </a:ext>
            </a:extLst>
          </p:cNvPr>
          <p:cNvSpPr txBox="1"/>
          <p:nvPr/>
        </p:nvSpPr>
        <p:spPr>
          <a:xfrm>
            <a:off x="535258" y="4614365"/>
            <a:ext cx="991803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u="sng" dirty="0"/>
              <a:t>Ventajas de Virtual </a:t>
            </a:r>
            <a:r>
              <a:rPr lang="es-ES" u="sng" dirty="0" err="1"/>
              <a:t>Threads</a:t>
            </a:r>
            <a:r>
              <a:rPr lang="es-ES" u="sng" dirty="0"/>
              <a:t> en el servidor</a:t>
            </a:r>
          </a:p>
          <a:p>
            <a:pPr marL="319088" indent="-131763">
              <a:buFont typeface="Arial" panose="020B0604020202020204" pitchFamily="34" charset="0"/>
              <a:buChar char="•"/>
            </a:pPr>
            <a:r>
              <a:rPr lang="es-ES" dirty="0"/>
              <a:t>Escalabilidad: </a:t>
            </a:r>
            <a:r>
              <a:rPr lang="es-ES" dirty="0" err="1"/>
              <a:t>Tomcat</a:t>
            </a:r>
            <a:r>
              <a:rPr lang="es-ES" dirty="0"/>
              <a:t> puede manejar miles de </a:t>
            </a:r>
            <a:r>
              <a:rPr lang="es-ES" dirty="0" err="1"/>
              <a:t>requests</a:t>
            </a:r>
            <a:r>
              <a:rPr lang="es-ES" dirty="0"/>
              <a:t> concurrentes (vs ~200 con </a:t>
            </a:r>
            <a:r>
              <a:rPr lang="es-ES" dirty="0" err="1"/>
              <a:t>platform</a:t>
            </a:r>
            <a:r>
              <a:rPr lang="es-ES" dirty="0"/>
              <a:t> </a:t>
            </a:r>
            <a:r>
              <a:rPr lang="es-ES" dirty="0" err="1"/>
              <a:t>threads</a:t>
            </a:r>
            <a:r>
              <a:rPr lang="es-ES" dirty="0"/>
              <a:t>) </a:t>
            </a:r>
          </a:p>
          <a:p>
            <a:pPr marL="319088" indent="-131763">
              <a:buFont typeface="Arial" panose="020B0604020202020204" pitchFamily="34" charset="0"/>
              <a:buChar char="•"/>
            </a:pPr>
            <a:r>
              <a:rPr lang="es-ES" dirty="0"/>
              <a:t>Memoria eficiente: Cada virtual </a:t>
            </a:r>
            <a:r>
              <a:rPr lang="es-ES" dirty="0" err="1"/>
              <a:t>thread</a:t>
            </a:r>
            <a:r>
              <a:rPr lang="es-ES" dirty="0"/>
              <a:t> consume ~1KB (vs ~1MB de </a:t>
            </a:r>
            <a:r>
              <a:rPr lang="es-ES" dirty="0" err="1"/>
              <a:t>platform</a:t>
            </a:r>
            <a:r>
              <a:rPr lang="es-ES" dirty="0"/>
              <a:t> </a:t>
            </a:r>
            <a:r>
              <a:rPr lang="es-ES" dirty="0" err="1"/>
              <a:t>threads</a:t>
            </a:r>
            <a:r>
              <a:rPr lang="es-ES" dirty="0"/>
              <a:t>) </a:t>
            </a:r>
          </a:p>
          <a:p>
            <a:pPr marL="319088" indent="-131763">
              <a:buFont typeface="Arial" panose="020B0604020202020204" pitchFamily="34" charset="0"/>
              <a:buChar char="•"/>
            </a:pPr>
            <a:r>
              <a:rPr lang="es-ES" dirty="0"/>
              <a:t>Sin límite de </a:t>
            </a:r>
            <a:r>
              <a:rPr lang="es-ES" dirty="0" err="1"/>
              <a:t>threads</a:t>
            </a:r>
            <a:r>
              <a:rPr lang="es-ES" dirty="0"/>
              <a:t>: No hay pool </a:t>
            </a:r>
            <a:r>
              <a:rPr lang="es-ES" dirty="0" err="1"/>
              <a:t>size</a:t>
            </a:r>
            <a:r>
              <a:rPr lang="es-ES" dirty="0"/>
              <a:t> que configurar </a:t>
            </a:r>
          </a:p>
          <a:p>
            <a:pPr marL="319088" indent="-131763">
              <a:buFont typeface="Arial" panose="020B0604020202020204" pitchFamily="34" charset="0"/>
              <a:buChar char="•"/>
            </a:pPr>
            <a:r>
              <a:rPr lang="es-ES" dirty="0"/>
              <a:t>CPU eficiente: Mejor utilización en escenarios I/O-</a:t>
            </a:r>
            <a:r>
              <a:rPr lang="es-ES" dirty="0" err="1"/>
              <a:t>bound</a:t>
            </a:r>
            <a:r>
              <a:rPr lang="es-ES" dirty="0"/>
              <a:t> </a:t>
            </a:r>
          </a:p>
          <a:p>
            <a:pPr marL="319088" indent="-131763">
              <a:buFont typeface="Arial" panose="020B0604020202020204" pitchFamily="34" charset="0"/>
              <a:buChar char="•"/>
            </a:pPr>
            <a:r>
              <a:rPr lang="es-ES" dirty="0"/>
              <a:t>Código simple: Sin cambios en el código del servicio</a:t>
            </a:r>
          </a:p>
          <a:p>
            <a:endParaRPr lang="en-GB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D1C99F3-D3FE-6A4D-BA5C-9DB89D6BB0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6363617"/>
              </p:ext>
            </p:extLst>
          </p:nvPr>
        </p:nvGraphicFramePr>
        <p:xfrm>
          <a:off x="367989" y="429734"/>
          <a:ext cx="11162372" cy="2743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401123">
                  <a:extLst>
                    <a:ext uri="{9D8B030D-6E8A-4147-A177-3AD203B41FA5}">
                      <a16:colId xmlns:a16="http://schemas.microsoft.com/office/drawing/2014/main" val="1398259254"/>
                    </a:ext>
                  </a:extLst>
                </a:gridCol>
                <a:gridCol w="2180063">
                  <a:extLst>
                    <a:ext uri="{9D8B030D-6E8A-4147-A177-3AD203B41FA5}">
                      <a16:colId xmlns:a16="http://schemas.microsoft.com/office/drawing/2014/main" val="649460588"/>
                    </a:ext>
                  </a:extLst>
                </a:gridCol>
                <a:gridCol w="2790593">
                  <a:extLst>
                    <a:ext uri="{9D8B030D-6E8A-4147-A177-3AD203B41FA5}">
                      <a16:colId xmlns:a16="http://schemas.microsoft.com/office/drawing/2014/main" val="2932413447"/>
                    </a:ext>
                  </a:extLst>
                </a:gridCol>
                <a:gridCol w="2790593">
                  <a:extLst>
                    <a:ext uri="{9D8B030D-6E8A-4147-A177-3AD203B41FA5}">
                      <a16:colId xmlns:a16="http://schemas.microsoft.com/office/drawing/2014/main" val="30244412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400" dirty="0" err="1"/>
                        <a:t>Características</a:t>
                      </a:r>
                      <a:endParaRPr lang="en-GB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web-server </a:t>
                      </a:r>
                      <a:r>
                        <a:rPr lang="en-GB" sz="1400" b="1" dirty="0"/>
                        <a:t>Blocking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web-server Reactive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web-server  Virtual-threads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4350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dirty="0" err="1"/>
                        <a:t>Modelo</a:t>
                      </a:r>
                      <a:endParaRPr lang="en-GB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dirty="0" err="1"/>
                        <a:t>Plataforma</a:t>
                      </a:r>
                      <a:r>
                        <a:rPr lang="en-GB" sz="1400" dirty="0"/>
                        <a:t> (</a:t>
                      </a:r>
                      <a:r>
                        <a:rPr lang="en-GB" sz="1400" dirty="0" err="1"/>
                        <a:t>pesados</a:t>
                      </a:r>
                      <a:r>
                        <a:rPr lang="en-GB" sz="1400" dirty="0"/>
                        <a:t>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dirty="0" err="1"/>
                        <a:t>Bucle</a:t>
                      </a:r>
                      <a:r>
                        <a:rPr lang="en-GB" sz="1400" dirty="0"/>
                        <a:t> de </a:t>
                      </a:r>
                      <a:r>
                        <a:rPr lang="en-GB" sz="1400" dirty="0" err="1"/>
                        <a:t>eventos</a:t>
                      </a:r>
                      <a:r>
                        <a:rPr lang="en-GB" sz="1400" dirty="0"/>
                        <a:t> no </a:t>
                      </a:r>
                      <a:r>
                        <a:rPr lang="en-GB" sz="1400" dirty="0" err="1"/>
                        <a:t>bloqueantes</a:t>
                      </a:r>
                      <a:endParaRPr lang="en-GB" sz="1400" dirty="0"/>
                    </a:p>
                    <a:p>
                      <a:r>
                        <a:rPr lang="en-GB" sz="1400" dirty="0"/>
                        <a:t>(</a:t>
                      </a:r>
                      <a:r>
                        <a:rPr lang="en-GB" sz="1400" dirty="0" err="1"/>
                        <a:t>pocos</a:t>
                      </a:r>
                      <a:r>
                        <a:rPr lang="en-GB" sz="1400" dirty="0"/>
                        <a:t> </a:t>
                      </a:r>
                      <a:r>
                        <a:rPr lang="en-GB" sz="1400" dirty="0" err="1"/>
                        <a:t>hilos</a:t>
                      </a:r>
                      <a:r>
                        <a:rPr lang="en-GB" sz="1400" dirty="0"/>
                        <a:t>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dirty="0" err="1"/>
                        <a:t>Ligeros</a:t>
                      </a:r>
                      <a:r>
                        <a:rPr lang="en-GB" sz="1400" dirty="0"/>
                        <a:t> 1KB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36605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dirty="0" err="1"/>
                        <a:t>Peticiones</a:t>
                      </a:r>
                      <a:r>
                        <a:rPr lang="en-GB" sz="1400" dirty="0"/>
                        <a:t> </a:t>
                      </a:r>
                      <a:r>
                        <a:rPr lang="en-GB" sz="1400" dirty="0" err="1"/>
                        <a:t>concurrentes</a:t>
                      </a:r>
                      <a:r>
                        <a:rPr lang="en-GB" sz="1400" dirty="0"/>
                        <a:t> </a:t>
                      </a:r>
                      <a:r>
                        <a:rPr lang="en-GB" sz="1400" dirty="0" err="1"/>
                        <a:t>máx</a:t>
                      </a:r>
                      <a:r>
                        <a:rPr lang="en-GB" sz="1400" dirty="0"/>
                        <a:t> (by default)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dirty="0" err="1"/>
                        <a:t>Muy</a:t>
                      </a:r>
                      <a:r>
                        <a:rPr lang="en-GB" sz="1400" dirty="0"/>
                        <a:t> alto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+10.000</a:t>
                      </a:r>
                      <a:endParaRPr lang="en-GB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55136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1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40108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1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57379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1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02580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90552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575780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64AB24B-DBD0-CB42-8E08-EAADF5B82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846899" cy="42508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7237684-87D9-6543-B5ED-A9B6B76AC3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9509" y="4250810"/>
            <a:ext cx="9592491" cy="26071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1EA37B9-67E9-4D41-97DF-CBB8EC2E24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1074" y="2241520"/>
            <a:ext cx="5138057" cy="895268"/>
          </a:xfrm>
          <a:prstGeom prst="rect">
            <a:avLst/>
          </a:prstGeom>
          <a:ln w="88900" cap="sq" cmpd="thickThin">
            <a:solidFill>
              <a:schemeClr val="accent1"/>
            </a:solidFill>
            <a:prstDash val="solid"/>
            <a:miter lim="800000"/>
          </a:ln>
          <a:effectLst>
            <a:innerShdw blurRad="76200">
              <a:schemeClr val="accent5">
                <a:lumMod val="60000"/>
                <a:lumOff val="40000"/>
              </a:schemeClr>
            </a:innerShdw>
          </a:effectLst>
        </p:spPr>
      </p:pic>
    </p:spTree>
    <p:extLst>
      <p:ext uri="{BB962C8B-B14F-4D97-AF65-F5344CB8AC3E}">
        <p14:creationId xmlns:p14="http://schemas.microsoft.com/office/powerpoint/2010/main" val="26222593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A4C53363-07AA-9C4E-8276-2628BFA85A65}"/>
              </a:ext>
            </a:extLst>
          </p:cNvPr>
          <p:cNvSpPr/>
          <p:nvPr/>
        </p:nvSpPr>
        <p:spPr>
          <a:xfrm>
            <a:off x="234778" y="89691"/>
            <a:ext cx="13159946" cy="53399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100" dirty="0">
                <a:latin typeface="Menlo" panose="020B0609030804020204" pitchFamily="49" charset="0"/>
              </a:rPr>
              <a:t>Los cambios clave están en dos sitios del servicio</a:t>
            </a:r>
          </a:p>
          <a:p>
            <a:r>
              <a:rPr lang="es-ES" sz="1100" dirty="0">
                <a:latin typeface="Menlo" panose="020B0609030804020204" pitchFamily="49" charset="0"/>
              </a:rPr>
              <a:t>1. El </a:t>
            </a:r>
            <a:r>
              <a:rPr lang="es-ES" sz="1100" dirty="0" err="1">
                <a:latin typeface="Menlo" panose="020B0609030804020204" pitchFamily="49" charset="0"/>
              </a:rPr>
              <a:t>Executor</a:t>
            </a:r>
            <a:r>
              <a:rPr lang="es-ES" sz="1100" dirty="0">
                <a:latin typeface="Menlo" panose="020B0609030804020204" pitchFamily="49" charset="0"/>
              </a:rPr>
              <a:t> — la línea más importante de toda la demo</a:t>
            </a:r>
          </a:p>
          <a:p>
            <a:pPr lvl="1"/>
            <a:r>
              <a:rPr lang="es-ES" sz="1100" dirty="0" err="1">
                <a:latin typeface="Menlo" panose="020B0609030804020204" pitchFamily="49" charset="0"/>
              </a:rPr>
              <a:t>Platform</a:t>
            </a:r>
            <a:r>
              <a:rPr lang="es-ES" sz="1100" dirty="0">
                <a:latin typeface="Menlo" panose="020B0609030804020204" pitchFamily="49" charset="0"/>
              </a:rPr>
              <a:t> </a:t>
            </a:r>
            <a:r>
              <a:rPr lang="es-ES" sz="1100" dirty="0" err="1">
                <a:latin typeface="Menlo" panose="020B0609030804020204" pitchFamily="49" charset="0"/>
              </a:rPr>
              <a:t>Threads</a:t>
            </a:r>
            <a:r>
              <a:rPr lang="es-ES" sz="1100" dirty="0">
                <a:latin typeface="Menlo" panose="020B0609030804020204" pitchFamily="49" charset="0"/>
              </a:rPr>
              <a:t> — PlatformThreadLoadGeneratorService.java:69</a:t>
            </a:r>
          </a:p>
          <a:p>
            <a:pPr lvl="1"/>
            <a:br>
              <a:rPr lang="es-ES" sz="1100" dirty="0">
                <a:latin typeface="Menlo" panose="020B0609030804020204" pitchFamily="49" charset="0"/>
              </a:rPr>
            </a:br>
            <a:r>
              <a:rPr lang="es-ES" sz="1100" dirty="0" err="1">
                <a:latin typeface="Menlo" panose="020B0609030804020204" pitchFamily="49" charset="0"/>
              </a:rPr>
              <a:t>ExecutorService</a:t>
            </a:r>
            <a:r>
              <a:rPr lang="es-ES" sz="1100" dirty="0">
                <a:latin typeface="Menlo" panose="020B0609030804020204" pitchFamily="49" charset="0"/>
              </a:rPr>
              <a:t> </a:t>
            </a:r>
            <a:r>
              <a:rPr lang="es-ES" sz="1100" dirty="0" err="1">
                <a:latin typeface="Menlo" panose="020B0609030804020204" pitchFamily="49" charset="0"/>
              </a:rPr>
              <a:t>executorService</a:t>
            </a:r>
            <a:r>
              <a:rPr lang="es-ES" sz="1100" dirty="0">
                <a:latin typeface="Menlo" panose="020B0609030804020204" pitchFamily="49" charset="0"/>
              </a:rPr>
              <a:t> = </a:t>
            </a:r>
            <a:r>
              <a:rPr lang="es-ES" sz="1100" dirty="0" err="1">
                <a:latin typeface="Menlo" panose="020B0609030804020204" pitchFamily="49" charset="0"/>
              </a:rPr>
              <a:t>Executors.newFixedThreadPool</a:t>
            </a:r>
            <a:r>
              <a:rPr lang="es-ES" sz="1100" dirty="0">
                <a:latin typeface="Menlo" panose="020B0609030804020204" pitchFamily="49" charset="0"/>
              </a:rPr>
              <a:t>(</a:t>
            </a:r>
            <a:r>
              <a:rPr lang="es-ES" sz="1100" dirty="0" err="1">
                <a:latin typeface="Menlo" panose="020B0609030804020204" pitchFamily="49" charset="0"/>
              </a:rPr>
              <a:t>request.getThreads</a:t>
            </a:r>
            <a:r>
              <a:rPr lang="es-ES" sz="1100" dirty="0">
                <a:latin typeface="Menlo" panose="020B0609030804020204" pitchFamily="49" charset="0"/>
              </a:rPr>
              <a:t>(), r -&gt; {</a:t>
            </a:r>
          </a:p>
          <a:p>
            <a:pPr lvl="1"/>
            <a:r>
              <a:rPr lang="es-ES" sz="1100" dirty="0" err="1">
                <a:latin typeface="Menlo" panose="020B0609030804020204" pitchFamily="49" charset="0"/>
              </a:rPr>
              <a:t>Thread</a:t>
            </a:r>
            <a:r>
              <a:rPr lang="es-ES" sz="1100" dirty="0">
                <a:latin typeface="Menlo" panose="020B0609030804020204" pitchFamily="49" charset="0"/>
              </a:rPr>
              <a:t> </a:t>
            </a:r>
            <a:r>
              <a:rPr lang="es-ES" sz="1100" dirty="0" err="1">
                <a:latin typeface="Menlo" panose="020B0609030804020204" pitchFamily="49" charset="0"/>
              </a:rPr>
              <a:t>thread</a:t>
            </a:r>
            <a:r>
              <a:rPr lang="es-ES" sz="1100" dirty="0">
                <a:latin typeface="Menlo" panose="020B0609030804020204" pitchFamily="49" charset="0"/>
              </a:rPr>
              <a:t> = new </a:t>
            </a:r>
            <a:r>
              <a:rPr lang="es-ES" sz="1100" dirty="0" err="1">
                <a:latin typeface="Menlo" panose="020B0609030804020204" pitchFamily="49" charset="0"/>
              </a:rPr>
              <a:t>Thread</a:t>
            </a:r>
            <a:r>
              <a:rPr lang="es-ES" sz="1100" dirty="0">
                <a:latin typeface="Menlo" panose="020B0609030804020204" pitchFamily="49" charset="0"/>
              </a:rPr>
              <a:t>(r);</a:t>
            </a:r>
          </a:p>
          <a:p>
            <a:pPr lvl="1"/>
            <a:r>
              <a:rPr lang="es-ES" sz="1100" dirty="0" err="1">
                <a:latin typeface="Menlo" panose="020B0609030804020204" pitchFamily="49" charset="0"/>
              </a:rPr>
              <a:t>thread.setName</a:t>
            </a:r>
            <a:r>
              <a:rPr lang="es-ES" sz="1100" dirty="0">
                <a:latin typeface="Menlo" panose="020B0609030804020204" pitchFamily="49" charset="0"/>
              </a:rPr>
              <a:t>("</a:t>
            </a:r>
            <a:r>
              <a:rPr lang="es-ES" sz="1100" dirty="0" err="1">
                <a:latin typeface="Menlo" panose="020B0609030804020204" pitchFamily="49" charset="0"/>
              </a:rPr>
              <a:t>platform-thread</a:t>
            </a:r>
            <a:r>
              <a:rPr lang="es-ES" sz="1100" dirty="0">
                <a:latin typeface="Menlo" panose="020B0609030804020204" pitchFamily="49" charset="0"/>
              </a:rPr>
              <a:t>-" + </a:t>
            </a:r>
            <a:r>
              <a:rPr lang="es-ES" sz="1100" dirty="0" err="1">
                <a:latin typeface="Menlo" panose="020B0609030804020204" pitchFamily="49" charset="0"/>
              </a:rPr>
              <a:t>System.currentTimeMillis</a:t>
            </a:r>
            <a:r>
              <a:rPr lang="es-ES" sz="1100" dirty="0">
                <a:latin typeface="Menlo" panose="020B0609030804020204" pitchFamily="49" charset="0"/>
              </a:rPr>
              <a:t>());</a:t>
            </a:r>
          </a:p>
          <a:p>
            <a:pPr lvl="1"/>
            <a:r>
              <a:rPr lang="es-ES" sz="1100" dirty="0" err="1">
                <a:latin typeface="Menlo" panose="020B0609030804020204" pitchFamily="49" charset="0"/>
              </a:rPr>
              <a:t>return</a:t>
            </a:r>
            <a:r>
              <a:rPr lang="es-ES" sz="1100" dirty="0">
                <a:latin typeface="Menlo" panose="020B0609030804020204" pitchFamily="49" charset="0"/>
              </a:rPr>
              <a:t> </a:t>
            </a:r>
            <a:r>
              <a:rPr lang="es-ES" sz="1100" dirty="0" err="1">
                <a:latin typeface="Menlo" panose="020B0609030804020204" pitchFamily="49" charset="0"/>
              </a:rPr>
              <a:t>thread</a:t>
            </a:r>
            <a:r>
              <a:rPr lang="es-ES" sz="1100" dirty="0">
                <a:latin typeface="Menlo" panose="020B0609030804020204" pitchFamily="49" charset="0"/>
              </a:rPr>
              <a:t>;</a:t>
            </a:r>
          </a:p>
          <a:p>
            <a:pPr lvl="1"/>
            <a:r>
              <a:rPr lang="es-ES" sz="1100" dirty="0">
                <a:latin typeface="Menlo" panose="020B0609030804020204" pitchFamily="49" charset="0"/>
              </a:rPr>
              <a:t>});</a:t>
            </a:r>
          </a:p>
          <a:p>
            <a:pPr lvl="1"/>
            <a:r>
              <a:rPr lang="es-ES" sz="1100" dirty="0">
                <a:latin typeface="Menlo" panose="020B0609030804020204" pitchFamily="49" charset="0"/>
              </a:rPr>
              <a:t>Pool fijo. Si pides 1000 peticiones con 50 hilos, las 950 restantes esperan en cola.</a:t>
            </a:r>
          </a:p>
          <a:p>
            <a:pPr lvl="1"/>
            <a:br>
              <a:rPr lang="es-ES" sz="1100" dirty="0">
                <a:latin typeface="Menlo" panose="020B0609030804020204" pitchFamily="49" charset="0"/>
              </a:rPr>
            </a:br>
            <a:r>
              <a:rPr lang="es-ES" sz="1100" dirty="0">
                <a:latin typeface="Menlo" panose="020B0609030804020204" pitchFamily="49" charset="0"/>
              </a:rPr>
              <a:t>Virtual </a:t>
            </a:r>
            <a:r>
              <a:rPr lang="es-ES" sz="1100" dirty="0" err="1">
                <a:latin typeface="Menlo" panose="020B0609030804020204" pitchFamily="49" charset="0"/>
              </a:rPr>
              <a:t>Threads</a:t>
            </a:r>
            <a:r>
              <a:rPr lang="es-ES" sz="1100" dirty="0">
                <a:latin typeface="Menlo" panose="020B0609030804020204" pitchFamily="49" charset="0"/>
              </a:rPr>
              <a:t> — VirtualThreadLoadGeneratorService.java:69</a:t>
            </a:r>
          </a:p>
          <a:p>
            <a:pPr lvl="1"/>
            <a:br>
              <a:rPr lang="es-ES" sz="1100" dirty="0">
                <a:latin typeface="Menlo" panose="020B0609030804020204" pitchFamily="49" charset="0"/>
              </a:rPr>
            </a:br>
            <a:r>
              <a:rPr lang="es-ES" sz="1100" dirty="0" err="1">
                <a:latin typeface="Menlo" panose="020B0609030804020204" pitchFamily="49" charset="0"/>
              </a:rPr>
              <a:t>ExecutorService</a:t>
            </a:r>
            <a:r>
              <a:rPr lang="es-ES" sz="1100" dirty="0">
                <a:latin typeface="Menlo" panose="020B0609030804020204" pitchFamily="49" charset="0"/>
              </a:rPr>
              <a:t> </a:t>
            </a:r>
            <a:r>
              <a:rPr lang="es-ES" sz="1100" dirty="0" err="1">
                <a:latin typeface="Menlo" panose="020B0609030804020204" pitchFamily="49" charset="0"/>
              </a:rPr>
              <a:t>executorService</a:t>
            </a:r>
            <a:r>
              <a:rPr lang="es-ES" sz="1100" dirty="0">
                <a:latin typeface="Menlo" panose="020B0609030804020204" pitchFamily="49" charset="0"/>
              </a:rPr>
              <a:t> = </a:t>
            </a:r>
            <a:r>
              <a:rPr lang="es-ES" sz="1100" dirty="0" err="1">
                <a:latin typeface="Menlo" panose="020B0609030804020204" pitchFamily="49" charset="0"/>
              </a:rPr>
              <a:t>Executors.newVirtualThreadPerTaskExecutor</a:t>
            </a:r>
            <a:r>
              <a:rPr lang="es-ES" sz="1100" dirty="0">
                <a:latin typeface="Menlo" panose="020B0609030804020204" pitchFamily="49" charset="0"/>
              </a:rPr>
              <a:t>();</a:t>
            </a:r>
          </a:p>
          <a:p>
            <a:pPr lvl="1"/>
            <a:r>
              <a:rPr lang="es-ES" sz="1100" dirty="0">
                <a:latin typeface="Menlo" panose="020B0609030804020204" pitchFamily="49" charset="0"/>
              </a:rPr>
              <a:t>Una sola línea distinta. Sin límite de hilos, sin pool. El resto del servicio es idéntico al </a:t>
            </a:r>
            <a:r>
              <a:rPr lang="es-ES" sz="1100" dirty="0" err="1">
                <a:latin typeface="Menlo" panose="020B0609030804020204" pitchFamily="49" charset="0"/>
              </a:rPr>
              <a:t>blocking</a:t>
            </a:r>
            <a:r>
              <a:rPr lang="es-ES" sz="1100" dirty="0">
                <a:latin typeface="Menlo" panose="020B0609030804020204" pitchFamily="49" charset="0"/>
              </a:rPr>
              <a:t>.</a:t>
            </a:r>
          </a:p>
          <a:p>
            <a:br>
              <a:rPr lang="es-ES" sz="1100" dirty="0">
                <a:latin typeface="Menlo" panose="020B0609030804020204" pitchFamily="49" charset="0"/>
              </a:rPr>
            </a:br>
            <a:r>
              <a:rPr lang="es-ES" sz="1100" dirty="0">
                <a:latin typeface="Menlo" panose="020B0609030804020204" pitchFamily="49" charset="0"/>
              </a:rPr>
              <a:t>2. El modelo de programación — Reactive es el que rompe el molde</a:t>
            </a:r>
          </a:p>
          <a:p>
            <a:r>
              <a:rPr lang="es-ES" sz="1100" dirty="0">
                <a:latin typeface="Menlo" panose="020B0609030804020204" pitchFamily="49" charset="0"/>
              </a:rPr>
              <a:t>Reactive — ReactiveLoadGeneratorService.java:60</a:t>
            </a:r>
            <a:br>
              <a:rPr lang="es-ES" sz="1100" dirty="0">
                <a:latin typeface="Menlo" panose="020B0609030804020204" pitchFamily="49" charset="0"/>
              </a:rPr>
            </a:br>
            <a:br>
              <a:rPr lang="es-ES" sz="1100" dirty="0">
                <a:latin typeface="Menlo" panose="020B0609030804020204" pitchFamily="49" charset="0"/>
              </a:rPr>
            </a:br>
            <a:r>
              <a:rPr lang="es-ES" sz="1100" dirty="0">
                <a:latin typeface="Menlo" panose="020B0609030804020204" pitchFamily="49" charset="0"/>
              </a:rPr>
              <a:t>// Firma del método: devuelve Mono, no </a:t>
            </a:r>
            <a:r>
              <a:rPr lang="es-ES" sz="1100" dirty="0" err="1">
                <a:latin typeface="Menlo" panose="020B0609030804020204" pitchFamily="49" charset="0"/>
              </a:rPr>
              <a:t>LoadResponse</a:t>
            </a:r>
            <a:endParaRPr lang="es-ES" sz="1100" dirty="0">
              <a:latin typeface="Menlo" panose="020B0609030804020204" pitchFamily="49" charset="0"/>
            </a:endParaRPr>
          </a:p>
          <a:p>
            <a:pPr lvl="1"/>
            <a:r>
              <a:rPr lang="es-ES" sz="1100" dirty="0" err="1">
                <a:latin typeface="Menlo" panose="020B0609030804020204" pitchFamily="49" charset="0"/>
              </a:rPr>
              <a:t>public</a:t>
            </a:r>
            <a:r>
              <a:rPr lang="es-ES" sz="1100" dirty="0">
                <a:latin typeface="Menlo" panose="020B0609030804020204" pitchFamily="49" charset="0"/>
              </a:rPr>
              <a:t> Mono&lt;</a:t>
            </a:r>
            <a:r>
              <a:rPr lang="es-ES" sz="1100" dirty="0" err="1">
                <a:latin typeface="Menlo" panose="020B0609030804020204" pitchFamily="49" charset="0"/>
              </a:rPr>
              <a:t>LoadResponse</a:t>
            </a:r>
            <a:r>
              <a:rPr lang="es-ES" sz="1100" dirty="0">
                <a:latin typeface="Menlo" panose="020B0609030804020204" pitchFamily="49" charset="0"/>
              </a:rPr>
              <a:t>&gt; </a:t>
            </a:r>
            <a:r>
              <a:rPr lang="es-ES" sz="1100" dirty="0" err="1">
                <a:latin typeface="Menlo" panose="020B0609030804020204" pitchFamily="49" charset="0"/>
              </a:rPr>
              <a:t>executeLoad</a:t>
            </a:r>
            <a:r>
              <a:rPr lang="es-ES" sz="1100" dirty="0">
                <a:latin typeface="Menlo" panose="020B0609030804020204" pitchFamily="49" charset="0"/>
              </a:rPr>
              <a:t>(</a:t>
            </a:r>
            <a:r>
              <a:rPr lang="es-ES" sz="1100" dirty="0" err="1">
                <a:latin typeface="Menlo" panose="020B0609030804020204" pitchFamily="49" charset="0"/>
              </a:rPr>
              <a:t>LoadRequest</a:t>
            </a:r>
            <a:r>
              <a:rPr lang="es-ES" sz="1100" dirty="0">
                <a:latin typeface="Menlo" panose="020B0609030804020204" pitchFamily="49" charset="0"/>
              </a:rPr>
              <a:t> </a:t>
            </a:r>
            <a:r>
              <a:rPr lang="es-ES" sz="1100" dirty="0" err="1">
                <a:latin typeface="Menlo" panose="020B0609030804020204" pitchFamily="49" charset="0"/>
              </a:rPr>
              <a:t>request</a:t>
            </a:r>
            <a:r>
              <a:rPr lang="es-ES" sz="1100" dirty="0">
                <a:latin typeface="Menlo" panose="020B0609030804020204" pitchFamily="49" charset="0"/>
              </a:rPr>
              <a:t>) {</a:t>
            </a:r>
          </a:p>
          <a:p>
            <a:pPr lvl="1"/>
            <a:br>
              <a:rPr lang="es-ES" sz="1100" dirty="0">
                <a:latin typeface="Menlo" panose="020B0609030804020204" pitchFamily="49" charset="0"/>
              </a:rPr>
            </a:br>
            <a:r>
              <a:rPr lang="es-ES" sz="1100" dirty="0">
                <a:latin typeface="Menlo" panose="020B0609030804020204" pitchFamily="49" charset="0"/>
              </a:rPr>
              <a:t>// HTTP </a:t>
            </a:r>
            <a:r>
              <a:rPr lang="es-ES" sz="1100" dirty="0" err="1">
                <a:latin typeface="Menlo" panose="020B0609030804020204" pitchFamily="49" charset="0"/>
              </a:rPr>
              <a:t>client</a:t>
            </a:r>
            <a:r>
              <a:rPr lang="es-ES" sz="1100" dirty="0">
                <a:latin typeface="Menlo" panose="020B0609030804020204" pitchFamily="49" charset="0"/>
              </a:rPr>
              <a:t>: </a:t>
            </a:r>
            <a:r>
              <a:rPr lang="es-ES" sz="1100" dirty="0" err="1">
                <a:latin typeface="Menlo" panose="020B0609030804020204" pitchFamily="49" charset="0"/>
              </a:rPr>
              <a:t>WebClient</a:t>
            </a:r>
            <a:r>
              <a:rPr lang="es-ES" sz="1100" dirty="0">
                <a:latin typeface="Menlo" panose="020B0609030804020204" pitchFamily="49" charset="0"/>
              </a:rPr>
              <a:t> en vez de </a:t>
            </a:r>
            <a:r>
              <a:rPr lang="es-ES" sz="1100" dirty="0" err="1">
                <a:latin typeface="Menlo" panose="020B0609030804020204" pitchFamily="49" charset="0"/>
              </a:rPr>
              <a:t>RestTemplate</a:t>
            </a:r>
            <a:endParaRPr lang="es-ES" sz="1100" dirty="0">
              <a:latin typeface="Menlo" panose="020B0609030804020204" pitchFamily="49" charset="0"/>
            </a:endParaRPr>
          </a:p>
          <a:p>
            <a:pPr lvl="1"/>
            <a:r>
              <a:rPr lang="es-ES" sz="1100" dirty="0" err="1">
                <a:latin typeface="Menlo" panose="020B0609030804020204" pitchFamily="49" charset="0"/>
              </a:rPr>
              <a:t>private</a:t>
            </a:r>
            <a:r>
              <a:rPr lang="es-ES" sz="1100" dirty="0">
                <a:latin typeface="Menlo" panose="020B0609030804020204" pitchFamily="49" charset="0"/>
              </a:rPr>
              <a:t> final </a:t>
            </a:r>
            <a:r>
              <a:rPr lang="es-ES" sz="1100" dirty="0" err="1">
                <a:latin typeface="Menlo" panose="020B0609030804020204" pitchFamily="49" charset="0"/>
              </a:rPr>
              <a:t>WebClient</a:t>
            </a:r>
            <a:r>
              <a:rPr lang="es-ES" sz="1100" dirty="0">
                <a:latin typeface="Menlo" panose="020B0609030804020204" pitchFamily="49" charset="0"/>
              </a:rPr>
              <a:t> </a:t>
            </a:r>
            <a:r>
              <a:rPr lang="es-ES" sz="1100" dirty="0" err="1">
                <a:latin typeface="Menlo" panose="020B0609030804020204" pitchFamily="49" charset="0"/>
              </a:rPr>
              <a:t>webClient</a:t>
            </a:r>
            <a:r>
              <a:rPr lang="es-ES" sz="1100" dirty="0">
                <a:latin typeface="Menlo" panose="020B0609030804020204" pitchFamily="49" charset="0"/>
              </a:rPr>
              <a:t>;</a:t>
            </a:r>
          </a:p>
          <a:p>
            <a:pPr lvl="1"/>
            <a:br>
              <a:rPr lang="es-ES" sz="1100" dirty="0">
                <a:latin typeface="Menlo" panose="020B0609030804020204" pitchFamily="49" charset="0"/>
              </a:rPr>
            </a:br>
            <a:r>
              <a:rPr lang="es-ES" sz="1100" dirty="0">
                <a:latin typeface="Menlo" panose="020B0609030804020204" pitchFamily="49" charset="0"/>
              </a:rPr>
              <a:t>// En lugar de un </a:t>
            </a:r>
            <a:r>
              <a:rPr lang="es-ES" sz="1100" dirty="0" err="1">
                <a:latin typeface="Menlo" panose="020B0609030804020204" pitchFamily="49" charset="0"/>
              </a:rPr>
              <a:t>for</a:t>
            </a:r>
            <a:r>
              <a:rPr lang="es-ES" sz="1100" dirty="0">
                <a:latin typeface="Menlo" panose="020B0609030804020204" pitchFamily="49" charset="0"/>
              </a:rPr>
              <a:t> </a:t>
            </a:r>
            <a:r>
              <a:rPr lang="es-ES" sz="1100" dirty="0" err="1">
                <a:latin typeface="Menlo" panose="020B0609030804020204" pitchFamily="49" charset="0"/>
              </a:rPr>
              <a:t>loop</a:t>
            </a:r>
            <a:r>
              <a:rPr lang="es-ES" sz="1100" dirty="0">
                <a:latin typeface="Menlo" panose="020B0609030804020204" pitchFamily="49" charset="0"/>
              </a:rPr>
              <a:t> bloqueante, un pipeline reactivo</a:t>
            </a:r>
          </a:p>
          <a:p>
            <a:pPr lvl="1"/>
            <a:r>
              <a:rPr lang="es-ES" sz="1100" dirty="0" err="1">
                <a:latin typeface="Menlo" panose="020B0609030804020204" pitchFamily="49" charset="0"/>
              </a:rPr>
              <a:t>return</a:t>
            </a:r>
            <a:r>
              <a:rPr lang="es-ES" sz="1100" dirty="0">
                <a:latin typeface="Menlo" panose="020B0609030804020204" pitchFamily="49" charset="0"/>
              </a:rPr>
              <a:t> </a:t>
            </a:r>
            <a:r>
              <a:rPr lang="es-ES" sz="1100" dirty="0" err="1">
                <a:latin typeface="Menlo" panose="020B0609030804020204" pitchFamily="49" charset="0"/>
              </a:rPr>
              <a:t>Flux.range</a:t>
            </a:r>
            <a:r>
              <a:rPr lang="es-ES" sz="1100" dirty="0">
                <a:latin typeface="Menlo" panose="020B0609030804020204" pitchFamily="49" charset="0"/>
              </a:rPr>
              <a:t>(0, </a:t>
            </a:r>
            <a:r>
              <a:rPr lang="es-ES" sz="1100" dirty="0" err="1">
                <a:latin typeface="Menlo" panose="020B0609030804020204" pitchFamily="49" charset="0"/>
              </a:rPr>
              <a:t>request.getRequests</a:t>
            </a:r>
            <a:r>
              <a:rPr lang="es-ES" sz="1100" dirty="0">
                <a:latin typeface="Menlo" panose="020B0609030804020204" pitchFamily="49" charset="0"/>
              </a:rPr>
              <a:t>())</a:t>
            </a:r>
          </a:p>
          <a:p>
            <a:pPr lvl="1"/>
            <a:r>
              <a:rPr lang="es-ES" sz="1100" dirty="0">
                <a:latin typeface="Menlo" panose="020B0609030804020204" pitchFamily="49" charset="0"/>
              </a:rPr>
              <a:t>.</a:t>
            </a:r>
            <a:r>
              <a:rPr lang="es-ES" sz="1100" dirty="0" err="1">
                <a:latin typeface="Menlo" panose="020B0609030804020204" pitchFamily="49" charset="0"/>
              </a:rPr>
              <a:t>flatMap</a:t>
            </a:r>
            <a:r>
              <a:rPr lang="es-ES" sz="1100" dirty="0">
                <a:latin typeface="Menlo" panose="020B0609030804020204" pitchFamily="49" charset="0"/>
              </a:rPr>
              <a:t>(i -&gt; </a:t>
            </a:r>
            <a:r>
              <a:rPr lang="es-ES" sz="1100" dirty="0" err="1">
                <a:latin typeface="Menlo" panose="020B0609030804020204" pitchFamily="49" charset="0"/>
              </a:rPr>
              <a:t>executeReactiveRequest</a:t>
            </a:r>
            <a:r>
              <a:rPr lang="es-ES" sz="1100" dirty="0">
                <a:latin typeface="Menlo" panose="020B0609030804020204" pitchFamily="49" charset="0"/>
              </a:rPr>
              <a:t>(...), </a:t>
            </a:r>
            <a:r>
              <a:rPr lang="es-ES" sz="1100" dirty="0" err="1">
                <a:latin typeface="Menlo" panose="020B0609030804020204" pitchFamily="49" charset="0"/>
              </a:rPr>
              <a:t>request.getThreads</a:t>
            </a:r>
            <a:r>
              <a:rPr lang="es-ES" sz="1100" dirty="0">
                <a:latin typeface="Menlo" panose="020B0609030804020204" pitchFamily="49" charset="0"/>
              </a:rPr>
              <a:t>()) // concurrencia controlada</a:t>
            </a:r>
          </a:p>
          <a:p>
            <a:pPr lvl="1"/>
            <a:r>
              <a:rPr lang="es-ES" sz="1100" dirty="0">
                <a:latin typeface="Menlo" panose="020B0609030804020204" pitchFamily="49" charset="0"/>
              </a:rPr>
              <a:t>.</a:t>
            </a:r>
            <a:r>
              <a:rPr lang="es-ES" sz="1100" dirty="0" err="1">
                <a:latin typeface="Menlo" panose="020B0609030804020204" pitchFamily="49" charset="0"/>
              </a:rPr>
              <a:t>collectList</a:t>
            </a:r>
            <a:r>
              <a:rPr lang="es-ES" sz="1100" dirty="0">
                <a:latin typeface="Menlo" panose="020B0609030804020204" pitchFamily="49" charset="0"/>
              </a:rPr>
              <a:t>()</a:t>
            </a:r>
          </a:p>
          <a:p>
            <a:pPr lvl="1"/>
            <a:r>
              <a:rPr lang="es-ES" sz="1100" dirty="0">
                <a:latin typeface="Menlo" panose="020B0609030804020204" pitchFamily="49" charset="0"/>
              </a:rPr>
              <a:t>.</a:t>
            </a:r>
            <a:r>
              <a:rPr lang="es-ES" sz="1100" dirty="0" err="1">
                <a:latin typeface="Menlo" panose="020B0609030804020204" pitchFamily="49" charset="0"/>
              </a:rPr>
              <a:t>map</a:t>
            </a:r>
            <a:r>
              <a:rPr lang="es-ES" sz="1100" dirty="0">
                <a:latin typeface="Menlo" panose="020B0609030804020204" pitchFamily="49" charset="0"/>
              </a:rPr>
              <a:t>(</a:t>
            </a:r>
            <a:r>
              <a:rPr lang="es-ES" sz="1100" dirty="0" err="1">
                <a:latin typeface="Menlo" panose="020B0609030804020204" pitchFamily="49" charset="0"/>
              </a:rPr>
              <a:t>responseTimes</a:t>
            </a:r>
            <a:r>
              <a:rPr lang="es-ES" sz="1100" dirty="0">
                <a:latin typeface="Menlo" panose="020B0609030804020204" pitchFamily="49" charset="0"/>
              </a:rPr>
              <a:t> -&gt; { ... });</a:t>
            </a:r>
          </a:p>
          <a:p>
            <a:pPr lvl="1"/>
            <a:r>
              <a:rPr lang="es-ES" sz="1100" dirty="0">
                <a:latin typeface="Menlo" panose="020B060903080402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819473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3E96E42-6062-4A47-9C78-96947A7106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422" y="285078"/>
            <a:ext cx="10919254" cy="3984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8019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9D026DE-7B75-6446-B342-A1052F86CA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557" y="137339"/>
            <a:ext cx="11438238" cy="289401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932C01C-78DC-824D-9F78-4B58D1F95A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376" y="3153547"/>
            <a:ext cx="10134600" cy="3467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1012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E06F4A9-5F41-B649-9DA2-D7350D0612A6}"/>
              </a:ext>
            </a:extLst>
          </p:cNvPr>
          <p:cNvSpPr/>
          <p:nvPr/>
        </p:nvSpPr>
        <p:spPr>
          <a:xfrm>
            <a:off x="514864" y="315264"/>
            <a:ext cx="8480854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dirty="0">
                <a:hlinkClick r:id="rId2" tooltip="https://wiki.openjdk.org/spaces/loom/pages/56525302/getting+started"/>
              </a:rPr>
              <a:t>https://wiki.openjdk.org/spaces/loom/pages/56525302/Getting+started</a:t>
            </a: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r>
              <a:rPr lang="es-ES" dirty="0">
                <a:hlinkClick r:id="rId3" tooltip="https://openjdk.org/jeps/425"/>
              </a:rPr>
              <a:t>https://openjdk.org/jeps/425</a:t>
            </a: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r>
              <a:rPr lang="es-ES" dirty="0">
                <a:hlinkClick r:id="rId4" tooltip="https://openjdk.org/jeps/444"/>
              </a:rPr>
              <a:t>https://openjdk.org/jeps/444</a:t>
            </a: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r>
              <a:rPr lang="es-ES" dirty="0">
                <a:hlinkClick r:id="rId5" tooltip="https://www.paradigmadigital.com/dev/ventajas-virtual-threads-java-21/"/>
              </a:rPr>
              <a:t>https://www.paradigmadigital.com/dev/ventajas-virtual-threads-java-21/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0504544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286</TotalTime>
  <Words>391</Words>
  <Application>Microsoft Macintosh PowerPoint</Application>
  <PresentationFormat>Widescreen</PresentationFormat>
  <Paragraphs>46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JOSE ANTONIO BELTRAN MARQUEZ</dc:creator>
  <cp:lastModifiedBy>JOSE ANTONIO BELTRAN MARQUEZ</cp:lastModifiedBy>
  <cp:revision>12</cp:revision>
  <dcterms:created xsi:type="dcterms:W3CDTF">2026-04-07T22:24:58Z</dcterms:created>
  <dcterms:modified xsi:type="dcterms:W3CDTF">2026-04-19T20:55:15Z</dcterms:modified>
</cp:coreProperties>
</file>